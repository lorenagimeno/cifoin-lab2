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22"/>
  </p:notesMasterIdLst>
  <p:handoutMasterIdLst>
    <p:handoutMasterId r:id="rId23"/>
  </p:handoutMasterIdLst>
  <p:sldIdLst>
    <p:sldId id="256" r:id="rId2"/>
    <p:sldId id="289" r:id="rId3"/>
    <p:sldId id="295" r:id="rId4"/>
    <p:sldId id="304" r:id="rId5"/>
    <p:sldId id="305" r:id="rId6"/>
    <p:sldId id="302" r:id="rId7"/>
    <p:sldId id="303" r:id="rId8"/>
    <p:sldId id="291" r:id="rId9"/>
    <p:sldId id="296" r:id="rId10"/>
    <p:sldId id="293" r:id="rId11"/>
    <p:sldId id="306" r:id="rId12"/>
    <p:sldId id="294" r:id="rId13"/>
    <p:sldId id="299" r:id="rId14"/>
    <p:sldId id="300" r:id="rId15"/>
    <p:sldId id="301" r:id="rId16"/>
    <p:sldId id="290" r:id="rId17"/>
    <p:sldId id="297" r:id="rId18"/>
    <p:sldId id="292" r:id="rId19"/>
    <p:sldId id="298" r:id="rId20"/>
    <p:sldId id="288" r:id="rId21"/>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B9EB472-C8B9-4228-8ED2-9140412C4CE3}" v="11" dt="2026-05-03T16:09:34.076"/>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0" d="100"/>
          <a:sy n="70" d="100"/>
        </p:scale>
        <p:origin x="512" y="52"/>
      </p:cViewPr>
      <p:guideLst>
        <p:guide orient="horz" pos="2880"/>
        <p:guide pos="216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handoutMaster" Target="handoutMasters/handoutMaster1.xml"/><Relationship Id="rId28"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orena Gimeno" userId="548ce772763c7a5c" providerId="LiveId" clId="{24A47F1E-ED8B-4BF7-8ED5-668CDAADF216}"/>
    <pc:docChg chg="custSel modSld">
      <pc:chgData name="Lorena Gimeno" userId="548ce772763c7a5c" providerId="LiveId" clId="{24A47F1E-ED8B-4BF7-8ED5-668CDAADF216}" dt="2026-05-03T16:10:15.234" v="51" actId="20577"/>
      <pc:docMkLst>
        <pc:docMk/>
      </pc:docMkLst>
      <pc:sldChg chg="modSp mod">
        <pc:chgData name="Lorena Gimeno" userId="548ce772763c7a5c" providerId="LiveId" clId="{24A47F1E-ED8B-4BF7-8ED5-668CDAADF216}" dt="2026-05-03T16:00:44.270" v="34" actId="1076"/>
        <pc:sldMkLst>
          <pc:docMk/>
          <pc:sldMk cId="179796361" sldId="290"/>
        </pc:sldMkLst>
        <pc:picChg chg="mod">
          <ac:chgData name="Lorena Gimeno" userId="548ce772763c7a5c" providerId="LiveId" clId="{24A47F1E-ED8B-4BF7-8ED5-668CDAADF216}" dt="2026-05-03T16:00:44.270" v="34" actId="1076"/>
          <ac:picMkLst>
            <pc:docMk/>
            <pc:sldMk cId="179796361" sldId="290"/>
            <ac:picMk id="14" creationId="{69CEB966-C816-3A2C-25E1-C6FA5FA3C60F}"/>
          </ac:picMkLst>
        </pc:picChg>
      </pc:sldChg>
      <pc:sldChg chg="modSp">
        <pc:chgData name="Lorena Gimeno" userId="548ce772763c7a5c" providerId="LiveId" clId="{24A47F1E-ED8B-4BF7-8ED5-668CDAADF216}" dt="2026-05-03T15:58:57.450" v="31" actId="20577"/>
        <pc:sldMkLst>
          <pc:docMk/>
          <pc:sldMk cId="813558068" sldId="297"/>
        </pc:sldMkLst>
        <pc:spChg chg="mod">
          <ac:chgData name="Lorena Gimeno" userId="548ce772763c7a5c" providerId="LiveId" clId="{24A47F1E-ED8B-4BF7-8ED5-668CDAADF216}" dt="2026-05-03T15:58:57.450" v="31" actId="20577"/>
          <ac:spMkLst>
            <pc:docMk/>
            <pc:sldMk cId="813558068" sldId="297"/>
            <ac:spMk id="14" creationId="{A0C962F3-7DF4-66E7-60D0-370F60DC58D9}"/>
          </ac:spMkLst>
        </pc:spChg>
      </pc:sldChg>
      <pc:sldChg chg="modSp mod">
        <pc:chgData name="Lorena Gimeno" userId="548ce772763c7a5c" providerId="LiveId" clId="{24A47F1E-ED8B-4BF7-8ED5-668CDAADF216}" dt="2026-05-03T15:59:36.508" v="33" actId="14100"/>
        <pc:sldMkLst>
          <pc:docMk/>
          <pc:sldMk cId="535939439" sldId="298"/>
        </pc:sldMkLst>
        <pc:spChg chg="mod">
          <ac:chgData name="Lorena Gimeno" userId="548ce772763c7a5c" providerId="LiveId" clId="{24A47F1E-ED8B-4BF7-8ED5-668CDAADF216}" dt="2026-05-03T15:59:36.508" v="33" actId="14100"/>
          <ac:spMkLst>
            <pc:docMk/>
            <pc:sldMk cId="535939439" sldId="298"/>
            <ac:spMk id="2" creationId="{8D88CB07-C5F5-9BB7-9F41-E171F0F0E2B9}"/>
          </ac:spMkLst>
        </pc:spChg>
      </pc:sldChg>
      <pc:sldChg chg="delSp modSp mod">
        <pc:chgData name="Lorena Gimeno" userId="548ce772763c7a5c" providerId="LiveId" clId="{24A47F1E-ED8B-4BF7-8ED5-668CDAADF216}" dt="2026-05-03T15:56:55.045" v="14"/>
        <pc:sldMkLst>
          <pc:docMk/>
          <pc:sldMk cId="2685215753" sldId="299"/>
        </pc:sldMkLst>
        <pc:spChg chg="del mod">
          <ac:chgData name="Lorena Gimeno" userId="548ce772763c7a5c" providerId="LiveId" clId="{24A47F1E-ED8B-4BF7-8ED5-668CDAADF216}" dt="2026-05-03T15:56:55.045" v="14"/>
          <ac:spMkLst>
            <pc:docMk/>
            <pc:sldMk cId="2685215753" sldId="299"/>
            <ac:spMk id="8" creationId="{643565A9-7DB6-D6EE-152F-2852C8BA7986}"/>
          </ac:spMkLst>
        </pc:spChg>
        <pc:picChg chg="mod">
          <ac:chgData name="Lorena Gimeno" userId="548ce772763c7a5c" providerId="LiveId" clId="{24A47F1E-ED8B-4BF7-8ED5-668CDAADF216}" dt="2026-05-03T15:56:53.335" v="12" actId="1076"/>
          <ac:picMkLst>
            <pc:docMk/>
            <pc:sldMk cId="2685215753" sldId="299"/>
            <ac:picMk id="5" creationId="{78407938-D4E2-F455-87C0-0215A39884A8}"/>
          </ac:picMkLst>
        </pc:picChg>
        <pc:picChg chg="mod">
          <ac:chgData name="Lorena Gimeno" userId="548ce772763c7a5c" providerId="LiveId" clId="{24A47F1E-ED8B-4BF7-8ED5-668CDAADF216}" dt="2026-05-03T15:56:50.202" v="11" actId="1076"/>
          <ac:picMkLst>
            <pc:docMk/>
            <pc:sldMk cId="2685215753" sldId="299"/>
            <ac:picMk id="6" creationId="{9B67FB2E-6CD5-8AC1-7B41-4612868D190B}"/>
          </ac:picMkLst>
        </pc:picChg>
      </pc:sldChg>
      <pc:sldChg chg="delSp modSp mod">
        <pc:chgData name="Lorena Gimeno" userId="548ce772763c7a5c" providerId="LiveId" clId="{24A47F1E-ED8B-4BF7-8ED5-668CDAADF216}" dt="2026-05-03T16:10:15.234" v="51" actId="20577"/>
        <pc:sldMkLst>
          <pc:docMk/>
          <pc:sldMk cId="1023731220" sldId="300"/>
        </pc:sldMkLst>
        <pc:spChg chg="mod">
          <ac:chgData name="Lorena Gimeno" userId="548ce772763c7a5c" providerId="LiveId" clId="{24A47F1E-ED8B-4BF7-8ED5-668CDAADF216}" dt="2026-05-03T16:10:15.234" v="51" actId="20577"/>
          <ac:spMkLst>
            <pc:docMk/>
            <pc:sldMk cId="1023731220" sldId="300"/>
            <ac:spMk id="2" creationId="{EF5B7948-A25A-9043-7061-DD15A9023924}"/>
          </ac:spMkLst>
        </pc:spChg>
        <pc:spChg chg="del mod">
          <ac:chgData name="Lorena Gimeno" userId="548ce772763c7a5c" providerId="LiveId" clId="{24A47F1E-ED8B-4BF7-8ED5-668CDAADF216}" dt="2026-05-03T15:56:39.215" v="7"/>
          <ac:spMkLst>
            <pc:docMk/>
            <pc:sldMk cId="1023731220" sldId="300"/>
            <ac:spMk id="8" creationId="{B0CFB20A-64F3-A296-71E8-F4FA17D35314}"/>
          </ac:spMkLst>
        </pc:spChg>
        <pc:picChg chg="mod">
          <ac:chgData name="Lorena Gimeno" userId="548ce772763c7a5c" providerId="LiveId" clId="{24A47F1E-ED8B-4BF7-8ED5-668CDAADF216}" dt="2026-05-03T15:56:37.946" v="5" actId="1076"/>
          <ac:picMkLst>
            <pc:docMk/>
            <pc:sldMk cId="1023731220" sldId="300"/>
            <ac:picMk id="6" creationId="{A04C76FE-2A54-B0EF-68FC-B9B2823DACFE}"/>
          </ac:picMkLst>
        </pc:picChg>
        <pc:picChg chg="mod">
          <ac:chgData name="Lorena Gimeno" userId="548ce772763c7a5c" providerId="LiveId" clId="{24A47F1E-ED8B-4BF7-8ED5-668CDAADF216}" dt="2026-05-03T15:56:33.943" v="3" actId="1076"/>
          <ac:picMkLst>
            <pc:docMk/>
            <pc:sldMk cId="1023731220" sldId="300"/>
            <ac:picMk id="11" creationId="{6612CABF-1021-1FF4-C515-DD87F9C9C8FD}"/>
          </ac:picMkLst>
        </pc:picChg>
      </pc:sldChg>
      <pc:sldChg chg="delSp modSp mod">
        <pc:chgData name="Lorena Gimeno" userId="548ce772763c7a5c" providerId="LiveId" clId="{24A47F1E-ED8B-4BF7-8ED5-668CDAADF216}" dt="2026-05-03T15:57:16.588" v="22" actId="1076"/>
        <pc:sldMkLst>
          <pc:docMk/>
          <pc:sldMk cId="699864314" sldId="301"/>
        </pc:sldMkLst>
        <pc:spChg chg="del mod">
          <ac:chgData name="Lorena Gimeno" userId="548ce772763c7a5c" providerId="LiveId" clId="{24A47F1E-ED8B-4BF7-8ED5-668CDAADF216}" dt="2026-05-03T15:57:05.475" v="18" actId="478"/>
          <ac:spMkLst>
            <pc:docMk/>
            <pc:sldMk cId="699864314" sldId="301"/>
            <ac:spMk id="8" creationId="{C3506757-32B7-9151-DA89-AADDB7F7D093}"/>
          </ac:spMkLst>
        </pc:spChg>
        <pc:picChg chg="mod">
          <ac:chgData name="Lorena Gimeno" userId="548ce772763c7a5c" providerId="LiveId" clId="{24A47F1E-ED8B-4BF7-8ED5-668CDAADF216}" dt="2026-05-03T15:57:08.309" v="19" actId="1076"/>
          <ac:picMkLst>
            <pc:docMk/>
            <pc:sldMk cId="699864314" sldId="301"/>
            <ac:picMk id="5" creationId="{35A69CD1-54DE-8DD1-BB02-DC11E14EDAEF}"/>
          </ac:picMkLst>
        </pc:picChg>
        <pc:picChg chg="mod">
          <ac:chgData name="Lorena Gimeno" userId="548ce772763c7a5c" providerId="LiveId" clId="{24A47F1E-ED8B-4BF7-8ED5-668CDAADF216}" dt="2026-05-03T15:57:16.588" v="22" actId="1076"/>
          <ac:picMkLst>
            <pc:docMk/>
            <pc:sldMk cId="699864314" sldId="301"/>
            <ac:picMk id="9" creationId="{2E0D2D9C-20DC-D1CF-F6F9-0E9ECD81AE86}"/>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03/05/2026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03/05/2026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5"/>
          </p:nvPr>
        </p:nvSpPr>
        <p:spPr/>
        <p:txBody>
          <a:bodyPr/>
          <a:lstStyle/>
          <a:p>
            <a:fld id="{676223B9-C868-4436-87D9-1A3152E1157A}" type="slidenum">
              <a:rPr lang="es-ES" smtClean="0"/>
              <a:t>4</a:t>
            </a:fld>
            <a:endParaRPr lang="es-ES"/>
          </a:p>
        </p:txBody>
      </p:sp>
    </p:spTree>
    <p:extLst>
      <p:ext uri="{BB962C8B-B14F-4D97-AF65-F5344CB8AC3E}">
        <p14:creationId xmlns:p14="http://schemas.microsoft.com/office/powerpoint/2010/main" val="2092532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6</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7</a:t>
            </a:fld>
            <a:endParaRPr lang="es-ES"/>
          </a:p>
        </p:txBody>
      </p:sp>
    </p:spTree>
    <p:extLst>
      <p:ext uri="{BB962C8B-B14F-4D97-AF65-F5344CB8AC3E}">
        <p14:creationId xmlns:p14="http://schemas.microsoft.com/office/powerpoint/2010/main" val="41160790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8</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23B86-D15F-9CD8-C5EA-3EAAD8BACCF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C73881A-26A5-ECF9-C6F2-3DEFA77AEFC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B7AFC79-4973-3930-959B-AEF8810CFE6A}"/>
              </a:ext>
            </a:extLst>
          </p:cNvPr>
          <p:cNvSpPr>
            <a:spLocks noGrp="1"/>
          </p:cNvSpPr>
          <p:nvPr>
            <p:ph type="body" idx="1"/>
          </p:nvPr>
        </p:nvSpPr>
        <p:spPr/>
        <p:txBody>
          <a:bodyPr/>
          <a:lstStyle/>
          <a:p>
            <a:endParaRPr lang="es-ES"/>
          </a:p>
        </p:txBody>
      </p:sp>
      <p:sp>
        <p:nvSpPr>
          <p:cNvPr id="4" name="Marcador de número de diapositiva 3">
            <a:extLst>
              <a:ext uri="{FF2B5EF4-FFF2-40B4-BE49-F238E27FC236}">
                <a16:creationId xmlns:a16="http://schemas.microsoft.com/office/drawing/2014/main" id="{8345D0F3-6273-0338-FCDA-175B73D7C9EB}"/>
              </a:ext>
            </a:extLst>
          </p:cNvPr>
          <p:cNvSpPr>
            <a:spLocks noGrp="1"/>
          </p:cNvSpPr>
          <p:nvPr>
            <p:ph type="sldNum" sz="quarter" idx="5"/>
          </p:nvPr>
        </p:nvSpPr>
        <p:spPr/>
        <p:txBody>
          <a:bodyPr/>
          <a:lstStyle/>
          <a:p>
            <a:fld id="{676223B9-C868-4436-87D9-1A3152E1157A}" type="slidenum">
              <a:rPr lang="es-ES" smtClean="0"/>
              <a:t>10</a:t>
            </a:fld>
            <a:endParaRPr lang="es-ES"/>
          </a:p>
        </p:txBody>
      </p:sp>
    </p:spTree>
    <p:extLst>
      <p:ext uri="{BB962C8B-B14F-4D97-AF65-F5344CB8AC3E}">
        <p14:creationId xmlns:p14="http://schemas.microsoft.com/office/powerpoint/2010/main" val="343311592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5A2081-511C-00FE-0DEC-1E69317DF89C}"/>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3654854-3400-0611-309B-7CD38B587070}"/>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E47C8CFD-2D7B-6A2B-F466-7624ABA240A0}"/>
              </a:ext>
            </a:extLst>
          </p:cNvPr>
          <p:cNvSpPr>
            <a:spLocks noGrp="1"/>
          </p:cNvSpPr>
          <p:nvPr>
            <p:ph type="body" idx="1"/>
          </p:nvPr>
        </p:nvSpPr>
        <p:spPr/>
        <p:txBody>
          <a:bodyPr/>
          <a:lstStyle/>
          <a:p>
            <a:endParaRPr lang="es-ES"/>
          </a:p>
        </p:txBody>
      </p:sp>
      <p:sp>
        <p:nvSpPr>
          <p:cNvPr id="4" name="Marcador de número de diapositiva 3">
            <a:extLst>
              <a:ext uri="{FF2B5EF4-FFF2-40B4-BE49-F238E27FC236}">
                <a16:creationId xmlns:a16="http://schemas.microsoft.com/office/drawing/2014/main" id="{45F8A917-7D23-7B3C-8F73-2489847AEE1D}"/>
              </a:ext>
            </a:extLst>
          </p:cNvPr>
          <p:cNvSpPr>
            <a:spLocks noGrp="1"/>
          </p:cNvSpPr>
          <p:nvPr>
            <p:ph type="sldNum" sz="quarter" idx="5"/>
          </p:nvPr>
        </p:nvSpPr>
        <p:spPr/>
        <p:txBody>
          <a:bodyPr/>
          <a:lstStyle/>
          <a:p>
            <a:fld id="{676223B9-C868-4436-87D9-1A3152E1157A}" type="slidenum">
              <a:rPr lang="es-ES" smtClean="0"/>
              <a:t>11</a:t>
            </a:fld>
            <a:endParaRPr lang="es-ES"/>
          </a:p>
        </p:txBody>
      </p:sp>
    </p:spTree>
    <p:extLst>
      <p:ext uri="{BB962C8B-B14F-4D97-AF65-F5344CB8AC3E}">
        <p14:creationId xmlns:p14="http://schemas.microsoft.com/office/powerpoint/2010/main" val="201427494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12144-FCBE-6A8A-A0AE-4B9D57DA8E19}"/>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D8B7E8D5-CF3D-FB31-A479-FE9B4678B44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E98ECD-779C-B147-FA65-387301E8BDD7}"/>
              </a:ext>
            </a:extLst>
          </p:cNvPr>
          <p:cNvSpPr>
            <a:spLocks noGrp="1"/>
          </p:cNvSpPr>
          <p:nvPr>
            <p:ph type="body" idx="1"/>
          </p:nvPr>
        </p:nvSpPr>
        <p:spPr/>
        <p:txBody>
          <a:bodyPr/>
          <a:lstStyle/>
          <a:p>
            <a:endParaRPr lang="es-ES"/>
          </a:p>
        </p:txBody>
      </p:sp>
      <p:sp>
        <p:nvSpPr>
          <p:cNvPr id="4" name="Marcador de número de diapositiva 3">
            <a:extLst>
              <a:ext uri="{FF2B5EF4-FFF2-40B4-BE49-F238E27FC236}">
                <a16:creationId xmlns:a16="http://schemas.microsoft.com/office/drawing/2014/main" id="{A4D029A2-BBAC-779C-5358-BB9C7A2A122B}"/>
              </a:ext>
            </a:extLst>
          </p:cNvPr>
          <p:cNvSpPr>
            <a:spLocks noGrp="1"/>
          </p:cNvSpPr>
          <p:nvPr>
            <p:ph type="sldNum" sz="quarter" idx="5"/>
          </p:nvPr>
        </p:nvSpPr>
        <p:spPr/>
        <p:txBody>
          <a:bodyPr/>
          <a:lstStyle/>
          <a:p>
            <a:fld id="{676223B9-C868-4436-87D9-1A3152E1157A}" type="slidenum">
              <a:rPr lang="es-ES" smtClean="0"/>
              <a:t>12</a:t>
            </a:fld>
            <a:endParaRPr lang="es-ES"/>
          </a:p>
        </p:txBody>
      </p:sp>
    </p:spTree>
    <p:extLst>
      <p:ext uri="{BB962C8B-B14F-4D97-AF65-F5344CB8AC3E}">
        <p14:creationId xmlns:p14="http://schemas.microsoft.com/office/powerpoint/2010/main" val="366451984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46B1C6-3682-4180-87C4-06A6C4E8012F}"/>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AAE3208-A690-FD1F-E94C-D310F334A7EB}"/>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8F7B85C-6C72-3DDD-289B-E766AA64E93D}"/>
              </a:ext>
            </a:extLst>
          </p:cNvPr>
          <p:cNvSpPr>
            <a:spLocks noGrp="1"/>
          </p:cNvSpPr>
          <p:nvPr>
            <p:ph type="body" idx="1"/>
          </p:nvPr>
        </p:nvSpPr>
        <p:spPr/>
        <p:txBody>
          <a:bodyPr/>
          <a:lstStyle/>
          <a:p>
            <a:endParaRPr lang="es-ES"/>
          </a:p>
        </p:txBody>
      </p:sp>
      <p:sp>
        <p:nvSpPr>
          <p:cNvPr id="4" name="Marcador de número de diapositiva 3">
            <a:extLst>
              <a:ext uri="{FF2B5EF4-FFF2-40B4-BE49-F238E27FC236}">
                <a16:creationId xmlns:a16="http://schemas.microsoft.com/office/drawing/2014/main" id="{B91AFB1E-8F28-1193-6909-CAB4A27B11F0}"/>
              </a:ext>
            </a:extLst>
          </p:cNvPr>
          <p:cNvSpPr>
            <a:spLocks noGrp="1"/>
          </p:cNvSpPr>
          <p:nvPr>
            <p:ph type="sldNum" sz="quarter" idx="5"/>
          </p:nvPr>
        </p:nvSpPr>
        <p:spPr/>
        <p:txBody>
          <a:bodyPr/>
          <a:lstStyle/>
          <a:p>
            <a:fld id="{676223B9-C868-4436-87D9-1A3152E1157A}" type="slidenum">
              <a:rPr lang="es-ES" smtClean="0"/>
              <a:t>13</a:t>
            </a:fld>
            <a:endParaRPr lang="es-ES"/>
          </a:p>
        </p:txBody>
      </p:sp>
    </p:spTree>
    <p:extLst>
      <p:ext uri="{BB962C8B-B14F-4D97-AF65-F5344CB8AC3E}">
        <p14:creationId xmlns:p14="http://schemas.microsoft.com/office/powerpoint/2010/main" val="283517099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90BA22-DBA9-14F1-E21B-ACB4C6B7F32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316E6B2-214F-F40F-258D-FF87081027D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DB75D3B-42C9-35E9-99BA-0268BA71467A}"/>
              </a:ext>
            </a:extLst>
          </p:cNvPr>
          <p:cNvSpPr>
            <a:spLocks noGrp="1"/>
          </p:cNvSpPr>
          <p:nvPr>
            <p:ph type="body" idx="1"/>
          </p:nvPr>
        </p:nvSpPr>
        <p:spPr/>
        <p:txBody>
          <a:bodyPr/>
          <a:lstStyle/>
          <a:p>
            <a:endParaRPr lang="es-ES"/>
          </a:p>
        </p:txBody>
      </p:sp>
      <p:sp>
        <p:nvSpPr>
          <p:cNvPr id="4" name="Marcador de número de diapositiva 3">
            <a:extLst>
              <a:ext uri="{FF2B5EF4-FFF2-40B4-BE49-F238E27FC236}">
                <a16:creationId xmlns:a16="http://schemas.microsoft.com/office/drawing/2014/main" id="{1A531B01-1E40-9F79-3CC8-FA6E8156BAFE}"/>
              </a:ext>
            </a:extLst>
          </p:cNvPr>
          <p:cNvSpPr>
            <a:spLocks noGrp="1"/>
          </p:cNvSpPr>
          <p:nvPr>
            <p:ph type="sldNum" sz="quarter" idx="5"/>
          </p:nvPr>
        </p:nvSpPr>
        <p:spPr/>
        <p:txBody>
          <a:bodyPr/>
          <a:lstStyle/>
          <a:p>
            <a:fld id="{676223B9-C868-4436-87D9-1A3152E1157A}" type="slidenum">
              <a:rPr lang="es-ES" smtClean="0"/>
              <a:t>14</a:t>
            </a:fld>
            <a:endParaRPr lang="es-ES"/>
          </a:p>
        </p:txBody>
      </p:sp>
    </p:spTree>
    <p:extLst>
      <p:ext uri="{BB962C8B-B14F-4D97-AF65-F5344CB8AC3E}">
        <p14:creationId xmlns:p14="http://schemas.microsoft.com/office/powerpoint/2010/main" val="71495306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18B0B-1527-F1CE-B7C6-3A4EEEE44FB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D26890C-BFDE-EB57-C86A-5199A0D9621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EEF1C62-7FB2-EC14-4109-CC2B3204CEBD}"/>
              </a:ext>
            </a:extLst>
          </p:cNvPr>
          <p:cNvSpPr>
            <a:spLocks noGrp="1"/>
          </p:cNvSpPr>
          <p:nvPr>
            <p:ph type="body" idx="1"/>
          </p:nvPr>
        </p:nvSpPr>
        <p:spPr/>
        <p:txBody>
          <a:bodyPr/>
          <a:lstStyle/>
          <a:p>
            <a:endParaRPr lang="es-ES"/>
          </a:p>
        </p:txBody>
      </p:sp>
      <p:sp>
        <p:nvSpPr>
          <p:cNvPr id="4" name="Marcador de número de diapositiva 3">
            <a:extLst>
              <a:ext uri="{FF2B5EF4-FFF2-40B4-BE49-F238E27FC236}">
                <a16:creationId xmlns:a16="http://schemas.microsoft.com/office/drawing/2014/main" id="{388CFB6A-4B50-8F81-53B5-44C94D279BC8}"/>
              </a:ext>
            </a:extLst>
          </p:cNvPr>
          <p:cNvSpPr>
            <a:spLocks noGrp="1"/>
          </p:cNvSpPr>
          <p:nvPr>
            <p:ph type="sldNum" sz="quarter" idx="5"/>
          </p:nvPr>
        </p:nvSpPr>
        <p:spPr/>
        <p:txBody>
          <a:bodyPr/>
          <a:lstStyle/>
          <a:p>
            <a:fld id="{676223B9-C868-4436-87D9-1A3152E1157A}" type="slidenum">
              <a:rPr lang="es-ES" smtClean="0"/>
              <a:t>15</a:t>
            </a:fld>
            <a:endParaRPr lang="es-ES"/>
          </a:p>
        </p:txBody>
      </p:sp>
    </p:spTree>
    <p:extLst>
      <p:ext uri="{BB962C8B-B14F-4D97-AF65-F5344CB8AC3E}">
        <p14:creationId xmlns:p14="http://schemas.microsoft.com/office/powerpoint/2010/main" val="91556084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5"/>
          </p:nvPr>
        </p:nvSpPr>
        <p:spPr/>
        <p:txBody>
          <a:bodyPr/>
          <a:lstStyle/>
          <a:p>
            <a:fld id="{676223B9-C868-4436-87D9-1A3152E1157A}" type="slidenum">
              <a:rPr lang="es-ES" smtClean="0"/>
              <a:t>16</a:t>
            </a:fld>
            <a:endParaRPr lang="es-ES"/>
          </a:p>
        </p:txBody>
      </p:sp>
    </p:spTree>
    <p:extLst>
      <p:ext uri="{BB962C8B-B14F-4D97-AF65-F5344CB8AC3E}">
        <p14:creationId xmlns:p14="http://schemas.microsoft.com/office/powerpoint/2010/main" val="94223294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C9112F-7FB7-4F49-F4F6-C1D0DC6ADBE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190F532-536D-B583-3561-FD0C56234D4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CC233B1A-142E-BC7B-FE19-6D22CE4082B2}"/>
              </a:ext>
            </a:extLst>
          </p:cNvPr>
          <p:cNvSpPr>
            <a:spLocks noGrp="1"/>
          </p:cNvSpPr>
          <p:nvPr>
            <p:ph type="body" idx="1"/>
          </p:nvPr>
        </p:nvSpPr>
        <p:spPr/>
        <p:txBody>
          <a:bodyPr/>
          <a:lstStyle/>
          <a:p>
            <a:endParaRPr lang="es-ES"/>
          </a:p>
        </p:txBody>
      </p:sp>
      <p:sp>
        <p:nvSpPr>
          <p:cNvPr id="4" name="Marcador de número de diapositiva 3">
            <a:extLst>
              <a:ext uri="{FF2B5EF4-FFF2-40B4-BE49-F238E27FC236}">
                <a16:creationId xmlns:a16="http://schemas.microsoft.com/office/drawing/2014/main" id="{685087E6-8FC6-B2E3-2D74-B3C5168F5568}"/>
              </a:ext>
            </a:extLst>
          </p:cNvPr>
          <p:cNvSpPr>
            <a:spLocks noGrp="1"/>
          </p:cNvSpPr>
          <p:nvPr>
            <p:ph type="sldNum" sz="quarter" idx="5"/>
          </p:nvPr>
        </p:nvSpPr>
        <p:spPr/>
        <p:txBody>
          <a:bodyPr/>
          <a:lstStyle/>
          <a:p>
            <a:fld id="{676223B9-C868-4436-87D9-1A3152E1157A}" type="slidenum">
              <a:rPr lang="es-ES" smtClean="0"/>
              <a:t>17</a:t>
            </a:fld>
            <a:endParaRPr lang="es-ES"/>
          </a:p>
        </p:txBody>
      </p:sp>
    </p:spTree>
    <p:extLst>
      <p:ext uri="{BB962C8B-B14F-4D97-AF65-F5344CB8AC3E}">
        <p14:creationId xmlns:p14="http://schemas.microsoft.com/office/powerpoint/2010/main" val="158185900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18</a:t>
            </a:fld>
            <a:endParaRPr lang="es-ES"/>
          </a:p>
        </p:txBody>
      </p:sp>
    </p:spTree>
    <p:extLst>
      <p:ext uri="{BB962C8B-B14F-4D97-AF65-F5344CB8AC3E}">
        <p14:creationId xmlns:p14="http://schemas.microsoft.com/office/powerpoint/2010/main" val="290595306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3BE0A-4FED-FF2A-A29F-A3D3BA9386A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78D4508-C900-33E0-69A9-12D9A5EC8BE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23678FD2-F52A-F464-A6DC-9AE4044DCA67}"/>
              </a:ext>
            </a:extLst>
          </p:cNvPr>
          <p:cNvSpPr>
            <a:spLocks noGrp="1"/>
          </p:cNvSpPr>
          <p:nvPr>
            <p:ph type="body" idx="1"/>
          </p:nvPr>
        </p:nvSpPr>
        <p:spPr/>
        <p:txBody>
          <a:bodyPr/>
          <a:lstStyle/>
          <a:p>
            <a:endParaRPr lang="es-ES"/>
          </a:p>
        </p:txBody>
      </p:sp>
      <p:sp>
        <p:nvSpPr>
          <p:cNvPr id="4" name="Marcador de número de diapositiva 3">
            <a:extLst>
              <a:ext uri="{FF2B5EF4-FFF2-40B4-BE49-F238E27FC236}">
                <a16:creationId xmlns:a16="http://schemas.microsoft.com/office/drawing/2014/main" id="{A6FF2B29-AFFB-903E-D5AD-4E4E99BA5701}"/>
              </a:ext>
            </a:extLst>
          </p:cNvPr>
          <p:cNvSpPr>
            <a:spLocks noGrp="1"/>
          </p:cNvSpPr>
          <p:nvPr>
            <p:ph type="sldNum" sz="quarter" idx="5"/>
          </p:nvPr>
        </p:nvSpPr>
        <p:spPr/>
        <p:txBody>
          <a:bodyPr/>
          <a:lstStyle/>
          <a:p>
            <a:fld id="{676223B9-C868-4436-87D9-1A3152E1157A}" type="slidenum">
              <a:rPr lang="es-ES" smtClean="0"/>
              <a:t>19</a:t>
            </a:fld>
            <a:endParaRPr lang="es-ES"/>
          </a:p>
        </p:txBody>
      </p:sp>
    </p:spTree>
    <p:extLst>
      <p:ext uri="{BB962C8B-B14F-4D97-AF65-F5344CB8AC3E}">
        <p14:creationId xmlns:p14="http://schemas.microsoft.com/office/powerpoint/2010/main" val="10832986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2.0. COUPLERS</a:t>
            </a:r>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695950" y="6465068"/>
            <a:ext cx="1210945" cy="153670"/>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2.0. COUPLERS</a:t>
            </a:r>
            <a:endParaRPr spc="-5"/>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svg"/><Relationship Id="rId7" Type="http://schemas.openxmlformats.org/officeDocument/2006/relationships/image" Target="../media/image9.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image" Target="../media/image3.svg"/><Relationship Id="rId7" Type="http://schemas.openxmlformats.org/officeDocument/2006/relationships/image" Target="../media/image18.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7.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3.svg"/><Relationship Id="rId7" Type="http://schemas.openxmlformats.org/officeDocument/2006/relationships/image" Target="../media/image22.png"/><Relationship Id="rId12" Type="http://schemas.openxmlformats.org/officeDocument/2006/relationships/image" Target="../media/image27.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21.png"/><Relationship Id="rId11" Type="http://schemas.openxmlformats.org/officeDocument/2006/relationships/image" Target="../media/image26.png"/><Relationship Id="rId5" Type="http://schemas.openxmlformats.org/officeDocument/2006/relationships/image" Target="../media/image20.png"/><Relationship Id="rId10" Type="http://schemas.openxmlformats.org/officeDocument/2006/relationships/image" Target="../media/image25.png"/><Relationship Id="rId4" Type="http://schemas.openxmlformats.org/officeDocument/2006/relationships/image" Target="../media/image19.png"/><Relationship Id="rId9" Type="http://schemas.openxmlformats.org/officeDocument/2006/relationships/image" Target="../media/image24.png"/></Relationships>
</file>

<file path=ppt/slides/_rels/slide8.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3.svg"/><Relationship Id="rId7" Type="http://schemas.openxmlformats.org/officeDocument/2006/relationships/image" Target="../media/image29.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270.png"/><Relationship Id="rId5" Type="http://schemas.openxmlformats.org/officeDocument/2006/relationships/image" Target="../media/image260.png"/><Relationship Id="rId4" Type="http://schemas.openxmlformats.org/officeDocument/2006/relationships/image" Target="../media/image2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300.png"/></Relationships>
</file>

<file path=ppt/slides/_rels/slide11.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svg"/><Relationship Id="rId7" Type="http://schemas.openxmlformats.org/officeDocument/2006/relationships/image" Target="../media/image34.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37.png"/><Relationship Id="rId4" Type="http://schemas.openxmlformats.org/officeDocument/2006/relationships/image" Target="../media/image36.png"/></Relationships>
</file>

<file path=ppt/slides/_rels/slide1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39.png"/><Relationship Id="rId4" Type="http://schemas.openxmlformats.org/officeDocument/2006/relationships/image" Target="../media/image38.png"/></Relationships>
</file>

<file path=ppt/slides/_rels/slide1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41.png"/><Relationship Id="rId4" Type="http://schemas.openxmlformats.org/officeDocument/2006/relationships/image" Target="../media/image40.png"/></Relationships>
</file>

<file path=ppt/slides/_rels/slide1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43.png"/><Relationship Id="rId4" Type="http://schemas.openxmlformats.org/officeDocument/2006/relationships/image" Target="../media/image42.png"/></Relationships>
</file>

<file path=ppt/slides/_rels/slide16.xml.rels><?xml version="1.0" encoding="UTF-8" standalone="yes"?>
<Relationships xmlns="http://schemas.openxmlformats.org/package/2006/relationships"><Relationship Id="rId8" Type="http://schemas.openxmlformats.org/officeDocument/2006/relationships/image" Target="../media/image47.png"/><Relationship Id="rId3" Type="http://schemas.openxmlformats.org/officeDocument/2006/relationships/image" Target="../media/image3.svg"/><Relationship Id="rId7" Type="http://schemas.openxmlformats.org/officeDocument/2006/relationships/image" Target="../media/image46.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45.png"/><Relationship Id="rId5" Type="http://schemas.openxmlformats.org/officeDocument/2006/relationships/image" Target="../media/image440.png"/><Relationship Id="rId4" Type="http://schemas.openxmlformats.org/officeDocument/2006/relationships/image" Target="../media/image44.png"/></Relationships>
</file>

<file path=ppt/slides/_rels/slide17.xml.rels><?xml version="1.0" encoding="UTF-8" standalone="yes"?>
<Relationships xmlns="http://schemas.openxmlformats.org/package/2006/relationships"><Relationship Id="rId8" Type="http://schemas.openxmlformats.org/officeDocument/2006/relationships/image" Target="../media/image52.png"/><Relationship Id="rId3" Type="http://schemas.openxmlformats.org/officeDocument/2006/relationships/image" Target="../media/image3.svg"/><Relationship Id="rId7" Type="http://schemas.openxmlformats.org/officeDocument/2006/relationships/image" Target="../media/image51.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50.png"/><Relationship Id="rId5" Type="http://schemas.openxmlformats.org/officeDocument/2006/relationships/image" Target="../media/image49.png"/><Relationship Id="rId4" Type="http://schemas.openxmlformats.org/officeDocument/2006/relationships/image" Target="../media/image48.png"/></Relationships>
</file>

<file path=ppt/slides/_rels/slide18.xml.rels><?xml version="1.0" encoding="UTF-8" standalone="yes"?>
<Relationships xmlns="http://schemas.openxmlformats.org/package/2006/relationships"><Relationship Id="rId8" Type="http://schemas.openxmlformats.org/officeDocument/2006/relationships/image" Target="../media/image57.png"/><Relationship Id="rId3" Type="http://schemas.openxmlformats.org/officeDocument/2006/relationships/image" Target="../media/image3.svg"/><Relationship Id="rId7" Type="http://schemas.openxmlformats.org/officeDocument/2006/relationships/image" Target="../media/image56.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55.png"/><Relationship Id="rId5" Type="http://schemas.openxmlformats.org/officeDocument/2006/relationships/image" Target="../media/image54.png"/><Relationship Id="rId4" Type="http://schemas.openxmlformats.org/officeDocument/2006/relationships/image" Target="../media/image53.png"/></Relationships>
</file>

<file path=ppt/slides/_rels/slide19.xml.rels><?xml version="1.0" encoding="UTF-8" standalone="yes"?>
<Relationships xmlns="http://schemas.openxmlformats.org/package/2006/relationships"><Relationship Id="rId8" Type="http://schemas.openxmlformats.org/officeDocument/2006/relationships/image" Target="../media/image60.png"/><Relationship Id="rId3" Type="http://schemas.openxmlformats.org/officeDocument/2006/relationships/image" Target="../media/image3.svg"/><Relationship Id="rId7" Type="http://schemas.openxmlformats.org/officeDocument/2006/relationships/image" Target="../media/image59.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530.png"/><Relationship Id="rId5" Type="http://schemas.openxmlformats.org/officeDocument/2006/relationships/image" Target="../media/image520.png"/><Relationship Id="rId4" Type="http://schemas.openxmlformats.org/officeDocument/2006/relationships/image" Target="../media/image58.png"/></Relationships>
</file>

<file path=ppt/slides/_rels/slide20.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6106795" cy="513715"/>
          </a:xfrm>
          <a:prstGeom prst="rect">
            <a:avLst/>
          </a:prstGeom>
        </p:spPr>
        <p:txBody>
          <a:bodyPr vert="horz" wrap="square" lIns="0" tIns="12700" rIns="0" bIns="0" rtlCol="0">
            <a:spAutoFit/>
          </a:bodyPr>
          <a:lstStyle/>
          <a:p>
            <a:pPr marL="12700">
              <a:lnSpc>
                <a:spcPct val="100000"/>
              </a:lnSpc>
              <a:spcBef>
                <a:spcPts val="100"/>
              </a:spcBef>
            </a:pPr>
            <a:r>
              <a:rPr lang="es-ES" sz="3200" b="1" err="1">
                <a:latin typeface="Lucida Sans"/>
                <a:cs typeface="Lucida Sans"/>
              </a:rPr>
              <a:t>Lab</a:t>
            </a:r>
            <a:r>
              <a:rPr lang="es-ES" sz="3200" b="1">
                <a:latin typeface="Lucida Sans"/>
                <a:cs typeface="Lucida Sans"/>
              </a:rPr>
              <a:t> Book 2.0. </a:t>
            </a:r>
            <a:r>
              <a:rPr lang="es-ES" sz="3200" b="1" err="1">
                <a:latin typeface="Lucida Sans"/>
                <a:cs typeface="Lucida Sans"/>
              </a:rPr>
              <a:t>Couplers</a:t>
            </a:r>
            <a:endParaRPr sz="320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nSpc>
                <a:spcPct val="100000"/>
              </a:lnSpc>
              <a:spcBef>
                <a:spcPts val="100"/>
              </a:spcBef>
            </a:pPr>
            <a:r>
              <a:rPr lang="es-ES" spc="165" err="1">
                <a:latin typeface="Arial"/>
                <a:cs typeface="Arial"/>
              </a:rPr>
              <a:t>Student</a:t>
            </a:r>
            <a:r>
              <a:rPr lang="es-ES" spc="165">
                <a:latin typeface="Arial"/>
                <a:cs typeface="Arial"/>
              </a:rPr>
              <a:t>: Lorena Gimeno </a:t>
            </a:r>
            <a:r>
              <a:rPr lang="es-ES" spc="165" err="1">
                <a:latin typeface="Arial"/>
                <a:cs typeface="Arial"/>
              </a:rPr>
              <a:t>Almiñana</a:t>
            </a:r>
            <a:r>
              <a:rPr lang="es-ES" spc="165">
                <a:latin typeface="Arial"/>
                <a:cs typeface="Arial"/>
              </a:rPr>
              <a:t> y María Montilla Martínez</a:t>
            </a:r>
            <a:endParaRPr sz="180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err="1">
                <a:latin typeface="+mj-lt"/>
                <a:cs typeface="Lucida Sans"/>
              </a:rPr>
              <a:t>Instructions</a:t>
            </a:r>
            <a:br>
              <a:rPr lang="es-ES" sz="2400" spc="-5">
                <a:latin typeface="+mj-lt"/>
                <a:cs typeface="Lucida Sans"/>
              </a:rPr>
            </a:br>
            <a:r>
              <a:rPr lang="es-ES" b="0" spc="-5">
                <a:latin typeface="+mj-lt"/>
                <a:cs typeface="Lucida Sans"/>
              </a:rPr>
              <a:t>General</a:t>
            </a:r>
            <a:endParaRPr sz="2400" b="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2.0. COUPLERS</a:t>
            </a:r>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r>
              <a:rPr lang="en-US" sz="2000" b="1" kern="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a:solidFill>
                  <a:sysClr val="windowText" lastClr="000000"/>
                </a:solidFill>
                <a:sym typeface="Wingdings" pitchFamily="2" charset="2"/>
              </a:rPr>
              <a:t>From 	GitHub  </a:t>
            </a:r>
          </a:p>
          <a:p>
            <a:pPr marL="800100" lvl="1" indent="-342900" algn="just">
              <a:buFont typeface="Arial" panose="020B0604020202020204" pitchFamily="34" charset="0"/>
              <a:buChar char="•"/>
            </a:pPr>
            <a:r>
              <a:rPr lang="en-US" kern="0">
                <a:solidFill>
                  <a:sysClr val="windowText" lastClr="000000"/>
                </a:solidFill>
                <a:sym typeface="Wingdings" pitchFamily="2" charset="2"/>
              </a:rPr>
              <a:t>Fork the repo: https://github.com/cccanvas-upv/cifoin-lab2.git</a:t>
            </a:r>
          </a:p>
          <a:p>
            <a:pPr marL="800100" lvl="1" indent="-342900" algn="just">
              <a:buFont typeface="Arial" panose="020B0604020202020204" pitchFamily="34" charset="0"/>
              <a:buChar char="•"/>
            </a:pPr>
            <a:r>
              <a:rPr lang="en-US" kern="0">
                <a:solidFill>
                  <a:sysClr val="windowText" lastClr="000000"/>
                </a:solidFill>
                <a:sym typeface="Wingdings" pitchFamily="2" charset="2"/>
              </a:rPr>
              <a:t>Clone the repo using </a:t>
            </a:r>
            <a:r>
              <a:rPr lang="en-US" kern="0" err="1">
                <a:solidFill>
                  <a:sysClr val="windowText" lastClr="000000"/>
                </a:solidFill>
                <a:sym typeface="Wingdings" pitchFamily="2" charset="2"/>
              </a:rPr>
              <a:t>VSCode</a:t>
            </a:r>
            <a:endParaRPr lang="en-US" kern="0">
              <a:solidFill>
                <a:sysClr val="windowText" lastClr="000000"/>
              </a:solidFill>
              <a:sym typeface="Wingdings" pitchFamily="2" charset="2"/>
            </a:endParaRPr>
          </a:p>
          <a:p>
            <a:pPr marL="800100" lvl="1" indent="-342900" algn="just">
              <a:buFont typeface="Arial" panose="020B0604020202020204" pitchFamily="34" charset="0"/>
              <a:buChar char="•"/>
            </a:pPr>
            <a:r>
              <a:rPr lang="en-US" kern="0">
                <a:solidFill>
                  <a:sysClr val="windowText" lastClr="000000"/>
                </a:solidFill>
                <a:sym typeface="Wingdings" pitchFamily="2" charset="2"/>
              </a:rPr>
              <a:t>Terminal + ‘</a:t>
            </a:r>
            <a:r>
              <a:rPr lang="en-US" kern="0" err="1">
                <a:solidFill>
                  <a:sysClr val="windowText" lastClr="000000"/>
                </a:solidFill>
                <a:sym typeface="Wingdings" pitchFamily="2" charset="2"/>
              </a:rPr>
              <a:t>uv</a:t>
            </a:r>
            <a:r>
              <a:rPr lang="en-US" kern="0">
                <a:solidFill>
                  <a:sysClr val="windowText" lastClr="000000"/>
                </a:solidFill>
                <a:sym typeface="Wingdings" pitchFamily="2" charset="2"/>
              </a:rPr>
              <a:t> sync’</a:t>
            </a:r>
          </a:p>
          <a:p>
            <a:pPr marL="342900" indent="-342900" algn="just">
              <a:buFont typeface="Arial" panose="020B0604020202020204" pitchFamily="34" charset="0"/>
              <a:buChar char="•"/>
            </a:pPr>
            <a:r>
              <a:rPr lang="en-US" kern="0">
                <a:solidFill>
                  <a:sysClr val="windowText" lastClr="000000"/>
                </a:solidFill>
              </a:rPr>
              <a:t>Run the </a:t>
            </a:r>
            <a:r>
              <a:rPr lang="en-US" kern="0" err="1">
                <a:solidFill>
                  <a:sysClr val="windowText" lastClr="000000"/>
                </a:solidFill>
              </a:rPr>
              <a:t>Jupyter</a:t>
            </a:r>
            <a:r>
              <a:rPr lang="en-US" kern="0">
                <a:solidFill>
                  <a:sysClr val="windowText" lastClr="000000"/>
                </a:solidFill>
              </a:rPr>
              <a:t> Notebook: </a:t>
            </a:r>
          </a:p>
          <a:p>
            <a:pPr marL="800100" lvl="1" indent="-342900" algn="just">
              <a:buFont typeface="Arial" panose="020B0604020202020204" pitchFamily="34" charset="0"/>
              <a:buChar char="•"/>
            </a:pPr>
            <a:r>
              <a:rPr lang="en-US" kern="0" err="1">
                <a:solidFill>
                  <a:sysClr val="windowText" lastClr="000000"/>
                </a:solidFill>
              </a:rPr>
              <a:t>COUPLERS_Student.ipynb</a:t>
            </a:r>
            <a:r>
              <a:rPr lang="en-US" kern="0">
                <a:solidFill>
                  <a:sysClr val="windowText" lastClr="000000"/>
                </a:solidFill>
              </a:rPr>
              <a:t> </a:t>
            </a:r>
          </a:p>
          <a:p>
            <a:pPr algn="just"/>
            <a:endParaRPr lang="en-US" b="1" i="1"/>
          </a:p>
          <a:p>
            <a:pPr algn="just"/>
            <a:r>
              <a:rPr lang="en-US" b="1" i="1"/>
              <a:t>Cross-Sections </a:t>
            </a:r>
            <a:r>
              <a:rPr lang="en-US" i="1"/>
              <a:t>to be studied:</a:t>
            </a:r>
            <a:endParaRPr lang="en-US" b="1" i="1"/>
          </a:p>
          <a:p>
            <a:pPr algn="just"/>
            <a:endParaRPr lang="en-US" sz="2000" b="1" i="1"/>
          </a:p>
          <a:p>
            <a:pPr algn="just"/>
            <a:endParaRPr lang="en-US" sz="2000" kern="0">
              <a:solidFill>
                <a:sysClr val="windowText" lastClr="000000"/>
              </a:solidFill>
            </a:endParaRPr>
          </a:p>
        </p:txBody>
      </p:sp>
      <p:sp>
        <p:nvSpPr>
          <p:cNvPr id="96" name="object 7">
            <a:extLst>
              <a:ext uri="{FF2B5EF4-FFF2-40B4-BE49-F238E27FC236}">
                <a16:creationId xmlns:a16="http://schemas.microsoft.com/office/drawing/2014/main" id="{BB459788-0671-D4BA-B6DB-A3544D24EA92}"/>
              </a:ext>
            </a:extLst>
          </p:cNvPr>
          <p:cNvSpPr/>
          <p:nvPr/>
        </p:nvSpPr>
        <p:spPr>
          <a:xfrm>
            <a:off x="1241591"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a:p>
        </p:txBody>
      </p:sp>
      <p:sp>
        <p:nvSpPr>
          <p:cNvPr id="97" name="object 62">
            <a:extLst>
              <a:ext uri="{FF2B5EF4-FFF2-40B4-BE49-F238E27FC236}">
                <a16:creationId xmlns:a16="http://schemas.microsoft.com/office/drawing/2014/main" id="{13E0425E-CEDF-CBC4-B34B-0CC3951920EA}"/>
              </a:ext>
            </a:extLst>
          </p:cNvPr>
          <p:cNvSpPr/>
          <p:nvPr/>
        </p:nvSpPr>
        <p:spPr>
          <a:xfrm>
            <a:off x="1795778"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98" name="object 63">
            <a:extLst>
              <a:ext uri="{FF2B5EF4-FFF2-40B4-BE49-F238E27FC236}">
                <a16:creationId xmlns:a16="http://schemas.microsoft.com/office/drawing/2014/main" id="{FDE45797-C0E3-ACE0-F66B-057BDEDB9070}"/>
              </a:ext>
            </a:extLst>
          </p:cNvPr>
          <p:cNvSpPr txBox="1"/>
          <p:nvPr/>
        </p:nvSpPr>
        <p:spPr>
          <a:xfrm>
            <a:off x="1229760"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a:latin typeface="Calibri"/>
                <a:cs typeface="Calibri"/>
              </a:rPr>
              <a:t>h</a:t>
            </a:r>
          </a:p>
          <a:p>
            <a:pPr marR="5080" algn="ctr">
              <a:lnSpc>
                <a:spcPct val="100000"/>
              </a:lnSpc>
              <a:spcBef>
                <a:spcPts val="5"/>
              </a:spcBef>
            </a:pPr>
            <a:r>
              <a:rPr sz="1400" spc="-10">
                <a:latin typeface="Calibri"/>
                <a:cs typeface="Calibri"/>
              </a:rPr>
              <a:t>(h</a:t>
            </a:r>
            <a:r>
              <a:rPr sz="1400">
                <a:latin typeface="Calibri"/>
                <a:cs typeface="Calibri"/>
              </a:rPr>
              <a:t>eig</a:t>
            </a:r>
            <a:r>
              <a:rPr sz="1400" spc="-25">
                <a:latin typeface="Calibri"/>
                <a:cs typeface="Calibri"/>
              </a:rPr>
              <a:t>h</a:t>
            </a:r>
            <a:r>
              <a:rPr sz="1400" spc="-5">
                <a:latin typeface="Calibri"/>
                <a:cs typeface="Calibri"/>
              </a:rPr>
              <a:t>t</a:t>
            </a:r>
            <a:r>
              <a:rPr sz="1400">
                <a:latin typeface="Calibri"/>
                <a:cs typeface="Calibri"/>
              </a:rPr>
              <a:t>)</a:t>
            </a:r>
          </a:p>
        </p:txBody>
      </p:sp>
      <p:sp>
        <p:nvSpPr>
          <p:cNvPr id="99" name="object 64">
            <a:extLst>
              <a:ext uri="{FF2B5EF4-FFF2-40B4-BE49-F238E27FC236}">
                <a16:creationId xmlns:a16="http://schemas.microsoft.com/office/drawing/2014/main" id="{ABAAA5DD-56CA-BF94-2180-F0866658B6B3}"/>
              </a:ext>
            </a:extLst>
          </p:cNvPr>
          <p:cNvSpPr/>
          <p:nvPr/>
        </p:nvSpPr>
        <p:spPr>
          <a:xfrm>
            <a:off x="1948179" y="4155787"/>
            <a:ext cx="914400" cy="89266"/>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0" name="object 65">
            <a:extLst>
              <a:ext uri="{FF2B5EF4-FFF2-40B4-BE49-F238E27FC236}">
                <a16:creationId xmlns:a16="http://schemas.microsoft.com/office/drawing/2014/main" id="{A1EF013C-5123-D9A7-DC76-FEFD731E96E2}"/>
              </a:ext>
            </a:extLst>
          </p:cNvPr>
          <p:cNvSpPr txBox="1"/>
          <p:nvPr/>
        </p:nvSpPr>
        <p:spPr>
          <a:xfrm>
            <a:off x="2073955" y="3856694"/>
            <a:ext cx="733425" cy="228909"/>
          </a:xfrm>
          <a:prstGeom prst="rect">
            <a:avLst/>
          </a:prstGeom>
        </p:spPr>
        <p:txBody>
          <a:bodyPr vert="horz" wrap="square" lIns="0" tIns="13335" rIns="0" bIns="0" rtlCol="0">
            <a:spAutoFit/>
          </a:bodyPr>
          <a:lstStyle/>
          <a:p>
            <a:pPr>
              <a:lnSpc>
                <a:spcPct val="100000"/>
              </a:lnSpc>
              <a:spcBef>
                <a:spcPts val="105"/>
              </a:spcBef>
            </a:pPr>
            <a:r>
              <a:rPr lang="es-ES" sz="1400" spc="5">
                <a:latin typeface="Calibri"/>
                <a:cs typeface="Calibri"/>
              </a:rPr>
              <a:t>w</a:t>
            </a:r>
            <a:r>
              <a:rPr sz="1400" spc="-65">
                <a:latin typeface="Calibri"/>
                <a:cs typeface="Calibri"/>
              </a:rPr>
              <a:t> </a:t>
            </a:r>
            <a:r>
              <a:rPr sz="1400" spc="-5">
                <a:latin typeface="Calibri"/>
                <a:cs typeface="Calibri"/>
              </a:rPr>
              <a:t>(width)</a:t>
            </a:r>
            <a:endParaRPr sz="1400">
              <a:latin typeface="Calibri"/>
              <a:cs typeface="Calibri"/>
            </a:endParaRPr>
          </a:p>
        </p:txBody>
      </p:sp>
      <p:sp>
        <p:nvSpPr>
          <p:cNvPr id="101" name="object 73">
            <a:extLst>
              <a:ext uri="{FF2B5EF4-FFF2-40B4-BE49-F238E27FC236}">
                <a16:creationId xmlns:a16="http://schemas.microsoft.com/office/drawing/2014/main" id="{4C5C0871-D9B5-E642-7661-FFBCAD75720B}"/>
              </a:ext>
            </a:extLst>
          </p:cNvPr>
          <p:cNvSpPr txBox="1"/>
          <p:nvPr/>
        </p:nvSpPr>
        <p:spPr>
          <a:xfrm>
            <a:off x="352355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a:latin typeface="Times New Roman"/>
              <a:cs typeface="Times New Roman"/>
            </a:endParaRPr>
          </a:p>
          <a:p>
            <a:pPr marL="18415" algn="ctr">
              <a:lnSpc>
                <a:spcPct val="100000"/>
              </a:lnSpc>
            </a:pPr>
            <a:r>
              <a:rPr sz="1600" b="1" spc="-10">
                <a:latin typeface="Calibri"/>
                <a:cs typeface="Calibri"/>
              </a:rPr>
              <a:t>Core</a:t>
            </a:r>
            <a:endParaRPr sz="1600">
              <a:latin typeface="Calibri"/>
              <a:cs typeface="Calibri"/>
            </a:endParaRPr>
          </a:p>
        </p:txBody>
      </p:sp>
      <p:sp>
        <p:nvSpPr>
          <p:cNvPr id="102" name="object 74">
            <a:extLst>
              <a:ext uri="{FF2B5EF4-FFF2-40B4-BE49-F238E27FC236}">
                <a16:creationId xmlns:a16="http://schemas.microsoft.com/office/drawing/2014/main" id="{10CC4DBA-05F4-4CDC-BA0E-6200AF622CA9}"/>
              </a:ext>
            </a:extLst>
          </p:cNvPr>
          <p:cNvSpPr txBox="1"/>
          <p:nvPr/>
        </p:nvSpPr>
        <p:spPr>
          <a:xfrm>
            <a:off x="4421819" y="5309818"/>
            <a:ext cx="741045" cy="269240"/>
          </a:xfrm>
          <a:prstGeom prst="rect">
            <a:avLst/>
          </a:prstGeom>
        </p:spPr>
        <p:txBody>
          <a:bodyPr vert="horz" wrap="square" lIns="0" tIns="12065" rIns="0" bIns="0" rtlCol="0">
            <a:spAutoFit/>
          </a:bodyPr>
          <a:lstStyle/>
          <a:p>
            <a:pPr>
              <a:lnSpc>
                <a:spcPct val="100000"/>
              </a:lnSpc>
              <a:spcBef>
                <a:spcPts val="95"/>
              </a:spcBef>
            </a:pPr>
            <a:r>
              <a:rPr sz="1600" b="1" spc="-10">
                <a:latin typeface="Calibri"/>
                <a:cs typeface="Calibri"/>
              </a:rPr>
              <a:t>Cladding</a:t>
            </a:r>
            <a:endParaRPr sz="1600">
              <a:latin typeface="Calibri"/>
              <a:cs typeface="Calibri"/>
            </a:endParaRPr>
          </a:p>
        </p:txBody>
      </p:sp>
      <p:sp>
        <p:nvSpPr>
          <p:cNvPr id="111" name="object 7">
            <a:extLst>
              <a:ext uri="{FF2B5EF4-FFF2-40B4-BE49-F238E27FC236}">
                <a16:creationId xmlns:a16="http://schemas.microsoft.com/office/drawing/2014/main" id="{06801468-6F27-A16A-64E3-D7AD4B6B6B96}"/>
              </a:ext>
            </a:extLst>
          </p:cNvPr>
          <p:cNvSpPr/>
          <p:nvPr/>
        </p:nvSpPr>
        <p:spPr>
          <a:xfrm>
            <a:off x="7239000" y="3685362"/>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a:p>
        </p:txBody>
      </p:sp>
      <p:sp>
        <p:nvSpPr>
          <p:cNvPr id="114" name="object 64">
            <a:extLst>
              <a:ext uri="{FF2B5EF4-FFF2-40B4-BE49-F238E27FC236}">
                <a16:creationId xmlns:a16="http://schemas.microsoft.com/office/drawing/2014/main" id="{D9E5D738-CA47-1898-E0D8-DFBC514F5A50}"/>
              </a:ext>
            </a:extLst>
          </p:cNvPr>
          <p:cNvSpPr/>
          <p:nvPr/>
        </p:nvSpPr>
        <p:spPr>
          <a:xfrm>
            <a:off x="7663179" y="4163346"/>
            <a:ext cx="3165333" cy="48374"/>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15" name="object 65">
            <a:extLst>
              <a:ext uri="{FF2B5EF4-FFF2-40B4-BE49-F238E27FC236}">
                <a16:creationId xmlns:a16="http://schemas.microsoft.com/office/drawing/2014/main" id="{74A4CAE1-BC33-1BCD-6F24-54F1DFA8AEDB}"/>
              </a:ext>
            </a:extLst>
          </p:cNvPr>
          <p:cNvSpPr txBox="1"/>
          <p:nvPr/>
        </p:nvSpPr>
        <p:spPr>
          <a:xfrm>
            <a:off x="8910954" y="3926878"/>
            <a:ext cx="733425" cy="228909"/>
          </a:xfrm>
          <a:prstGeom prst="rect">
            <a:avLst/>
          </a:prstGeom>
        </p:spPr>
        <p:txBody>
          <a:bodyPr vert="horz" wrap="square" lIns="0" tIns="13335" rIns="0" bIns="0" rtlCol="0">
            <a:spAutoFit/>
          </a:bodyPr>
          <a:lstStyle/>
          <a:p>
            <a:pPr>
              <a:lnSpc>
                <a:spcPct val="100000"/>
              </a:lnSpc>
              <a:spcBef>
                <a:spcPts val="105"/>
              </a:spcBef>
            </a:pPr>
            <a:r>
              <a:rPr lang="es-ES" sz="1400" spc="5">
                <a:latin typeface="Calibri"/>
                <a:cs typeface="Calibri"/>
              </a:rPr>
              <a:t>w</a:t>
            </a:r>
            <a:r>
              <a:rPr sz="1400" spc="-65">
                <a:latin typeface="Calibri"/>
                <a:cs typeface="Calibri"/>
              </a:rPr>
              <a:t> </a:t>
            </a:r>
            <a:r>
              <a:rPr sz="1400" spc="-5">
                <a:latin typeface="Calibri"/>
                <a:cs typeface="Calibri"/>
              </a:rPr>
              <a:t>(width)</a:t>
            </a:r>
            <a:endParaRPr sz="1400">
              <a:latin typeface="Calibri"/>
              <a:cs typeface="Calibri"/>
            </a:endParaRPr>
          </a:p>
        </p:txBody>
      </p:sp>
      <p:sp>
        <p:nvSpPr>
          <p:cNvPr id="116" name="object 73">
            <a:extLst>
              <a:ext uri="{FF2B5EF4-FFF2-40B4-BE49-F238E27FC236}">
                <a16:creationId xmlns:a16="http://schemas.microsoft.com/office/drawing/2014/main" id="{CC9D2269-0CA8-143F-4E45-F3AF594A2ED3}"/>
              </a:ext>
            </a:extLst>
          </p:cNvPr>
          <p:cNvSpPr txBox="1"/>
          <p:nvPr/>
        </p:nvSpPr>
        <p:spPr>
          <a:xfrm>
            <a:off x="7663179" y="4325314"/>
            <a:ext cx="3165333"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a:latin typeface="Times New Roman"/>
              <a:cs typeface="Times New Roman"/>
            </a:endParaRPr>
          </a:p>
          <a:p>
            <a:pPr marL="18415" algn="ctr">
              <a:lnSpc>
                <a:spcPct val="100000"/>
              </a:lnSpc>
            </a:pPr>
            <a:r>
              <a:rPr lang="es-ES" sz="1600" b="1" spc="-10">
                <a:latin typeface="Calibri"/>
                <a:cs typeface="Calibri"/>
              </a:rPr>
              <a:t>MMI </a:t>
            </a:r>
            <a:r>
              <a:rPr lang="es-ES" sz="1600" b="1" spc="-10" err="1">
                <a:latin typeface="Calibri"/>
                <a:cs typeface="Calibri"/>
              </a:rPr>
              <a:t>Body</a:t>
            </a:r>
            <a:endParaRPr sz="1600">
              <a:latin typeface="Calibri"/>
              <a:cs typeface="Calibri"/>
            </a:endParaRPr>
          </a:p>
        </p:txBody>
      </p:sp>
      <p:sp>
        <p:nvSpPr>
          <p:cNvPr id="117" name="object 74">
            <a:extLst>
              <a:ext uri="{FF2B5EF4-FFF2-40B4-BE49-F238E27FC236}">
                <a16:creationId xmlns:a16="http://schemas.microsoft.com/office/drawing/2014/main" id="{8A3332FF-25D4-1955-323F-BBD1D30324AC}"/>
              </a:ext>
            </a:extLst>
          </p:cNvPr>
          <p:cNvSpPr txBox="1"/>
          <p:nvPr/>
        </p:nvSpPr>
        <p:spPr>
          <a:xfrm>
            <a:off x="7284458" y="5303772"/>
            <a:ext cx="741045" cy="269240"/>
          </a:xfrm>
          <a:prstGeom prst="rect">
            <a:avLst/>
          </a:prstGeom>
        </p:spPr>
        <p:txBody>
          <a:bodyPr vert="horz" wrap="square" lIns="0" tIns="12065" rIns="0" bIns="0" rtlCol="0">
            <a:spAutoFit/>
          </a:bodyPr>
          <a:lstStyle/>
          <a:p>
            <a:pPr>
              <a:lnSpc>
                <a:spcPct val="100000"/>
              </a:lnSpc>
              <a:spcBef>
                <a:spcPts val="95"/>
              </a:spcBef>
            </a:pPr>
            <a:r>
              <a:rPr sz="1600" b="1" spc="-10">
                <a:latin typeface="Calibri"/>
                <a:cs typeface="Calibri"/>
              </a:rPr>
              <a:t>Cladding</a:t>
            </a:r>
            <a:endParaRPr sz="1600">
              <a:latin typeface="Calibri"/>
              <a:cs typeface="Calibri"/>
            </a:endParaRPr>
          </a:p>
        </p:txBody>
      </p:sp>
      <p:sp>
        <p:nvSpPr>
          <p:cNvPr id="2" name="CuadroTexto 1">
            <a:extLst>
              <a:ext uri="{FF2B5EF4-FFF2-40B4-BE49-F238E27FC236}">
                <a16:creationId xmlns:a16="http://schemas.microsoft.com/office/drawing/2014/main" id="{57D9AFBE-EF33-9078-9CE3-5C8B079B0C36}"/>
              </a:ext>
            </a:extLst>
          </p:cNvPr>
          <p:cNvSpPr txBox="1"/>
          <p:nvPr/>
        </p:nvSpPr>
        <p:spPr>
          <a:xfrm>
            <a:off x="7377675" y="5580458"/>
            <a:ext cx="3954288" cy="369332"/>
          </a:xfrm>
          <a:prstGeom prst="rect">
            <a:avLst/>
          </a:prstGeom>
          <a:noFill/>
        </p:spPr>
        <p:txBody>
          <a:bodyPr wrap="none" rtlCol="0">
            <a:spAutoFit/>
          </a:bodyPr>
          <a:lstStyle/>
          <a:p>
            <a:pPr algn="r"/>
            <a:r>
              <a:rPr lang="en-US" b="1"/>
              <a:t>Multimode Interference (MMI) </a:t>
            </a:r>
            <a:r>
              <a:rPr lang="en-US"/>
              <a:t>coupler</a:t>
            </a:r>
            <a:r>
              <a:rPr lang="en-US" b="1"/>
              <a:t> </a:t>
            </a:r>
            <a:endParaRPr lang="en-US"/>
          </a:p>
        </p:txBody>
      </p:sp>
      <p:sp>
        <p:nvSpPr>
          <p:cNvPr id="8" name="CuadroTexto 7">
            <a:extLst>
              <a:ext uri="{FF2B5EF4-FFF2-40B4-BE49-F238E27FC236}">
                <a16:creationId xmlns:a16="http://schemas.microsoft.com/office/drawing/2014/main" id="{7336B5D8-2D70-3E7A-336D-AF55EC49DEB8}"/>
              </a:ext>
            </a:extLst>
          </p:cNvPr>
          <p:cNvSpPr txBox="1"/>
          <p:nvPr/>
        </p:nvSpPr>
        <p:spPr>
          <a:xfrm>
            <a:off x="1168826" y="5579058"/>
            <a:ext cx="2743199" cy="369332"/>
          </a:xfrm>
          <a:prstGeom prst="rect">
            <a:avLst/>
          </a:prstGeom>
          <a:noFill/>
        </p:spPr>
        <p:txBody>
          <a:bodyPr wrap="square">
            <a:spAutoFit/>
          </a:bodyPr>
          <a:lstStyle/>
          <a:p>
            <a:r>
              <a:rPr lang="en-US" b="1"/>
              <a:t>Directional </a:t>
            </a:r>
            <a:r>
              <a:rPr lang="en-US"/>
              <a:t>coupler (DC)</a:t>
            </a:r>
          </a:p>
        </p:txBody>
      </p:sp>
      <p:sp>
        <p:nvSpPr>
          <p:cNvPr id="7" name="object 73">
            <a:extLst>
              <a:ext uri="{FF2B5EF4-FFF2-40B4-BE49-F238E27FC236}">
                <a16:creationId xmlns:a16="http://schemas.microsoft.com/office/drawing/2014/main" id="{9404A65A-9F07-371B-17B4-56EE1381567B}"/>
              </a:ext>
            </a:extLst>
          </p:cNvPr>
          <p:cNvSpPr txBox="1"/>
          <p:nvPr/>
        </p:nvSpPr>
        <p:spPr>
          <a:xfrm>
            <a:off x="1948179" y="4331380"/>
            <a:ext cx="9849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a:latin typeface="Times New Roman"/>
              <a:cs typeface="Times New Roman"/>
            </a:endParaRPr>
          </a:p>
          <a:p>
            <a:pPr marL="18415" algn="ctr">
              <a:lnSpc>
                <a:spcPct val="100000"/>
              </a:lnSpc>
            </a:pPr>
            <a:r>
              <a:rPr sz="1600" b="1" spc="-10">
                <a:latin typeface="Calibri"/>
                <a:cs typeface="Calibri"/>
              </a:rPr>
              <a:t>Core</a:t>
            </a:r>
            <a:endParaRPr sz="1600">
              <a:latin typeface="Calibri"/>
              <a:cs typeface="Calibri"/>
            </a:endParaRPr>
          </a:p>
        </p:txBody>
      </p:sp>
      <p:sp>
        <p:nvSpPr>
          <p:cNvPr id="9" name="object 64">
            <a:extLst>
              <a:ext uri="{FF2B5EF4-FFF2-40B4-BE49-F238E27FC236}">
                <a16:creationId xmlns:a16="http://schemas.microsoft.com/office/drawing/2014/main" id="{B06C28EB-4BF4-A40B-513B-ACC7E468CDC3}"/>
              </a:ext>
            </a:extLst>
          </p:cNvPr>
          <p:cNvSpPr/>
          <p:nvPr/>
        </p:nvSpPr>
        <p:spPr>
          <a:xfrm flipV="1">
            <a:off x="2911079" y="5067632"/>
            <a:ext cx="590401" cy="45719"/>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 name="object 63">
            <a:extLst>
              <a:ext uri="{FF2B5EF4-FFF2-40B4-BE49-F238E27FC236}">
                <a16:creationId xmlns:a16="http://schemas.microsoft.com/office/drawing/2014/main" id="{4601CBDA-CF6C-DA98-1398-C31497498862}"/>
              </a:ext>
            </a:extLst>
          </p:cNvPr>
          <p:cNvSpPr txBox="1"/>
          <p:nvPr/>
        </p:nvSpPr>
        <p:spPr>
          <a:xfrm>
            <a:off x="2939643" y="5090491"/>
            <a:ext cx="577850" cy="454025"/>
          </a:xfrm>
          <a:prstGeom prst="rect">
            <a:avLst/>
          </a:prstGeom>
        </p:spPr>
        <p:txBody>
          <a:bodyPr vert="horz" wrap="square" lIns="0" tIns="13335" rIns="0" bIns="0" rtlCol="0">
            <a:spAutoFit/>
          </a:bodyPr>
          <a:lstStyle/>
          <a:p>
            <a:pPr marR="3175" algn="ctr">
              <a:lnSpc>
                <a:spcPct val="100000"/>
              </a:lnSpc>
              <a:spcBef>
                <a:spcPts val="105"/>
              </a:spcBef>
            </a:pPr>
            <a:r>
              <a:rPr lang="es-ES" sz="1400">
                <a:latin typeface="Calibri"/>
                <a:cs typeface="Calibri"/>
              </a:rPr>
              <a:t>g</a:t>
            </a:r>
            <a:endParaRPr sz="1400">
              <a:latin typeface="Calibri"/>
              <a:cs typeface="Calibri"/>
            </a:endParaRPr>
          </a:p>
          <a:p>
            <a:pPr marR="5080" algn="ctr">
              <a:lnSpc>
                <a:spcPct val="100000"/>
              </a:lnSpc>
              <a:spcBef>
                <a:spcPts val="5"/>
              </a:spcBef>
            </a:pPr>
            <a:r>
              <a:rPr sz="1400" spc="-10">
                <a:latin typeface="Calibri"/>
                <a:cs typeface="Calibri"/>
              </a:rPr>
              <a:t>(</a:t>
            </a:r>
            <a:r>
              <a:rPr lang="es-ES" sz="1400" spc="-10">
                <a:latin typeface="Calibri"/>
                <a:cs typeface="Calibri"/>
              </a:rPr>
              <a:t>gap</a:t>
            </a:r>
            <a:r>
              <a:rPr sz="1400">
                <a:latin typeface="Calibri"/>
                <a:cs typeface="Calibri"/>
              </a:rPr>
              <a:t>)</a:t>
            </a:r>
          </a:p>
        </p:txBody>
      </p:sp>
      <p:sp>
        <p:nvSpPr>
          <p:cNvPr id="11" name="object 62">
            <a:extLst>
              <a:ext uri="{FF2B5EF4-FFF2-40B4-BE49-F238E27FC236}">
                <a16:creationId xmlns:a16="http://schemas.microsoft.com/office/drawing/2014/main" id="{F1DAA8E2-74AD-BD39-C248-2324458F6D54}"/>
              </a:ext>
            </a:extLst>
          </p:cNvPr>
          <p:cNvSpPr/>
          <p:nvPr/>
        </p:nvSpPr>
        <p:spPr>
          <a:xfrm>
            <a:off x="7448782" y="4331380"/>
            <a:ext cx="67949" cy="610424"/>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2" name="object 63">
            <a:extLst>
              <a:ext uri="{FF2B5EF4-FFF2-40B4-BE49-F238E27FC236}">
                <a16:creationId xmlns:a16="http://schemas.microsoft.com/office/drawing/2014/main" id="{FCE9BE8C-E2F4-7CBE-236B-A2E5451F5C01}"/>
              </a:ext>
            </a:extLst>
          </p:cNvPr>
          <p:cNvSpPr txBox="1"/>
          <p:nvPr/>
        </p:nvSpPr>
        <p:spPr>
          <a:xfrm>
            <a:off x="6882764" y="4389164"/>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a:latin typeface="Calibri"/>
                <a:cs typeface="Calibri"/>
              </a:rPr>
              <a:t>h</a:t>
            </a:r>
          </a:p>
          <a:p>
            <a:pPr marR="5080" algn="ctr">
              <a:lnSpc>
                <a:spcPct val="100000"/>
              </a:lnSpc>
              <a:spcBef>
                <a:spcPts val="5"/>
              </a:spcBef>
            </a:pPr>
            <a:r>
              <a:rPr sz="1400" spc="-10">
                <a:latin typeface="Calibri"/>
                <a:cs typeface="Calibri"/>
              </a:rPr>
              <a:t>(h</a:t>
            </a:r>
            <a:r>
              <a:rPr sz="1400">
                <a:latin typeface="Calibri"/>
                <a:cs typeface="Calibri"/>
              </a:rPr>
              <a:t>eig</a:t>
            </a:r>
            <a:r>
              <a:rPr sz="1400" spc="-25">
                <a:latin typeface="Calibri"/>
                <a:cs typeface="Calibri"/>
              </a:rPr>
              <a:t>h</a:t>
            </a:r>
            <a:r>
              <a:rPr sz="1400" spc="-5">
                <a:latin typeface="Calibri"/>
                <a:cs typeface="Calibri"/>
              </a:rPr>
              <a:t>t</a:t>
            </a:r>
            <a:r>
              <a:rPr sz="1400">
                <a:latin typeface="Calibri"/>
                <a:cs typeface="Calibri"/>
              </a:rPr>
              <a:t>)</a:t>
            </a:r>
          </a:p>
        </p:txBody>
      </p:sp>
    </p:spTree>
    <p:extLst>
      <p:ext uri="{BB962C8B-B14F-4D97-AF65-F5344CB8AC3E}">
        <p14:creationId xmlns:p14="http://schemas.microsoft.com/office/powerpoint/2010/main" val="5602346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1F74687F-7302-3F32-F9D1-0566D05F33AE}"/>
              </a:ext>
            </a:extLst>
          </p:cNvPr>
          <p:cNvSpPr>
            <a:spLocks noGrp="1"/>
          </p:cNvSpPr>
          <p:nvPr>
            <p:ph type="ftr" sz="quarter" idx="5"/>
          </p:nvPr>
        </p:nvSpPr>
        <p:spPr/>
        <p:txBody>
          <a:bodyPr/>
          <a:lstStyle/>
          <a:p>
            <a:pPr marL="12700">
              <a:spcBef>
                <a:spcPts val="15"/>
              </a:spcBef>
            </a:pPr>
            <a:r>
              <a:rPr lang="es-ES" spc="-5"/>
              <a:t>LAB 2.0. COUPLERS</a:t>
            </a:r>
          </a:p>
        </p:txBody>
      </p:sp>
      <p:sp>
        <p:nvSpPr>
          <p:cNvPr id="5" name="Marcador de número de diapositiva 4">
            <a:extLst>
              <a:ext uri="{FF2B5EF4-FFF2-40B4-BE49-F238E27FC236}">
                <a16:creationId xmlns:a16="http://schemas.microsoft.com/office/drawing/2014/main" id="{78335A49-ACE2-C055-50CA-8DD755D2E76D}"/>
              </a:ext>
            </a:extLst>
          </p:cNvPr>
          <p:cNvSpPr>
            <a:spLocks noGrp="1"/>
          </p:cNvSpPr>
          <p:nvPr>
            <p:ph type="sldNum" sz="quarter" idx="7"/>
          </p:nvPr>
        </p:nvSpPr>
        <p:spPr/>
        <p:txBody>
          <a:bodyPr/>
          <a:lstStyle/>
          <a:p>
            <a:fld id="{B6F15528-21DE-4FAA-801E-634DDDAF4B2B}" type="slidenum">
              <a:rPr lang="es-ES" smtClean="0"/>
              <a:t>3</a:t>
            </a:fld>
            <a:endParaRPr lang="es-ES"/>
          </a:p>
        </p:txBody>
      </p:sp>
      <p:sp>
        <p:nvSpPr>
          <p:cNvPr id="6" name="Título 4">
            <a:extLst>
              <a:ext uri="{FF2B5EF4-FFF2-40B4-BE49-F238E27FC236}">
                <a16:creationId xmlns:a16="http://schemas.microsoft.com/office/drawing/2014/main" id="{AF6692CA-D0D0-2BAF-E673-933E02AE2BB8}"/>
              </a:ext>
            </a:extLst>
          </p:cNvPr>
          <p:cNvSpPr>
            <a:spLocks noGrp="1"/>
          </p:cNvSpPr>
          <p:nvPr>
            <p:ph type="body" idx="1"/>
          </p:nvPr>
        </p:nvSpPr>
        <p:spPr>
          <a:xfrm>
            <a:off x="609600" y="2152650"/>
            <a:ext cx="10972800" cy="430887"/>
          </a:xfrm>
        </p:spPr>
        <p:txBody>
          <a:bodyPr/>
          <a:lstStyle/>
          <a:p>
            <a:pPr algn="ctr"/>
            <a:r>
              <a:rPr lang="en-US" sz="2800" b="1">
                <a:effectLst>
                  <a:outerShdw blurRad="38100" dist="38100" dir="2700000" algn="tl">
                    <a:srgbClr val="000000">
                      <a:alpha val="43137"/>
                    </a:srgbClr>
                  </a:outerShdw>
                </a:effectLst>
              </a:rPr>
              <a:t>Directional coupler</a:t>
            </a:r>
          </a:p>
        </p:txBody>
      </p:sp>
    </p:spTree>
    <p:extLst>
      <p:ext uri="{BB962C8B-B14F-4D97-AF65-F5344CB8AC3E}">
        <p14:creationId xmlns:p14="http://schemas.microsoft.com/office/powerpoint/2010/main" val="16400195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a:t>Learning outcome #1 – Directional coupler cross-section in </a:t>
            </a:r>
            <a:r>
              <a:rPr lang="en-US" sz="2500" err="1"/>
              <a:t>GDSFactory</a:t>
            </a:r>
            <a:br>
              <a:rPr lang="es-ES" sz="2500" spc="-5">
                <a:latin typeface="+mj-lt"/>
                <a:cs typeface="Lucida Sans"/>
              </a:rPr>
            </a:br>
            <a:endParaRPr sz="2500" b="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4</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2.0. COUPLERS</a:t>
            </a:r>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AA9E72FF-B948-6B7A-8909-97C6BE95D6FB}"/>
                  </a:ext>
                </a:extLst>
              </p:cNvPr>
              <p:cNvSpPr txBox="1">
                <a:spLocks/>
              </p:cNvSpPr>
              <p:nvPr/>
            </p:nvSpPr>
            <p:spPr>
              <a:xfrm>
                <a:off x="658505" y="949931"/>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sz="2000" b="1"/>
                  <a:t>INSTRUCTOR:</a:t>
                </a:r>
              </a:p>
              <a:p>
                <a:pPr marL="342900" indent="-342900" algn="just">
                  <a:buFont typeface="Arial" panose="020B0604020202020204" pitchFamily="34" charset="0"/>
                  <a:buChar char="•"/>
                </a:pPr>
                <a:r>
                  <a:rPr lang="en-US" sz="2000"/>
                  <a:t>Present Python and </a:t>
                </a:r>
                <a:r>
                  <a:rPr lang="en-US" sz="2000" err="1"/>
                  <a:t>GDSFactory</a:t>
                </a:r>
                <a:r>
                  <a:rPr lang="en-US" sz="2000"/>
                  <a:t> implementation of DC cross-section</a:t>
                </a:r>
              </a:p>
              <a:p>
                <a:pPr marL="342900" indent="-342900" algn="just">
                  <a:buFont typeface="Arial" panose="020B0604020202020204" pitchFamily="34" charset="0"/>
                  <a:buChar char="•"/>
                </a:pPr>
                <a:r>
                  <a:rPr lang="en-US" sz="2000"/>
                  <a:t>Describe how to obtain the beating length </a:t>
                </a:r>
                <a14:m>
                  <m:oMath xmlns:m="http://schemas.openxmlformats.org/officeDocument/2006/math">
                    <m:sSub>
                      <m:sSubPr>
                        <m:ctrlPr>
                          <a:rPr lang="es-ES" sz="2000" b="0" i="1" smtClean="0">
                            <a:latin typeface="Cambria Math" panose="02040503050406030204" pitchFamily="18" charset="0"/>
                          </a:rPr>
                        </m:ctrlPr>
                      </m:sSubPr>
                      <m:e>
                        <m:r>
                          <a:rPr lang="es-ES" sz="2000" b="0" i="1" smtClean="0">
                            <a:latin typeface="Cambria Math" panose="02040503050406030204" pitchFamily="18" charset="0"/>
                          </a:rPr>
                          <m:t>𝐿</m:t>
                        </m:r>
                      </m:e>
                      <m:sub>
                        <m:r>
                          <a:rPr lang="es-ES" sz="2000" b="0" i="1" smtClean="0">
                            <a:latin typeface="Cambria Math" panose="02040503050406030204" pitchFamily="18" charset="0"/>
                          </a:rPr>
                          <m:t>𝜋</m:t>
                        </m:r>
                      </m:sub>
                    </m:sSub>
                  </m:oMath>
                </a14:m>
                <a:endParaRPr lang="en-US" sz="2000"/>
              </a:p>
              <a:p>
                <a:pPr marL="342900" indent="-342900" algn="just">
                  <a:buFont typeface="Arial" panose="020B0604020202020204" pitchFamily="34" charset="0"/>
                  <a:buChar char="•"/>
                </a:pPr>
                <a:r>
                  <a:rPr lang="en-US" sz="2000"/>
                  <a:t>Describe the outputs.</a:t>
                </a:r>
              </a:p>
              <a:p>
                <a:pPr marL="0" indent="0" algn="just">
                  <a:buNone/>
                </a:pPr>
                <a:r>
                  <a:rPr lang="en-US" sz="2000" b="1"/>
                  <a:t>ALL EXAMPLE #1: </a:t>
                </a:r>
                <a:r>
                  <a:rPr lang="en-US" sz="2000"/>
                  <a:t>waveguide width 1.2 µm, gap between waveguides 0.6 µm, deep </a:t>
                </a:r>
                <a:r>
                  <a:rPr lang="en-US" sz="2000" err="1"/>
                  <a:t>wvg</a:t>
                </a:r>
                <a:r>
                  <a:rPr lang="en-US" sz="2000"/>
                  <a:t>, wavelength start and end same 1.55 µm </a:t>
                </a:r>
                <a:r>
                  <a:rPr lang="en-US" sz="2000">
                    <a:sym typeface="Wingdings" pitchFamily="2" charset="2"/>
                  </a:rPr>
                  <a:t> all ”Run”</a:t>
                </a:r>
                <a:endParaRPr lang="en-US" sz="2000"/>
              </a:p>
              <a:p>
                <a:pPr marL="0" indent="0" algn="just">
                  <a:buNone/>
                </a:pPr>
                <a:r>
                  <a:rPr lang="en-US" sz="2000" b="1"/>
                  <a:t>ALL: </a:t>
                </a:r>
                <a:r>
                  <a:rPr lang="en-US" sz="2000"/>
                  <a:t>Follow</a:t>
                </a:r>
                <a:r>
                  <a:rPr lang="en-US" sz="2000" b="1"/>
                  <a:t> </a:t>
                </a:r>
                <a:r>
                  <a:rPr lang="en-US" sz="2000"/>
                  <a:t>instructor, that will show how to 1) plot mode, 2) explore the results (neff …)</a:t>
                </a:r>
              </a:p>
              <a:p>
                <a:pPr algn="just"/>
                <a:endParaRPr lang="en-US" sz="2000" b="1" i="1"/>
              </a:p>
              <a:p>
                <a:pPr algn="just"/>
                <a:endParaRPr lang="en-US" sz="2000" kern="0">
                  <a:solidFill>
                    <a:sysClr val="windowText" lastClr="000000"/>
                  </a:solidFill>
                </a:endParaRPr>
              </a:p>
            </p:txBody>
          </p:sp>
        </mc:Choice>
        <mc:Fallback xmlns="">
          <p:sp>
            <p:nvSpPr>
              <p:cNvPr id="4" name="Marcador de texto 2">
                <a:extLst>
                  <a:ext uri="{FF2B5EF4-FFF2-40B4-BE49-F238E27FC236}">
                    <a16:creationId xmlns:a16="http://schemas.microsoft.com/office/drawing/2014/main" id="{AA9E72FF-B948-6B7A-8909-97C6BE95D6FB}"/>
                  </a:ext>
                </a:extLst>
              </p:cNvPr>
              <p:cNvSpPr txBox="1">
                <a:spLocks noRot="1" noChangeAspect="1" noMove="1" noResize="1" noEditPoints="1" noAdjustHandles="1" noChangeArrowheads="1" noChangeShapeType="1" noTextEdit="1"/>
              </p:cNvSpPr>
              <p:nvPr/>
            </p:nvSpPr>
            <p:spPr>
              <a:xfrm>
                <a:off x="658505" y="949931"/>
                <a:ext cx="11048999" cy="4958137"/>
              </a:xfrm>
              <a:prstGeom prst="rect">
                <a:avLst/>
              </a:prstGeom>
              <a:blipFill>
                <a:blip r:embed="rId4"/>
                <a:stretch>
                  <a:fillRect l="-552" t="-738" r="-552"/>
                </a:stretch>
              </a:blipFill>
            </p:spPr>
            <p:txBody>
              <a:bodyPr/>
              <a:lstStyle/>
              <a:p>
                <a:r>
                  <a:rPr lang="en-US">
                    <a:noFill/>
                  </a:rPr>
                  <a:t> </a:t>
                </a:r>
              </a:p>
            </p:txBody>
          </p:sp>
        </mc:Fallback>
      </mc:AlternateContent>
      <p:sp>
        <p:nvSpPr>
          <p:cNvPr id="2" name="CuadroTexto 1">
            <a:extLst>
              <a:ext uri="{FF2B5EF4-FFF2-40B4-BE49-F238E27FC236}">
                <a16:creationId xmlns:a16="http://schemas.microsoft.com/office/drawing/2014/main" id="{D0F8CF3B-B920-DBFC-F825-0C87B51EADA7}"/>
              </a:ext>
            </a:extLst>
          </p:cNvPr>
          <p:cNvSpPr txBox="1"/>
          <p:nvPr/>
        </p:nvSpPr>
        <p:spPr>
          <a:xfrm>
            <a:off x="609441" y="4860334"/>
            <a:ext cx="11199971" cy="830997"/>
          </a:xfrm>
          <a:prstGeom prst="rect">
            <a:avLst/>
          </a:prstGeom>
          <a:solidFill>
            <a:schemeClr val="bg1">
              <a:lumMod val="95000"/>
            </a:schemeClr>
          </a:solidFill>
          <a:ln w="28575">
            <a:solidFill>
              <a:srgbClr val="E0700D"/>
            </a:solidFill>
          </a:ln>
        </p:spPr>
        <p:txBody>
          <a:bodyPr wrap="square" rtlCol="0">
            <a:spAutoFit/>
          </a:bodyPr>
          <a:lstStyle/>
          <a:p>
            <a:pPr algn="just"/>
            <a:r>
              <a:rPr lang="en-US" sz="1200">
                <a:latin typeface="Arial" panose="020B0604020202020204" pitchFamily="34" charset="0"/>
                <a:cs typeface="Arial" panose="020B0604020202020204" pitchFamily="34" charset="0"/>
              </a:rPr>
              <a:t>Los indices </a:t>
            </a:r>
            <a:r>
              <a:rPr lang="en-US" sz="1200" err="1">
                <a:latin typeface="Arial" panose="020B0604020202020204" pitchFamily="34" charset="0"/>
                <a:cs typeface="Arial" panose="020B0604020202020204" pitchFamily="34" charset="0"/>
              </a:rPr>
              <a:t>efectivos</a:t>
            </a:r>
            <a:r>
              <a:rPr lang="en-US" sz="1200">
                <a:latin typeface="Arial" panose="020B0604020202020204" pitchFamily="34" charset="0"/>
                <a:cs typeface="Arial" panose="020B0604020202020204" pitchFamily="34" charset="0"/>
              </a:rPr>
              <a:t> de </a:t>
            </a:r>
            <a:r>
              <a:rPr lang="en-US" sz="1200" err="1">
                <a:latin typeface="Arial" panose="020B0604020202020204" pitchFamily="34" charset="0"/>
                <a:cs typeface="Arial" panose="020B0604020202020204" pitchFamily="34" charset="0"/>
              </a:rPr>
              <a:t>los</a:t>
            </a:r>
            <a:r>
              <a:rPr lang="en-US" sz="1200">
                <a:latin typeface="Arial" panose="020B0604020202020204" pitchFamily="34" charset="0"/>
                <a:cs typeface="Arial" panose="020B0604020202020204" pitchFamily="34" charset="0"/>
              </a:rPr>
              <a:t> cuatro </a:t>
            </a:r>
            <a:r>
              <a:rPr lang="en-US" sz="1200" err="1">
                <a:latin typeface="Arial" panose="020B0604020202020204" pitchFamily="34" charset="0"/>
                <a:cs typeface="Arial" panose="020B0604020202020204" pitchFamily="34" charset="0"/>
              </a:rPr>
              <a:t>primeros</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modos</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estan</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todos</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comprendidos</a:t>
            </a:r>
            <a:r>
              <a:rPr lang="en-US" sz="1200">
                <a:latin typeface="Arial" panose="020B0604020202020204" pitchFamily="34" charset="0"/>
                <a:cs typeface="Arial" panose="020B0604020202020204" pitchFamily="34" charset="0"/>
              </a:rPr>
              <a:t> entre 2 (</a:t>
            </a:r>
            <a:r>
              <a:rPr lang="en-US" sz="1200" err="1">
                <a:latin typeface="Arial" panose="020B0604020202020204" pitchFamily="34" charset="0"/>
                <a:cs typeface="Arial" panose="020B0604020202020204" pitchFamily="34" charset="0"/>
              </a:rPr>
              <a:t>indice</a:t>
            </a:r>
            <a:r>
              <a:rPr lang="en-US" sz="1200">
                <a:latin typeface="Arial" panose="020B0604020202020204" pitchFamily="34" charset="0"/>
                <a:cs typeface="Arial" panose="020B0604020202020204" pitchFamily="34" charset="0"/>
              </a:rPr>
              <a:t> de </a:t>
            </a:r>
            <a:r>
              <a:rPr lang="en-US" sz="1200" err="1">
                <a:latin typeface="Arial" panose="020B0604020202020204" pitchFamily="34" charset="0"/>
                <a:cs typeface="Arial" panose="020B0604020202020204" pitchFamily="34" charset="0"/>
              </a:rPr>
              <a:t>refracción</a:t>
            </a:r>
            <a:r>
              <a:rPr lang="en-US" sz="1200">
                <a:latin typeface="Arial" panose="020B0604020202020204" pitchFamily="34" charset="0"/>
                <a:cs typeface="Arial" panose="020B0604020202020204" pitchFamily="34" charset="0"/>
              </a:rPr>
              <a:t> del core de </a:t>
            </a:r>
            <a:r>
              <a:rPr lang="en-US" sz="1200" err="1">
                <a:latin typeface="Arial" panose="020B0604020202020204" pitchFamily="34" charset="0"/>
                <a:cs typeface="Arial" panose="020B0604020202020204" pitchFamily="34" charset="0"/>
              </a:rPr>
              <a:t>SiN</a:t>
            </a:r>
            <a:r>
              <a:rPr lang="en-US" sz="1200">
                <a:latin typeface="Arial" panose="020B0604020202020204" pitchFamily="34" charset="0"/>
                <a:cs typeface="Arial" panose="020B0604020202020204" pitchFamily="34" charset="0"/>
              </a:rPr>
              <a:t>) y 1.45 (</a:t>
            </a:r>
            <a:r>
              <a:rPr lang="en-US" sz="1200" err="1">
                <a:latin typeface="Arial" panose="020B0604020202020204" pitchFamily="34" charset="0"/>
                <a:cs typeface="Arial" panose="020B0604020202020204" pitchFamily="34" charset="0"/>
              </a:rPr>
              <a:t>indice</a:t>
            </a:r>
            <a:r>
              <a:rPr lang="en-US" sz="1200">
                <a:latin typeface="Arial" panose="020B0604020202020204" pitchFamily="34" charset="0"/>
                <a:cs typeface="Arial" panose="020B0604020202020204" pitchFamily="34" charset="0"/>
              </a:rPr>
              <a:t> del cladding de SiO2) </a:t>
            </a:r>
            <a:r>
              <a:rPr lang="en-US" sz="1200" err="1">
                <a:latin typeface="Arial" panose="020B0604020202020204" pitchFamily="34" charset="0"/>
                <a:cs typeface="Arial" panose="020B0604020202020204" pitchFamily="34" charset="0"/>
              </a:rPr>
              <a:t>por</a:t>
            </a:r>
            <a:r>
              <a:rPr lang="en-US" sz="1200">
                <a:latin typeface="Arial" panose="020B0604020202020204" pitchFamily="34" charset="0"/>
                <a:cs typeface="Arial" panose="020B0604020202020204" pitchFamily="34" charset="0"/>
              </a:rPr>
              <a:t> tanto </a:t>
            </a:r>
            <a:r>
              <a:rPr lang="en-US" sz="1200" err="1">
                <a:latin typeface="Arial" panose="020B0604020202020204" pitchFamily="34" charset="0"/>
                <a:cs typeface="Arial" panose="020B0604020202020204" pitchFamily="34" charset="0"/>
              </a:rPr>
              <a:t>estos</a:t>
            </a:r>
            <a:r>
              <a:rPr lang="en-US" sz="1200">
                <a:latin typeface="Arial" panose="020B0604020202020204" pitchFamily="34" charset="0"/>
                <a:cs typeface="Arial" panose="020B0604020202020204" pitchFamily="34" charset="0"/>
              </a:rPr>
              <a:t> 4 </a:t>
            </a:r>
            <a:r>
              <a:rPr lang="en-US" sz="1200" err="1">
                <a:latin typeface="Arial" panose="020B0604020202020204" pitchFamily="34" charset="0"/>
                <a:cs typeface="Arial" panose="020B0604020202020204" pitchFamily="34" charset="0"/>
              </a:rPr>
              <a:t>modos</a:t>
            </a:r>
            <a:r>
              <a:rPr lang="en-US" sz="1200">
                <a:latin typeface="Arial" panose="020B0604020202020204" pitchFamily="34" charset="0"/>
                <a:cs typeface="Arial" panose="020B0604020202020204" pitchFamily="34" charset="0"/>
              </a:rPr>
              <a:t> se </a:t>
            </a:r>
            <a:r>
              <a:rPr lang="en-US" sz="1200" err="1">
                <a:latin typeface="Arial" panose="020B0604020202020204" pitchFamily="34" charset="0"/>
                <a:cs typeface="Arial" panose="020B0604020202020204" pitchFamily="34" charset="0"/>
              </a:rPr>
              <a:t>propagan</a:t>
            </a:r>
            <a:r>
              <a:rPr lang="en-US" sz="1200">
                <a:latin typeface="Arial" panose="020B0604020202020204" pitchFamily="34" charset="0"/>
                <a:cs typeface="Arial" panose="020B0604020202020204" pitchFamily="34" charset="0"/>
              </a:rPr>
              <a:t>. Se </a:t>
            </a:r>
            <a:r>
              <a:rPr lang="en-US" sz="1200" err="1">
                <a:latin typeface="Arial" panose="020B0604020202020204" pitchFamily="34" charset="0"/>
                <a:cs typeface="Arial" panose="020B0604020202020204" pitchFamily="34" charset="0"/>
              </a:rPr>
              <a:t>obtiene</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que</a:t>
            </a:r>
            <a:r>
              <a:rPr lang="en-US" sz="1200">
                <a:latin typeface="Arial" panose="020B0604020202020204" pitchFamily="34" charset="0"/>
                <a:cs typeface="Arial" panose="020B0604020202020204" pitchFamily="34" charset="0"/>
              </a:rPr>
              <a:t> la </a:t>
            </a:r>
            <a:r>
              <a:rPr lang="en-US" sz="1200" err="1">
                <a:latin typeface="Arial" panose="020B0604020202020204" pitchFamily="34" charset="0"/>
                <a:cs typeface="Arial" panose="020B0604020202020204" pitchFamily="34" charset="0"/>
              </a:rPr>
              <a:t>distancia</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Lpi</a:t>
            </a:r>
            <a:r>
              <a:rPr lang="en-US" sz="1200">
                <a:latin typeface="Arial" panose="020B0604020202020204" pitchFamily="34" charset="0"/>
                <a:cs typeface="Arial" panose="020B0604020202020204" pitchFamily="34" charset="0"/>
              </a:rPr>
              <a:t> para </a:t>
            </a:r>
            <a:r>
              <a:rPr lang="en-US" sz="1200" err="1">
                <a:latin typeface="Arial" panose="020B0604020202020204" pitchFamily="34" charset="0"/>
                <a:cs typeface="Arial" panose="020B0604020202020204" pitchFamily="34" charset="0"/>
              </a:rPr>
              <a:t>los</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modos</a:t>
            </a:r>
            <a:r>
              <a:rPr lang="en-US" sz="1200">
                <a:latin typeface="Arial" panose="020B0604020202020204" pitchFamily="34" charset="0"/>
                <a:cs typeface="Arial" panose="020B0604020202020204" pitchFamily="34" charset="0"/>
              </a:rPr>
              <a:t> TE </a:t>
            </a:r>
            <a:r>
              <a:rPr lang="en-US" sz="1200" err="1">
                <a:latin typeface="Arial" panose="020B0604020202020204" pitchFamily="34" charset="0"/>
                <a:cs typeface="Arial" panose="020B0604020202020204" pitchFamily="34" charset="0"/>
              </a:rPr>
              <a:t>corresponde</a:t>
            </a:r>
            <a:r>
              <a:rPr lang="en-US" sz="1200">
                <a:latin typeface="Arial" panose="020B0604020202020204" pitchFamily="34" charset="0"/>
                <a:cs typeface="Arial" panose="020B0604020202020204" pitchFamily="34" charset="0"/>
              </a:rPr>
              <a:t> a 93.84 um y para </a:t>
            </a:r>
            <a:r>
              <a:rPr lang="en-US" sz="1200" err="1">
                <a:latin typeface="Arial" panose="020B0604020202020204" pitchFamily="34" charset="0"/>
                <a:cs typeface="Arial" panose="020B0604020202020204" pitchFamily="34" charset="0"/>
              </a:rPr>
              <a:t>los</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modos</a:t>
            </a:r>
            <a:r>
              <a:rPr lang="en-US" sz="1200">
                <a:latin typeface="Arial" panose="020B0604020202020204" pitchFamily="34" charset="0"/>
                <a:cs typeface="Arial" panose="020B0604020202020204" pitchFamily="34" charset="0"/>
              </a:rPr>
              <a:t> TM es 52.26 um. Esta es la </a:t>
            </a:r>
            <a:r>
              <a:rPr lang="en-US" sz="1200" err="1">
                <a:latin typeface="Arial" panose="020B0604020202020204" pitchFamily="34" charset="0"/>
                <a:cs typeface="Arial" panose="020B0604020202020204" pitchFamily="34" charset="0"/>
              </a:rPr>
              <a:t>longitud</a:t>
            </a:r>
            <a:r>
              <a:rPr lang="en-US" sz="1200">
                <a:latin typeface="Arial" panose="020B0604020202020204" pitchFamily="34" charset="0"/>
                <a:cs typeface="Arial" panose="020B0604020202020204" pitchFamily="34" charset="0"/>
              </a:rPr>
              <a:t> a la </a:t>
            </a:r>
            <a:r>
              <a:rPr lang="en-US" sz="1200" err="1">
                <a:latin typeface="Arial" panose="020B0604020202020204" pitchFamily="34" charset="0"/>
                <a:cs typeface="Arial" panose="020B0604020202020204" pitchFamily="34" charset="0"/>
              </a:rPr>
              <a:t>que</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el</a:t>
            </a:r>
            <a:r>
              <a:rPr lang="en-US" sz="1200">
                <a:latin typeface="Arial" panose="020B0604020202020204" pitchFamily="34" charset="0"/>
                <a:cs typeface="Arial" panose="020B0604020202020204" pitchFamily="34" charset="0"/>
              </a:rPr>
              <a:t> total de la </a:t>
            </a:r>
            <a:r>
              <a:rPr lang="en-US" sz="1200" err="1">
                <a:latin typeface="Arial" panose="020B0604020202020204" pitchFamily="34" charset="0"/>
                <a:cs typeface="Arial" panose="020B0604020202020204" pitchFamily="34" charset="0"/>
              </a:rPr>
              <a:t>potencia</a:t>
            </a:r>
            <a:r>
              <a:rPr lang="en-US" sz="1200">
                <a:latin typeface="Arial" panose="020B0604020202020204" pitchFamily="34" charset="0"/>
                <a:cs typeface="Arial" panose="020B0604020202020204" pitchFamily="34" charset="0"/>
              </a:rPr>
              <a:t> se </a:t>
            </a:r>
            <a:r>
              <a:rPr lang="en-US" sz="1200" err="1">
                <a:latin typeface="Arial" panose="020B0604020202020204" pitchFamily="34" charset="0"/>
                <a:cs typeface="Arial" panose="020B0604020202020204" pitchFamily="34" charset="0"/>
              </a:rPr>
              <a:t>acopla</a:t>
            </a:r>
            <a:r>
              <a:rPr lang="en-US" sz="1200">
                <a:latin typeface="Arial" panose="020B0604020202020204" pitchFamily="34" charset="0"/>
                <a:cs typeface="Arial" panose="020B0604020202020204" pitchFamily="34" charset="0"/>
              </a:rPr>
              <a:t> a la </a:t>
            </a:r>
            <a:r>
              <a:rPr lang="en-US" sz="1200" err="1">
                <a:latin typeface="Arial" panose="020B0604020202020204" pitchFamily="34" charset="0"/>
                <a:cs typeface="Arial" panose="020B0604020202020204" pitchFamily="34" charset="0"/>
              </a:rPr>
              <a:t>otra</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guía</a:t>
            </a:r>
            <a:r>
              <a:rPr lang="en-US" sz="1200">
                <a:latin typeface="Arial" panose="020B0604020202020204" pitchFamily="34" charset="0"/>
                <a:cs typeface="Arial" panose="020B0604020202020204" pitchFamily="34" charset="0"/>
              </a:rPr>
              <a:t> del </a:t>
            </a:r>
            <a:r>
              <a:rPr lang="en-US" sz="1200" err="1">
                <a:latin typeface="Arial" panose="020B0604020202020204" pitchFamily="34" charset="0"/>
                <a:cs typeface="Arial" panose="020B0604020202020204" pitchFamily="34" charset="0"/>
              </a:rPr>
              <a:t>acoplador</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direccional</a:t>
            </a:r>
            <a:r>
              <a:rPr lang="en-US" sz="1200">
                <a:latin typeface="Arial" panose="020B0604020202020204" pitchFamily="34" charset="0"/>
                <a:cs typeface="Arial" panose="020B0604020202020204" pitchFamily="34" charset="0"/>
              </a:rPr>
              <a:t>.</a:t>
            </a:r>
          </a:p>
          <a:p>
            <a:pPr algn="just"/>
            <a:endParaRPr lang="en-US" sz="1200">
              <a:latin typeface="Arial" panose="020B0604020202020204" pitchFamily="34" charset="0"/>
              <a:cs typeface="Arial" panose="020B0604020202020204" pitchFamily="34" charset="0"/>
            </a:endParaRPr>
          </a:p>
        </p:txBody>
      </p:sp>
      <p:pic>
        <p:nvPicPr>
          <p:cNvPr id="8" name="Imagen 7">
            <a:extLst>
              <a:ext uri="{FF2B5EF4-FFF2-40B4-BE49-F238E27FC236}">
                <a16:creationId xmlns:a16="http://schemas.microsoft.com/office/drawing/2014/main" id="{80DC00BA-4121-F195-BC0A-72F4D8DE1AB8}"/>
              </a:ext>
            </a:extLst>
          </p:cNvPr>
          <p:cNvPicPr>
            <a:picLocks noChangeAspect="1"/>
          </p:cNvPicPr>
          <p:nvPr/>
        </p:nvPicPr>
        <p:blipFill>
          <a:blip r:embed="rId5"/>
          <a:stretch>
            <a:fillRect/>
          </a:stretch>
        </p:blipFill>
        <p:spPr>
          <a:xfrm>
            <a:off x="895352" y="3488224"/>
            <a:ext cx="3505556" cy="1140861"/>
          </a:xfrm>
          <a:prstGeom prst="rect">
            <a:avLst/>
          </a:prstGeom>
        </p:spPr>
      </p:pic>
      <p:pic>
        <p:nvPicPr>
          <p:cNvPr id="10" name="Imagen 9">
            <a:extLst>
              <a:ext uri="{FF2B5EF4-FFF2-40B4-BE49-F238E27FC236}">
                <a16:creationId xmlns:a16="http://schemas.microsoft.com/office/drawing/2014/main" id="{E47DF3D8-E626-3EEC-479F-BD711D58B381}"/>
              </a:ext>
            </a:extLst>
          </p:cNvPr>
          <p:cNvPicPr>
            <a:picLocks noChangeAspect="1"/>
          </p:cNvPicPr>
          <p:nvPr/>
        </p:nvPicPr>
        <p:blipFill>
          <a:blip r:embed="rId6"/>
          <a:stretch>
            <a:fillRect/>
          </a:stretch>
        </p:blipFill>
        <p:spPr>
          <a:xfrm>
            <a:off x="5215624" y="3488224"/>
            <a:ext cx="3147328" cy="1140861"/>
          </a:xfrm>
          <a:prstGeom prst="rect">
            <a:avLst/>
          </a:prstGeom>
        </p:spPr>
      </p:pic>
      <p:pic>
        <p:nvPicPr>
          <p:cNvPr id="12" name="Imagen 11">
            <a:extLst>
              <a:ext uri="{FF2B5EF4-FFF2-40B4-BE49-F238E27FC236}">
                <a16:creationId xmlns:a16="http://schemas.microsoft.com/office/drawing/2014/main" id="{ADDEC198-3447-B032-ED10-F775492FC7A8}"/>
              </a:ext>
            </a:extLst>
          </p:cNvPr>
          <p:cNvPicPr>
            <a:picLocks noChangeAspect="1"/>
          </p:cNvPicPr>
          <p:nvPr/>
        </p:nvPicPr>
        <p:blipFill>
          <a:blip r:embed="rId7"/>
          <a:stretch>
            <a:fillRect/>
          </a:stretch>
        </p:blipFill>
        <p:spPr>
          <a:xfrm>
            <a:off x="9177668" y="3154073"/>
            <a:ext cx="2392698" cy="1680071"/>
          </a:xfrm>
          <a:prstGeom prst="rect">
            <a:avLst/>
          </a:prstGeom>
        </p:spPr>
      </p:pic>
    </p:spTree>
    <p:extLst>
      <p:ext uri="{BB962C8B-B14F-4D97-AF65-F5344CB8AC3E}">
        <p14:creationId xmlns:p14="http://schemas.microsoft.com/office/powerpoint/2010/main" val="7305013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3F8FE3DD-5DEF-FF5A-965A-137787C5922A}"/>
              </a:ext>
            </a:extLst>
          </p:cNvPr>
          <p:cNvSpPr>
            <a:spLocks noGrp="1"/>
          </p:cNvSpPr>
          <p:nvPr>
            <p:ph type="ftr" sz="quarter" idx="5"/>
          </p:nvPr>
        </p:nvSpPr>
        <p:spPr/>
        <p:txBody>
          <a:bodyPr/>
          <a:lstStyle/>
          <a:p>
            <a:pPr marL="12700">
              <a:spcBef>
                <a:spcPts val="15"/>
              </a:spcBef>
            </a:pPr>
            <a:r>
              <a:rPr lang="es-ES" spc="-5"/>
              <a:t>LAB 2.0. COUPLERS</a:t>
            </a:r>
          </a:p>
        </p:txBody>
      </p:sp>
      <p:sp>
        <p:nvSpPr>
          <p:cNvPr id="5" name="Marcador de número de diapositiva 4">
            <a:extLst>
              <a:ext uri="{FF2B5EF4-FFF2-40B4-BE49-F238E27FC236}">
                <a16:creationId xmlns:a16="http://schemas.microsoft.com/office/drawing/2014/main" id="{AC052590-D03D-3799-6952-C7AE50781FDD}"/>
              </a:ext>
            </a:extLst>
          </p:cNvPr>
          <p:cNvSpPr>
            <a:spLocks noGrp="1"/>
          </p:cNvSpPr>
          <p:nvPr>
            <p:ph type="sldNum" sz="quarter" idx="7"/>
          </p:nvPr>
        </p:nvSpPr>
        <p:spPr/>
        <p:txBody>
          <a:bodyPr/>
          <a:lstStyle/>
          <a:p>
            <a:fld id="{B6F15528-21DE-4FAA-801E-634DDDAF4B2B}" type="slidenum">
              <a:rPr lang="es-ES" smtClean="0"/>
              <a:t>5</a:t>
            </a:fld>
            <a:endParaRPr lang="es-ES"/>
          </a:p>
        </p:txBody>
      </p:sp>
      <p:pic>
        <p:nvPicPr>
          <p:cNvPr id="9" name="Imagen 8">
            <a:extLst>
              <a:ext uri="{FF2B5EF4-FFF2-40B4-BE49-F238E27FC236}">
                <a16:creationId xmlns:a16="http://schemas.microsoft.com/office/drawing/2014/main" id="{8E9088B9-981E-364A-AAAC-F15EEC1F907A}"/>
              </a:ext>
            </a:extLst>
          </p:cNvPr>
          <p:cNvPicPr>
            <a:picLocks noChangeAspect="1"/>
          </p:cNvPicPr>
          <p:nvPr/>
        </p:nvPicPr>
        <p:blipFill>
          <a:blip r:embed="rId2"/>
          <a:stretch>
            <a:fillRect/>
          </a:stretch>
        </p:blipFill>
        <p:spPr>
          <a:xfrm>
            <a:off x="484774" y="1405867"/>
            <a:ext cx="3277909" cy="2240961"/>
          </a:xfrm>
          <a:prstGeom prst="rect">
            <a:avLst/>
          </a:prstGeom>
        </p:spPr>
      </p:pic>
      <p:pic>
        <p:nvPicPr>
          <p:cNvPr id="11" name="Imagen 10">
            <a:extLst>
              <a:ext uri="{FF2B5EF4-FFF2-40B4-BE49-F238E27FC236}">
                <a16:creationId xmlns:a16="http://schemas.microsoft.com/office/drawing/2014/main" id="{D66E60BB-2902-834D-4622-5DE76FBF8768}"/>
              </a:ext>
            </a:extLst>
          </p:cNvPr>
          <p:cNvPicPr>
            <a:picLocks noChangeAspect="1"/>
          </p:cNvPicPr>
          <p:nvPr/>
        </p:nvPicPr>
        <p:blipFill>
          <a:blip r:embed="rId3"/>
          <a:stretch>
            <a:fillRect/>
          </a:stretch>
        </p:blipFill>
        <p:spPr>
          <a:xfrm>
            <a:off x="4038600" y="1416028"/>
            <a:ext cx="3273117" cy="2191467"/>
          </a:xfrm>
          <a:prstGeom prst="rect">
            <a:avLst/>
          </a:prstGeom>
        </p:spPr>
      </p:pic>
      <p:pic>
        <p:nvPicPr>
          <p:cNvPr id="13" name="Imagen 12">
            <a:extLst>
              <a:ext uri="{FF2B5EF4-FFF2-40B4-BE49-F238E27FC236}">
                <a16:creationId xmlns:a16="http://schemas.microsoft.com/office/drawing/2014/main" id="{EDE0958D-6FE1-A051-AEC4-D61E952C953C}"/>
              </a:ext>
            </a:extLst>
          </p:cNvPr>
          <p:cNvPicPr>
            <a:picLocks noChangeAspect="1"/>
          </p:cNvPicPr>
          <p:nvPr/>
        </p:nvPicPr>
        <p:blipFill>
          <a:blip r:embed="rId4"/>
          <a:stretch>
            <a:fillRect/>
          </a:stretch>
        </p:blipFill>
        <p:spPr>
          <a:xfrm>
            <a:off x="482601" y="3687885"/>
            <a:ext cx="3352800" cy="2240961"/>
          </a:xfrm>
          <a:prstGeom prst="rect">
            <a:avLst/>
          </a:prstGeom>
        </p:spPr>
      </p:pic>
      <p:pic>
        <p:nvPicPr>
          <p:cNvPr id="15" name="Imagen 14">
            <a:extLst>
              <a:ext uri="{FF2B5EF4-FFF2-40B4-BE49-F238E27FC236}">
                <a16:creationId xmlns:a16="http://schemas.microsoft.com/office/drawing/2014/main" id="{BC655649-BFA8-5E5E-A2B3-03FFA9E7DF8B}"/>
              </a:ext>
            </a:extLst>
          </p:cNvPr>
          <p:cNvPicPr>
            <a:picLocks noChangeAspect="1"/>
          </p:cNvPicPr>
          <p:nvPr/>
        </p:nvPicPr>
        <p:blipFill>
          <a:blip r:embed="rId5"/>
          <a:stretch>
            <a:fillRect/>
          </a:stretch>
        </p:blipFill>
        <p:spPr>
          <a:xfrm>
            <a:off x="3860801" y="3636670"/>
            <a:ext cx="3505200" cy="2352888"/>
          </a:xfrm>
          <a:prstGeom prst="rect">
            <a:avLst/>
          </a:prstGeom>
        </p:spPr>
      </p:pic>
      <p:pic>
        <p:nvPicPr>
          <p:cNvPr id="17" name="Imagen 16">
            <a:extLst>
              <a:ext uri="{FF2B5EF4-FFF2-40B4-BE49-F238E27FC236}">
                <a16:creationId xmlns:a16="http://schemas.microsoft.com/office/drawing/2014/main" id="{4E59F9E9-BF55-DBA3-3166-2FB337B2CE36}"/>
              </a:ext>
            </a:extLst>
          </p:cNvPr>
          <p:cNvPicPr>
            <a:picLocks noChangeAspect="1"/>
          </p:cNvPicPr>
          <p:nvPr/>
        </p:nvPicPr>
        <p:blipFill>
          <a:blip r:embed="rId6"/>
          <a:stretch>
            <a:fillRect/>
          </a:stretch>
        </p:blipFill>
        <p:spPr>
          <a:xfrm>
            <a:off x="8077200" y="1652470"/>
            <a:ext cx="3048000" cy="814033"/>
          </a:xfrm>
          <a:prstGeom prst="rect">
            <a:avLst/>
          </a:prstGeom>
        </p:spPr>
      </p:pic>
      <p:sp>
        <p:nvSpPr>
          <p:cNvPr id="6" name="Título 1">
            <a:extLst>
              <a:ext uri="{FF2B5EF4-FFF2-40B4-BE49-F238E27FC236}">
                <a16:creationId xmlns:a16="http://schemas.microsoft.com/office/drawing/2014/main" id="{0AB128CD-468B-2717-66F2-421B0743F544}"/>
              </a:ext>
            </a:extLst>
          </p:cNvPr>
          <p:cNvSpPr>
            <a:spLocks noGrp="1"/>
          </p:cNvSpPr>
          <p:nvPr>
            <p:ph type="title"/>
          </p:nvPr>
        </p:nvSpPr>
        <p:spPr>
          <a:xfrm>
            <a:off x="1600200" y="3377520"/>
            <a:ext cx="914400" cy="615553"/>
          </a:xfrm>
        </p:spPr>
        <p:txBody>
          <a:bodyPr/>
          <a:lstStyle/>
          <a:p>
            <a:pPr algn="ctr"/>
            <a:r>
              <a:rPr lang="es-ES"/>
              <a:t>Modo 0</a:t>
            </a:r>
            <a:br>
              <a:rPr lang="es-ES"/>
            </a:br>
            <a:r>
              <a:rPr lang="es-ES"/>
              <a:t>TE0</a:t>
            </a:r>
          </a:p>
        </p:txBody>
      </p:sp>
      <p:sp>
        <p:nvSpPr>
          <p:cNvPr id="8" name="Título 1">
            <a:extLst>
              <a:ext uri="{FF2B5EF4-FFF2-40B4-BE49-F238E27FC236}">
                <a16:creationId xmlns:a16="http://schemas.microsoft.com/office/drawing/2014/main" id="{FA71AA13-B7DE-623C-BB76-4F16E5A4ABA6}"/>
              </a:ext>
            </a:extLst>
          </p:cNvPr>
          <p:cNvSpPr txBox="1">
            <a:spLocks/>
          </p:cNvSpPr>
          <p:nvPr/>
        </p:nvSpPr>
        <p:spPr>
          <a:xfrm>
            <a:off x="5156201" y="5545812"/>
            <a:ext cx="914400" cy="615553"/>
          </a:xfrm>
          <a:prstGeom prst="rect">
            <a:avLst/>
          </a:prstGeom>
        </p:spPr>
        <p:txBody>
          <a:bodyPr wrap="square" lIns="0" tIns="0" rIns="0" bIns="0">
            <a:spAutoFit/>
          </a:bodyPr>
          <a:lstStyle>
            <a:lvl1pPr>
              <a:defRPr sz="2000" b="1" i="0">
                <a:solidFill>
                  <a:schemeClr val="tx1"/>
                </a:solidFill>
                <a:latin typeface="Calibri"/>
                <a:ea typeface="+mj-ea"/>
                <a:cs typeface="Calibri"/>
              </a:defRPr>
            </a:lvl1pPr>
          </a:lstStyle>
          <a:p>
            <a:pPr algn="ctr"/>
            <a:r>
              <a:rPr lang="es-ES" kern="0"/>
              <a:t>Modo 3</a:t>
            </a:r>
          </a:p>
          <a:p>
            <a:pPr algn="ctr"/>
            <a:r>
              <a:rPr lang="es-ES" kern="0"/>
              <a:t>TM1</a:t>
            </a:r>
          </a:p>
        </p:txBody>
      </p:sp>
      <p:sp>
        <p:nvSpPr>
          <p:cNvPr id="10" name="Título 1">
            <a:extLst>
              <a:ext uri="{FF2B5EF4-FFF2-40B4-BE49-F238E27FC236}">
                <a16:creationId xmlns:a16="http://schemas.microsoft.com/office/drawing/2014/main" id="{EE38AD3A-AA71-738F-497B-A7F7486F7F01}"/>
              </a:ext>
            </a:extLst>
          </p:cNvPr>
          <p:cNvSpPr txBox="1">
            <a:spLocks/>
          </p:cNvSpPr>
          <p:nvPr/>
        </p:nvSpPr>
        <p:spPr>
          <a:xfrm>
            <a:off x="1625600" y="5551558"/>
            <a:ext cx="914400" cy="615553"/>
          </a:xfrm>
          <a:prstGeom prst="rect">
            <a:avLst/>
          </a:prstGeom>
        </p:spPr>
        <p:txBody>
          <a:bodyPr wrap="square" lIns="0" tIns="0" rIns="0" bIns="0">
            <a:spAutoFit/>
          </a:bodyPr>
          <a:lstStyle>
            <a:lvl1pPr>
              <a:defRPr sz="2000" b="1" i="0">
                <a:solidFill>
                  <a:schemeClr val="tx1"/>
                </a:solidFill>
                <a:latin typeface="Calibri"/>
                <a:ea typeface="+mj-ea"/>
                <a:cs typeface="Calibri"/>
              </a:defRPr>
            </a:lvl1pPr>
          </a:lstStyle>
          <a:p>
            <a:pPr algn="ctr"/>
            <a:r>
              <a:rPr lang="es-ES" kern="0"/>
              <a:t>Modo 2</a:t>
            </a:r>
          </a:p>
          <a:p>
            <a:pPr algn="ctr"/>
            <a:r>
              <a:rPr lang="es-ES" kern="0"/>
              <a:t>TM0</a:t>
            </a:r>
          </a:p>
        </p:txBody>
      </p:sp>
      <p:sp>
        <p:nvSpPr>
          <p:cNvPr id="12" name="Título 1">
            <a:extLst>
              <a:ext uri="{FF2B5EF4-FFF2-40B4-BE49-F238E27FC236}">
                <a16:creationId xmlns:a16="http://schemas.microsoft.com/office/drawing/2014/main" id="{B69DE4CE-0FB6-DD46-E8B9-DD36C70103F0}"/>
              </a:ext>
            </a:extLst>
          </p:cNvPr>
          <p:cNvSpPr txBox="1">
            <a:spLocks/>
          </p:cNvSpPr>
          <p:nvPr/>
        </p:nvSpPr>
        <p:spPr>
          <a:xfrm>
            <a:off x="5146041" y="3299718"/>
            <a:ext cx="914400" cy="615553"/>
          </a:xfrm>
          <a:prstGeom prst="rect">
            <a:avLst/>
          </a:prstGeom>
        </p:spPr>
        <p:txBody>
          <a:bodyPr wrap="square" lIns="0" tIns="0" rIns="0" bIns="0">
            <a:spAutoFit/>
          </a:bodyPr>
          <a:lstStyle>
            <a:lvl1pPr>
              <a:defRPr sz="2000" b="1" i="0">
                <a:solidFill>
                  <a:schemeClr val="tx1"/>
                </a:solidFill>
                <a:latin typeface="Calibri"/>
                <a:ea typeface="+mj-ea"/>
                <a:cs typeface="Calibri"/>
              </a:defRPr>
            </a:lvl1pPr>
          </a:lstStyle>
          <a:p>
            <a:pPr algn="ctr"/>
            <a:r>
              <a:rPr lang="es-ES" kern="0"/>
              <a:t>Modo 1</a:t>
            </a:r>
          </a:p>
          <a:p>
            <a:pPr algn="ctr"/>
            <a:r>
              <a:rPr lang="es-ES" kern="0"/>
              <a:t>TE1</a:t>
            </a:r>
          </a:p>
        </p:txBody>
      </p:sp>
      <p:sp>
        <p:nvSpPr>
          <p:cNvPr id="14" name="CuadroTexto 13">
            <a:extLst>
              <a:ext uri="{FF2B5EF4-FFF2-40B4-BE49-F238E27FC236}">
                <a16:creationId xmlns:a16="http://schemas.microsoft.com/office/drawing/2014/main" id="{D1402AF3-3DF0-41A7-7B2A-AB8C4DC61C36}"/>
              </a:ext>
            </a:extLst>
          </p:cNvPr>
          <p:cNvSpPr txBox="1"/>
          <p:nvPr/>
        </p:nvSpPr>
        <p:spPr>
          <a:xfrm>
            <a:off x="7747001" y="3237488"/>
            <a:ext cx="4013197" cy="2677656"/>
          </a:xfrm>
          <a:prstGeom prst="rect">
            <a:avLst/>
          </a:prstGeom>
          <a:solidFill>
            <a:schemeClr val="bg1">
              <a:lumMod val="95000"/>
            </a:schemeClr>
          </a:solidFill>
          <a:ln w="28575">
            <a:solidFill>
              <a:srgbClr val="E0700D"/>
            </a:solidFill>
          </a:ln>
        </p:spPr>
        <p:txBody>
          <a:bodyPr wrap="square" rtlCol="0">
            <a:spAutoFit/>
          </a:bodyPr>
          <a:lstStyle/>
          <a:p>
            <a:pPr algn="just"/>
            <a:r>
              <a:rPr lang="en-US" sz="1200" err="1">
                <a:latin typeface="Arial" panose="020B0604020202020204" pitchFamily="34" charset="0"/>
                <a:cs typeface="Arial" panose="020B0604020202020204" pitchFamily="34" charset="0"/>
              </a:rPr>
              <a:t>Hemos</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obtenido</a:t>
            </a:r>
            <a:r>
              <a:rPr lang="en-US" sz="1200">
                <a:latin typeface="Arial" panose="020B0604020202020204" pitchFamily="34" charset="0"/>
                <a:cs typeface="Arial" panose="020B0604020202020204" pitchFamily="34" charset="0"/>
              </a:rPr>
              <a:t> las </a:t>
            </a:r>
            <a:r>
              <a:rPr lang="en-US" sz="1200" err="1">
                <a:latin typeface="Arial" panose="020B0604020202020204" pitchFamily="34" charset="0"/>
                <a:cs typeface="Arial" panose="020B0604020202020204" pitchFamily="34" charset="0"/>
              </a:rPr>
              <a:t>fracciones</a:t>
            </a:r>
            <a:r>
              <a:rPr lang="en-US" sz="1200">
                <a:latin typeface="Arial" panose="020B0604020202020204" pitchFamily="34" charset="0"/>
                <a:cs typeface="Arial" panose="020B0604020202020204" pitchFamily="34" charset="0"/>
              </a:rPr>
              <a:t> TE de </a:t>
            </a:r>
            <a:r>
              <a:rPr lang="en-US" sz="1200" err="1">
                <a:latin typeface="Arial" panose="020B0604020202020204" pitchFamily="34" charset="0"/>
                <a:cs typeface="Arial" panose="020B0604020202020204" pitchFamily="34" charset="0"/>
              </a:rPr>
              <a:t>cada</a:t>
            </a:r>
            <a:r>
              <a:rPr lang="en-US" sz="1200">
                <a:latin typeface="Arial" panose="020B0604020202020204" pitchFamily="34" charset="0"/>
                <a:cs typeface="Arial" panose="020B0604020202020204" pitchFamily="34" charset="0"/>
              </a:rPr>
              <a:t> uno de </a:t>
            </a:r>
            <a:r>
              <a:rPr lang="en-US" sz="1200" err="1">
                <a:latin typeface="Arial" panose="020B0604020202020204" pitchFamily="34" charset="0"/>
                <a:cs typeface="Arial" panose="020B0604020202020204" pitchFamily="34" charset="0"/>
              </a:rPr>
              <a:t>los</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modos</a:t>
            </a:r>
            <a:r>
              <a:rPr lang="en-US" sz="1200">
                <a:latin typeface="Arial" panose="020B0604020202020204" pitchFamily="34" charset="0"/>
                <a:cs typeface="Arial" panose="020B0604020202020204" pitchFamily="34" charset="0"/>
              </a:rPr>
              <a:t>. Los </a:t>
            </a:r>
            <a:r>
              <a:rPr lang="en-US" sz="1200" err="1">
                <a:latin typeface="Arial" panose="020B0604020202020204" pitchFamily="34" charset="0"/>
                <a:cs typeface="Arial" panose="020B0604020202020204" pitchFamily="34" charset="0"/>
              </a:rPr>
              <a:t>modos</a:t>
            </a:r>
            <a:r>
              <a:rPr lang="en-US" sz="1200">
                <a:latin typeface="Arial" panose="020B0604020202020204" pitchFamily="34" charset="0"/>
                <a:cs typeface="Arial" panose="020B0604020202020204" pitchFamily="34" charset="0"/>
              </a:rPr>
              <a:t> con </a:t>
            </a:r>
            <a:r>
              <a:rPr lang="en-US" sz="1200" err="1">
                <a:latin typeface="Arial" panose="020B0604020202020204" pitchFamily="34" charset="0"/>
                <a:cs typeface="Arial" panose="020B0604020202020204" pitchFamily="34" charset="0"/>
              </a:rPr>
              <a:t>índice</a:t>
            </a:r>
            <a:r>
              <a:rPr lang="en-US" sz="1200">
                <a:latin typeface="Arial" panose="020B0604020202020204" pitchFamily="34" charset="0"/>
                <a:cs typeface="Arial" panose="020B0604020202020204" pitchFamily="34" charset="0"/>
              </a:rPr>
              <a:t> 0 y 1 </a:t>
            </a:r>
            <a:r>
              <a:rPr lang="en-US" sz="1200" err="1">
                <a:latin typeface="Arial" panose="020B0604020202020204" pitchFamily="34" charset="0"/>
                <a:cs typeface="Arial" panose="020B0604020202020204" pitchFamily="34" charset="0"/>
              </a:rPr>
              <a:t>corresponden</a:t>
            </a:r>
            <a:r>
              <a:rPr lang="en-US" sz="1200">
                <a:latin typeface="Arial" panose="020B0604020202020204" pitchFamily="34" charset="0"/>
                <a:cs typeface="Arial" panose="020B0604020202020204" pitchFamily="34" charset="0"/>
              </a:rPr>
              <a:t> a </a:t>
            </a:r>
            <a:r>
              <a:rPr lang="en-US" sz="1200" err="1">
                <a:latin typeface="Arial" panose="020B0604020202020204" pitchFamily="34" charset="0"/>
                <a:cs typeface="Arial" panose="020B0604020202020204" pitchFamily="34" charset="0"/>
              </a:rPr>
              <a:t>los</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modos</a:t>
            </a:r>
            <a:r>
              <a:rPr lang="en-US" sz="1200">
                <a:latin typeface="Arial" panose="020B0604020202020204" pitchFamily="34" charset="0"/>
                <a:cs typeface="Arial" panose="020B0604020202020204" pitchFamily="34" charset="0"/>
              </a:rPr>
              <a:t> TE0 y TE1 </a:t>
            </a:r>
            <a:r>
              <a:rPr lang="en-US" sz="1200" err="1">
                <a:latin typeface="Arial" panose="020B0604020202020204" pitchFamily="34" charset="0"/>
                <a:cs typeface="Arial" panose="020B0604020202020204" pitchFamily="34" charset="0"/>
              </a:rPr>
              <a:t>ya</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que</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su</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fracción</a:t>
            </a:r>
            <a:r>
              <a:rPr lang="en-US" sz="1200">
                <a:latin typeface="Arial" panose="020B0604020202020204" pitchFamily="34" charset="0"/>
                <a:cs typeface="Arial" panose="020B0604020202020204" pitchFamily="34" charset="0"/>
              </a:rPr>
              <a:t> TE </a:t>
            </a:r>
            <a:r>
              <a:rPr lang="en-US" sz="1200" err="1">
                <a:latin typeface="Arial" panose="020B0604020202020204" pitchFamily="34" charset="0"/>
                <a:cs typeface="Arial" panose="020B0604020202020204" pitchFamily="34" charset="0"/>
              </a:rPr>
              <a:t>obtenida</a:t>
            </a:r>
            <a:r>
              <a:rPr lang="en-US" sz="1200">
                <a:latin typeface="Arial" panose="020B0604020202020204" pitchFamily="34" charset="0"/>
                <a:cs typeface="Arial" panose="020B0604020202020204" pitchFamily="34" charset="0"/>
              </a:rPr>
              <a:t> es </a:t>
            </a:r>
            <a:r>
              <a:rPr lang="en-US" sz="1200" err="1">
                <a:latin typeface="Arial" panose="020B0604020202020204" pitchFamily="34" charset="0"/>
                <a:cs typeface="Arial" panose="020B0604020202020204" pitchFamily="34" charset="0"/>
              </a:rPr>
              <a:t>muy</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cercana</a:t>
            </a:r>
            <a:r>
              <a:rPr lang="en-US" sz="1200">
                <a:latin typeface="Arial" panose="020B0604020202020204" pitchFamily="34" charset="0"/>
                <a:cs typeface="Arial" panose="020B0604020202020204" pitchFamily="34" charset="0"/>
              </a:rPr>
              <a:t> a 1. En la </a:t>
            </a:r>
            <a:r>
              <a:rPr lang="en-US" sz="1200" err="1">
                <a:latin typeface="Arial" panose="020B0604020202020204" pitchFamily="34" charset="0"/>
                <a:cs typeface="Arial" panose="020B0604020202020204" pitchFamily="34" charset="0"/>
              </a:rPr>
              <a:t>representación</a:t>
            </a:r>
            <a:r>
              <a:rPr lang="en-US" sz="1200">
                <a:latin typeface="Arial" panose="020B0604020202020204" pitchFamily="34" charset="0"/>
                <a:cs typeface="Arial" panose="020B0604020202020204" pitchFamily="34" charset="0"/>
              </a:rPr>
              <a:t> de </a:t>
            </a:r>
            <a:r>
              <a:rPr lang="en-US" sz="1200" err="1">
                <a:latin typeface="Arial" panose="020B0604020202020204" pitchFamily="34" charset="0"/>
                <a:cs typeface="Arial" panose="020B0604020202020204" pitchFamily="34" charset="0"/>
              </a:rPr>
              <a:t>estos</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modos</a:t>
            </a:r>
            <a:r>
              <a:rPr lang="en-US" sz="1200">
                <a:latin typeface="Arial" panose="020B0604020202020204" pitchFamily="34" charset="0"/>
                <a:cs typeface="Arial" panose="020B0604020202020204" pitchFamily="34" charset="0"/>
              </a:rPr>
              <a:t> se ha </a:t>
            </a:r>
            <a:r>
              <a:rPr lang="en-US" sz="1200" err="1">
                <a:latin typeface="Arial" panose="020B0604020202020204" pitchFamily="34" charset="0"/>
                <a:cs typeface="Arial" panose="020B0604020202020204" pitchFamily="34" charset="0"/>
              </a:rPr>
              <a:t>representado</a:t>
            </a:r>
            <a:r>
              <a:rPr lang="en-US" sz="1200">
                <a:latin typeface="Arial" panose="020B0604020202020204" pitchFamily="34" charset="0"/>
                <a:cs typeface="Arial" panose="020B0604020202020204" pitchFamily="34" charset="0"/>
              </a:rPr>
              <a:t> la magnitude Ex.</a:t>
            </a:r>
          </a:p>
          <a:p>
            <a:pPr algn="just"/>
            <a:endParaRPr lang="en-US" sz="1200">
              <a:latin typeface="Arial" panose="020B0604020202020204" pitchFamily="34" charset="0"/>
              <a:cs typeface="Arial" panose="020B0604020202020204" pitchFamily="34" charset="0"/>
            </a:endParaRPr>
          </a:p>
          <a:p>
            <a:pPr algn="just"/>
            <a:r>
              <a:rPr lang="en-US" sz="1200">
                <a:latin typeface="Arial" panose="020B0604020202020204" pitchFamily="34" charset="0"/>
                <a:cs typeface="Arial" panose="020B0604020202020204" pitchFamily="34" charset="0"/>
              </a:rPr>
              <a:t>Los </a:t>
            </a:r>
            <a:r>
              <a:rPr lang="en-US" sz="1200" err="1">
                <a:latin typeface="Arial" panose="020B0604020202020204" pitchFamily="34" charset="0"/>
                <a:cs typeface="Arial" panose="020B0604020202020204" pitchFamily="34" charset="0"/>
              </a:rPr>
              <a:t>modos</a:t>
            </a:r>
            <a:r>
              <a:rPr lang="en-US" sz="1200">
                <a:latin typeface="Arial" panose="020B0604020202020204" pitchFamily="34" charset="0"/>
                <a:cs typeface="Arial" panose="020B0604020202020204" pitchFamily="34" charset="0"/>
              </a:rPr>
              <a:t> 2 y 3 </a:t>
            </a:r>
            <a:r>
              <a:rPr lang="en-US" sz="1200" err="1">
                <a:latin typeface="Arial" panose="020B0604020202020204" pitchFamily="34" charset="0"/>
                <a:cs typeface="Arial" panose="020B0604020202020204" pitchFamily="34" charset="0"/>
              </a:rPr>
              <a:t>corresponden</a:t>
            </a:r>
            <a:r>
              <a:rPr lang="en-US" sz="1200">
                <a:latin typeface="Arial" panose="020B0604020202020204" pitchFamily="34" charset="0"/>
                <a:cs typeface="Arial" panose="020B0604020202020204" pitchFamily="34" charset="0"/>
              </a:rPr>
              <a:t> al TM0 y TM1 </a:t>
            </a:r>
            <a:r>
              <a:rPr lang="en-US" sz="1200" err="1">
                <a:latin typeface="Arial" panose="020B0604020202020204" pitchFamily="34" charset="0"/>
                <a:cs typeface="Arial" panose="020B0604020202020204" pitchFamily="34" charset="0"/>
              </a:rPr>
              <a:t>ya</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que</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tienen</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una</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fracción</a:t>
            </a:r>
            <a:r>
              <a:rPr lang="en-US" sz="1200">
                <a:latin typeface="Arial" panose="020B0604020202020204" pitchFamily="34" charset="0"/>
                <a:cs typeface="Arial" panose="020B0604020202020204" pitchFamily="34" charset="0"/>
              </a:rPr>
              <a:t> TE </a:t>
            </a:r>
            <a:r>
              <a:rPr lang="en-US" sz="1200" err="1">
                <a:latin typeface="Arial" panose="020B0604020202020204" pitchFamily="34" charset="0"/>
                <a:cs typeface="Arial" panose="020B0604020202020204" pitchFamily="34" charset="0"/>
              </a:rPr>
              <a:t>cercana</a:t>
            </a:r>
            <a:r>
              <a:rPr lang="en-US" sz="1200">
                <a:latin typeface="Arial" panose="020B0604020202020204" pitchFamily="34" charset="0"/>
                <a:cs typeface="Arial" panose="020B0604020202020204" pitchFamily="34" charset="0"/>
              </a:rPr>
              <a:t> a 0 y </a:t>
            </a:r>
            <a:r>
              <a:rPr lang="en-US" sz="1200" err="1">
                <a:latin typeface="Arial" panose="020B0604020202020204" pitchFamily="34" charset="0"/>
                <a:cs typeface="Arial" panose="020B0604020202020204" pitchFamily="34" charset="0"/>
              </a:rPr>
              <a:t>en</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su</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representación</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podemos</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observar</a:t>
            </a:r>
            <a:r>
              <a:rPr lang="en-US" sz="1200">
                <a:latin typeface="Arial" panose="020B0604020202020204" pitchFamily="34" charset="0"/>
                <a:cs typeface="Arial" panose="020B0604020202020204" pitchFamily="34" charset="0"/>
              </a:rPr>
              <a:t> </a:t>
            </a:r>
            <a:r>
              <a:rPr lang="en-US" sz="1200" err="1">
                <a:latin typeface="Arial" panose="020B0604020202020204" pitchFamily="34" charset="0"/>
                <a:cs typeface="Arial" panose="020B0604020202020204" pitchFamily="34" charset="0"/>
              </a:rPr>
              <a:t>el</a:t>
            </a:r>
            <a:r>
              <a:rPr lang="en-US" sz="1200">
                <a:latin typeface="Arial" panose="020B0604020202020204" pitchFamily="34" charset="0"/>
                <a:cs typeface="Arial" panose="020B0604020202020204" pitchFamily="34" charset="0"/>
              </a:rPr>
              <a:t> Ey.</a:t>
            </a:r>
          </a:p>
          <a:p>
            <a:pPr algn="just"/>
            <a:endParaRPr lang="en-US" sz="1200">
              <a:latin typeface="Arial" panose="020B0604020202020204" pitchFamily="34" charset="0"/>
              <a:cs typeface="Arial" panose="020B0604020202020204" pitchFamily="34" charset="0"/>
            </a:endParaRPr>
          </a:p>
          <a:p>
            <a:pPr algn="just"/>
            <a:endParaRPr lang="en-US" sz="1200">
              <a:latin typeface="Arial" panose="020B0604020202020204" pitchFamily="34" charset="0"/>
              <a:cs typeface="Arial" panose="020B0604020202020204" pitchFamily="34" charset="0"/>
            </a:endParaRPr>
          </a:p>
          <a:p>
            <a:pPr algn="just"/>
            <a:endParaRPr lang="en-US" sz="1200">
              <a:latin typeface="Arial" panose="020B0604020202020204" pitchFamily="34" charset="0"/>
              <a:cs typeface="Arial" panose="020B0604020202020204" pitchFamily="34" charset="0"/>
            </a:endParaRPr>
          </a:p>
          <a:p>
            <a:pPr algn="just"/>
            <a:endParaRPr lang="en-US" sz="1200">
              <a:latin typeface="Arial" panose="020B0604020202020204" pitchFamily="34" charset="0"/>
              <a:cs typeface="Arial" panose="020B0604020202020204" pitchFamily="34" charset="0"/>
            </a:endParaRPr>
          </a:p>
          <a:p>
            <a:pPr algn="just"/>
            <a:endParaRPr lang="en-US" sz="1200">
              <a:latin typeface="Arial" panose="020B0604020202020204" pitchFamily="34" charset="0"/>
              <a:cs typeface="Arial" panose="020B0604020202020204" pitchFamily="34" charset="0"/>
            </a:endParaRPr>
          </a:p>
        </p:txBody>
      </p:sp>
      <p:sp>
        <p:nvSpPr>
          <p:cNvPr id="16" name="object 16">
            <a:extLst>
              <a:ext uri="{FF2B5EF4-FFF2-40B4-BE49-F238E27FC236}">
                <a16:creationId xmlns:a16="http://schemas.microsoft.com/office/drawing/2014/main" id="{CFD6AE78-580F-5EDA-7892-5E6F639F903B}"/>
              </a:ext>
            </a:extLst>
          </p:cNvPr>
          <p:cNvSpPr txBox="1">
            <a:spLocks/>
          </p:cNvSpPr>
          <p:nvPr/>
        </p:nvSpPr>
        <p:spPr>
          <a:xfrm>
            <a:off x="685800" y="408883"/>
            <a:ext cx="10994410" cy="782265"/>
          </a:xfrm>
          <a:prstGeom prst="rect">
            <a:avLst/>
          </a:prstGeom>
        </p:spPr>
        <p:txBody>
          <a:bodyPr vert="horz" wrap="square" lIns="0" tIns="12700" rIns="0" bIns="0" rtlCol="0">
            <a:spAutoFit/>
          </a:bodyPr>
          <a:lstStyle>
            <a:lvl1pPr>
              <a:defRPr sz="2000" b="1" i="0">
                <a:solidFill>
                  <a:schemeClr val="tx1"/>
                </a:solidFill>
                <a:latin typeface="Calibri"/>
                <a:ea typeface="+mj-ea"/>
                <a:cs typeface="Calibri"/>
              </a:defRPr>
            </a:lvl1pPr>
          </a:lstStyle>
          <a:p>
            <a:pPr marL="12700">
              <a:spcBef>
                <a:spcPts val="100"/>
              </a:spcBef>
            </a:pPr>
            <a:r>
              <a:rPr lang="en-US" sz="2500" kern="0"/>
              <a:t>Learning outcome #1 – Directional coupler cross-section in GDSFactory</a:t>
            </a:r>
            <a:br>
              <a:rPr lang="en-US" sz="2500" kern="0" spc="-5">
                <a:latin typeface="+mj-lt"/>
                <a:cs typeface="Lucida Sans"/>
              </a:rPr>
            </a:br>
            <a:endParaRPr lang="en-US" sz="2500" b="0" kern="0">
              <a:latin typeface="+mj-lt"/>
              <a:cs typeface="Lucida Sans"/>
            </a:endParaRPr>
          </a:p>
        </p:txBody>
      </p:sp>
    </p:spTree>
    <p:extLst>
      <p:ext uri="{BB962C8B-B14F-4D97-AF65-F5344CB8AC3E}">
        <p14:creationId xmlns:p14="http://schemas.microsoft.com/office/powerpoint/2010/main" val="40907005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a:t>Learning outcome #2 – Directional coupler length and coupling coefficient</a:t>
            </a:r>
            <a:br>
              <a:rPr lang="en-US" sz="2500" spc="-5">
                <a:latin typeface="+mj-lt"/>
                <a:cs typeface="Lucida Sans"/>
              </a:rPr>
            </a:br>
            <a:r>
              <a:rPr lang="en-US" b="0"/>
              <a:t>Wavelength 1.5 µm – width 1.2 µm – gap 0.6 µm – thickness 300 nm</a:t>
            </a:r>
            <a:endParaRPr lang="en-US" sz="2500" b="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6</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2.0. COUPLERS</a:t>
            </a:r>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CA5F0FDF-2A95-453B-4ECA-AEB637FF2694}"/>
                  </a:ext>
                </a:extLst>
              </p:cNvPr>
              <p:cNvSpPr txBox="1"/>
              <p:nvPr/>
            </p:nvSpPr>
            <p:spPr>
              <a:xfrm>
                <a:off x="609441" y="4860334"/>
                <a:ext cx="11199971" cy="1015663"/>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(distance needed for a complete energy transfer between waveguides, distance needed for splitting power in half.. )</a:t>
                </a:r>
              </a:p>
              <a:p>
                <a:pPr algn="just"/>
                <a:r>
                  <a:rPr lang="en-US" sz="1200" dirty="0">
                    <a:latin typeface="Arial" panose="020B0604020202020204" pitchFamily="34" charset="0"/>
                    <a:cs typeface="Arial" panose="020B0604020202020204" pitchFamily="34" charset="0"/>
                  </a:rPr>
                  <a:t>Cuando L = L</a:t>
                </a:r>
                <a14:m>
                  <m:oMath xmlns:m="http://schemas.openxmlformats.org/officeDocument/2006/math">
                    <m:r>
                      <a:rPr lang="en-US" sz="1200" i="1">
                        <a:latin typeface="Cambria Math" panose="02040503050406030204" pitchFamily="18" charset="0"/>
                        <a:ea typeface="Cambria Math" panose="02040503050406030204" pitchFamily="18" charset="0"/>
                        <a:cs typeface="Arial" panose="020B0604020202020204" pitchFamily="34" charset="0"/>
                      </a:rPr>
                      <m:t>𝜋</m:t>
                    </m:r>
                  </m:oMath>
                </a14:m>
                <a:r>
                  <a:rPr lang="en-US" sz="1200" dirty="0">
                    <a:latin typeface="Arial" panose="020B0604020202020204" pitchFamily="34" charset="0"/>
                    <a:cs typeface="Arial" panose="020B0604020202020204" pitchFamily="34" charset="0"/>
                  </a:rPr>
                  <a:t>, K = 1,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es </a:t>
                </a:r>
                <a:r>
                  <a:rPr lang="en-US" sz="1200" dirty="0" err="1">
                    <a:latin typeface="Arial" panose="020B0604020202020204" pitchFamily="34" charset="0"/>
                    <a:cs typeface="Arial" panose="020B0604020202020204" pitchFamily="34" charset="0"/>
                  </a:rPr>
                  <a:t>cuando</a:t>
                </a:r>
                <a:r>
                  <a:rPr lang="en-US" sz="1200" dirty="0">
                    <a:latin typeface="Arial" panose="020B0604020202020204" pitchFamily="34" charset="0"/>
                    <a:cs typeface="Arial" panose="020B0604020202020204" pitchFamily="34" charset="0"/>
                  </a:rPr>
                  <a:t> se </a:t>
                </a:r>
                <a:r>
                  <a:rPr lang="en-US" sz="1200" dirty="0" err="1">
                    <a:latin typeface="Arial" panose="020B0604020202020204" pitchFamily="34" charset="0"/>
                    <a:cs typeface="Arial" panose="020B0604020202020204" pitchFamily="34" charset="0"/>
                  </a:rPr>
                  <a:t>va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todo</a:t>
                </a:r>
                <a:r>
                  <a:rPr lang="en-US" sz="1200" dirty="0">
                    <a:latin typeface="Arial" panose="020B0604020202020204" pitchFamily="34" charset="0"/>
                    <a:cs typeface="Arial" panose="020B0604020202020204" pitchFamily="34" charset="0"/>
                  </a:rPr>
                  <a:t> a la </a:t>
                </a:r>
                <a:r>
                  <a:rPr lang="en-US" sz="1200" dirty="0" err="1">
                    <a:latin typeface="Arial" panose="020B0604020202020204" pitchFamily="34" charset="0"/>
                    <a:cs typeface="Arial" panose="020B0604020202020204" pitchFamily="34" charset="0"/>
                  </a:rPr>
                  <a:t>otra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guía</a:t>
                </a:r>
                <a:r>
                  <a:rPr lang="en-US" sz="1200" dirty="0">
                    <a:latin typeface="Arial" panose="020B0604020202020204" pitchFamily="34" charset="0"/>
                    <a:cs typeface="Arial" panose="020B0604020202020204" pitchFamily="34" charset="0"/>
                  </a:rPr>
                  <a:t>. Para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caso</a:t>
                </a:r>
                <a:r>
                  <a:rPr lang="en-US" sz="1200" dirty="0">
                    <a:latin typeface="Arial" panose="020B0604020202020204" pitchFamily="34" charset="0"/>
                    <a:cs typeface="Arial" panose="020B0604020202020204" pitchFamily="34" charset="0"/>
                  </a:rPr>
                  <a:t> TE es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L = </a:t>
                </a:r>
                <a:r>
                  <a:rPr lang="es-ES" sz="1200" dirty="0">
                    <a:latin typeface="Arial" panose="020B0604020202020204" pitchFamily="34" charset="0"/>
                    <a:cs typeface="Arial" panose="020B0604020202020204" pitchFamily="34" charset="0"/>
                  </a:rPr>
                  <a:t>93.83767536700753. Para el caso TM: 52.26022367744142</a:t>
                </a:r>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Cuando L = 2*L</a:t>
                </a:r>
                <a14:m>
                  <m:oMath xmlns:m="http://schemas.openxmlformats.org/officeDocument/2006/math">
                    <m:r>
                      <a:rPr lang="en-US" sz="1200" i="1">
                        <a:latin typeface="Cambria Math" panose="02040503050406030204" pitchFamily="18" charset="0"/>
                        <a:ea typeface="Cambria Math" panose="02040503050406030204" pitchFamily="18" charset="0"/>
                        <a:cs typeface="Arial" panose="020B0604020202020204" pitchFamily="34" charset="0"/>
                      </a:rPr>
                      <m:t>𝜋</m:t>
                    </m:r>
                  </m:oMath>
                </a14:m>
                <a:r>
                  <a:rPr lang="en-US" sz="1200" dirty="0">
                    <a:latin typeface="Arial" panose="020B0604020202020204" pitchFamily="34" charset="0"/>
                    <a:cs typeface="Arial" panose="020B0604020202020204" pitchFamily="34" charset="0"/>
                  </a:rPr>
                  <a:t>, K = 0, </a:t>
                </a:r>
                <a:r>
                  <a:rPr lang="en-US" sz="1200" dirty="0" err="1">
                    <a:latin typeface="Arial" panose="020B0604020202020204" pitchFamily="34" charset="0"/>
                    <a:cs typeface="Arial" panose="020B0604020202020204" pitchFamily="34" charset="0"/>
                  </a:rPr>
                  <a:t>ya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la luz ha </a:t>
                </a:r>
                <a:r>
                  <a:rPr lang="en-US" sz="1200" dirty="0" err="1">
                    <a:latin typeface="Arial" panose="020B0604020202020204" pitchFamily="34" charset="0"/>
                    <a:cs typeface="Arial" panose="020B0604020202020204" pitchFamily="34" charset="0"/>
                  </a:rPr>
                  <a:t>ido</a:t>
                </a:r>
                <a:r>
                  <a:rPr lang="en-US" sz="1200" dirty="0">
                    <a:latin typeface="Arial" panose="020B0604020202020204" pitchFamily="34" charset="0"/>
                    <a:cs typeface="Arial" panose="020B0604020202020204" pitchFamily="34" charset="0"/>
                  </a:rPr>
                  <a:t> a la </a:t>
                </a:r>
                <a:r>
                  <a:rPr lang="en-US" sz="1200" dirty="0" err="1">
                    <a:latin typeface="Arial" panose="020B0604020202020204" pitchFamily="34" charset="0"/>
                    <a:cs typeface="Arial" panose="020B0604020202020204" pitchFamily="34" charset="0"/>
                  </a:rPr>
                  <a:t>otra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guía</a:t>
                </a:r>
                <a:r>
                  <a:rPr lang="en-US" sz="1200" dirty="0">
                    <a:latin typeface="Arial" panose="020B0604020202020204" pitchFamily="34" charset="0"/>
                    <a:cs typeface="Arial" panose="020B0604020202020204" pitchFamily="34" charset="0"/>
                  </a:rPr>
                  <a:t> y ha </a:t>
                </a:r>
                <a:r>
                  <a:rPr lang="en-US" sz="1200" dirty="0" err="1">
                    <a:latin typeface="Arial" panose="020B0604020202020204" pitchFamily="34" charset="0"/>
                    <a:cs typeface="Arial" panose="020B0604020202020204" pitchFamily="34" charset="0"/>
                  </a:rPr>
                  <a:t>vuelto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toda</a:t>
                </a:r>
                <a:r>
                  <a:rPr lang="en-US" sz="1200" dirty="0">
                    <a:latin typeface="Arial" panose="020B0604020202020204" pitchFamily="34" charset="0"/>
                    <a:cs typeface="Arial" panose="020B0604020202020204" pitchFamily="34" charset="0"/>
                  </a:rPr>
                  <a:t> a la </a:t>
                </a:r>
                <a:r>
                  <a:rPr lang="en-US" sz="1200" dirty="0" err="1">
                    <a:latin typeface="Arial" panose="020B0604020202020204" pitchFamily="34" charset="0"/>
                    <a:cs typeface="Arial" panose="020B0604020202020204" pitchFamily="34" charset="0"/>
                  </a:rPr>
                  <a:t>guía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por</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entraba</a:t>
                </a:r>
                <a:r>
                  <a:rPr lang="en-US" sz="1200" dirty="0">
                    <a:latin typeface="Arial" panose="020B0604020202020204" pitchFamily="34" charset="0"/>
                    <a:cs typeface="Arial" panose="020B0604020202020204" pitchFamily="34" charset="0"/>
                  </a:rPr>
                  <a:t> la luz. Para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se </a:t>
                </a:r>
                <a:r>
                  <a:rPr lang="en-US" sz="1200" dirty="0" err="1">
                    <a:latin typeface="Arial" panose="020B0604020202020204" pitchFamily="34" charset="0"/>
                    <a:cs typeface="Arial" panose="020B0604020202020204" pitchFamily="34" charset="0"/>
                  </a:rPr>
                  <a:t>divida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por</a:t>
                </a:r>
                <a:r>
                  <a:rPr lang="en-US" sz="1200" dirty="0">
                    <a:latin typeface="Arial" panose="020B0604020202020204" pitchFamily="34" charset="0"/>
                    <a:cs typeface="Arial" panose="020B0604020202020204" pitchFamily="34" charset="0"/>
                  </a:rPr>
                  <a:t> la luz de </a:t>
                </a:r>
                <a:r>
                  <a:rPr lang="en-US" sz="1200" dirty="0" err="1">
                    <a:latin typeface="Arial" panose="020B0604020202020204" pitchFamily="34" charset="0"/>
                    <a:cs typeface="Arial" panose="020B0604020202020204" pitchFamily="34" charset="0"/>
                  </a:rPr>
                  <a:t>igual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manera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salida</a:t>
                </a:r>
                <a:r>
                  <a:rPr lang="en-US" sz="1200" dirty="0">
                    <a:latin typeface="Arial" panose="020B0604020202020204" pitchFamily="34" charset="0"/>
                    <a:cs typeface="Arial" panose="020B0604020202020204" pitchFamily="34" charset="0"/>
                  </a:rPr>
                  <a:t> (K = 0.5) </a:t>
                </a:r>
                <a:r>
                  <a:rPr lang="en-US" sz="1200" dirty="0" err="1">
                    <a:latin typeface="Arial" panose="020B0604020202020204" pitchFamily="34" charset="0"/>
                    <a:cs typeface="Arial" panose="020B0604020202020204" pitchFamily="34" charset="0"/>
                  </a:rPr>
                  <a:t>necesitaremos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la L sea n* L</a:t>
                </a:r>
                <a14:m>
                  <m:oMath xmlns:m="http://schemas.openxmlformats.org/officeDocument/2006/math">
                    <m:r>
                      <a:rPr lang="en-US" sz="1200" i="1">
                        <a:latin typeface="Cambria Math" panose="02040503050406030204" pitchFamily="18" charset="0"/>
                        <a:ea typeface="Cambria Math" panose="02040503050406030204" pitchFamily="18" charset="0"/>
                        <a:cs typeface="Arial" panose="020B0604020202020204" pitchFamily="34" charset="0"/>
                      </a:rPr>
                      <m:t>𝜋</m:t>
                    </m:r>
                    <m:r>
                      <a:rPr lang="en-US" sz="1200" i="1">
                        <a:latin typeface="Cambria Math" panose="02040503050406030204" pitchFamily="18" charset="0"/>
                        <a:ea typeface="Cambria Math" panose="02040503050406030204" pitchFamily="18" charset="0"/>
                        <a:cs typeface="Arial" panose="020B0604020202020204" pitchFamily="34" charset="0"/>
                      </a:rPr>
                      <m:t> </m:t>
                    </m:r>
                  </m:oMath>
                </a14:m>
                <a:r>
                  <a:rPr lang="en-US" sz="1200" dirty="0">
                    <a:latin typeface="Arial" panose="020B0604020202020204" pitchFamily="34" charset="0"/>
                    <a:cs typeface="Arial" panose="020B0604020202020204" pitchFamily="34" charset="0"/>
                  </a:rPr>
                  <a:t>/2 </a:t>
                </a:r>
              </a:p>
              <a:p>
                <a:pPr algn="just"/>
                <a:endParaRPr lang="en-US" sz="1200" dirty="0">
                  <a:latin typeface="Arial" panose="020B0604020202020204" pitchFamily="34" charset="0"/>
                  <a:cs typeface="Arial" panose="020B0604020202020204" pitchFamily="34" charset="0"/>
                </a:endParaRPr>
              </a:p>
            </p:txBody>
          </p:sp>
        </mc:Choice>
        <mc:Fallback xmlns="">
          <p:sp>
            <p:nvSpPr>
              <p:cNvPr id="2" name="CuadroTexto 1">
                <a:extLst>
                  <a:ext uri="{FF2B5EF4-FFF2-40B4-BE49-F238E27FC236}">
                    <a16:creationId xmlns:a16="http://schemas.microsoft.com/office/drawing/2014/main" id="{CA5F0FDF-2A95-453B-4ECA-AEB637FF2694}"/>
                  </a:ext>
                </a:extLst>
              </p:cNvPr>
              <p:cNvSpPr txBox="1">
                <a:spLocks noRot="1" noChangeAspect="1" noMove="1" noResize="1" noEditPoints="1" noAdjustHandles="1" noChangeArrowheads="1" noChangeShapeType="1" noTextEdit="1"/>
              </p:cNvSpPr>
              <p:nvPr/>
            </p:nvSpPr>
            <p:spPr>
              <a:xfrm>
                <a:off x="609441" y="4860334"/>
                <a:ext cx="11199971" cy="1015663"/>
              </a:xfrm>
              <a:prstGeom prst="rect">
                <a:avLst/>
              </a:prstGeom>
              <a:blipFill>
                <a:blip r:embed="rId4"/>
                <a:stretch>
                  <a:fillRect/>
                </a:stretch>
              </a:blipFill>
              <a:ln w="28575">
                <a:solidFill>
                  <a:srgbClr val="E0700D"/>
                </a:solidFill>
              </a:ln>
            </p:spPr>
            <p:txBody>
              <a:bodyPr/>
              <a:lstStyle/>
              <a:p>
                <a:r>
                  <a:rPr lang="es-ES">
                    <a:noFill/>
                  </a:rPr>
                  <a:t> </a:t>
                </a:r>
              </a:p>
            </p:txBody>
          </p:sp>
        </mc:Fallback>
      </mc:AlternateContent>
      <p:sp>
        <p:nvSpPr>
          <p:cNvPr id="7" name="Rectángulo 6">
            <a:extLst>
              <a:ext uri="{FF2B5EF4-FFF2-40B4-BE49-F238E27FC236}">
                <a16:creationId xmlns:a16="http://schemas.microsoft.com/office/drawing/2014/main" id="{21F754A5-65BC-14A3-5F55-75716FFA9027}"/>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CD9C65D4-5494-F5CE-1094-CB0A32C33876}"/>
              </a:ext>
            </a:extLst>
          </p:cNvPr>
          <p:cNvSpPr txBox="1"/>
          <p:nvPr/>
        </p:nvSpPr>
        <p:spPr>
          <a:xfrm>
            <a:off x="-199073" y="3071387"/>
            <a:ext cx="4546634" cy="923330"/>
          </a:xfrm>
          <a:prstGeom prst="rect">
            <a:avLst/>
          </a:prstGeom>
          <a:noFill/>
        </p:spPr>
        <p:txBody>
          <a:bodyPr wrap="square" rtlCol="0">
            <a:spAutoFit/>
          </a:bodyPr>
          <a:lstStyle/>
          <a:p>
            <a:pPr algn="ctr"/>
            <a:r>
              <a:rPr lang="en-US" b="1"/>
              <a:t>deep</a:t>
            </a:r>
            <a:r>
              <a:rPr lang="en-US"/>
              <a:t> waveguide</a:t>
            </a:r>
          </a:p>
          <a:p>
            <a:pPr algn="ctr"/>
            <a:endParaRPr lang="en-US"/>
          </a:p>
          <a:p>
            <a:pPr algn="ctr"/>
            <a:r>
              <a:rPr lang="en-US"/>
              <a:t>Paste L/</a:t>
            </a:r>
            <a:r>
              <a:rPr lang="en-US" err="1"/>
              <a:t>Lpi</a:t>
            </a:r>
            <a:r>
              <a:rPr lang="en-US"/>
              <a:t> vs K plot here</a:t>
            </a:r>
          </a:p>
        </p:txBody>
      </p:sp>
      <p:pic>
        <p:nvPicPr>
          <p:cNvPr id="6" name="Imagen 5" descr="Forma&#10;&#10;Descripción generada automáticamente con confianza media">
            <a:extLst>
              <a:ext uri="{FF2B5EF4-FFF2-40B4-BE49-F238E27FC236}">
                <a16:creationId xmlns:a16="http://schemas.microsoft.com/office/drawing/2014/main" id="{380A8455-6386-C7D5-7BB6-B79D8D91F0E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382588" y="1636431"/>
            <a:ext cx="3383313" cy="983682"/>
          </a:xfrm>
          <a:prstGeom prst="rect">
            <a:avLst/>
          </a:prstGeom>
        </p:spPr>
      </p:pic>
      <p:pic>
        <p:nvPicPr>
          <p:cNvPr id="10" name="Imagen 9">
            <a:extLst>
              <a:ext uri="{FF2B5EF4-FFF2-40B4-BE49-F238E27FC236}">
                <a16:creationId xmlns:a16="http://schemas.microsoft.com/office/drawing/2014/main" id="{D4A4E31D-7F0A-976F-ADDB-A4A62F434443}"/>
              </a:ext>
            </a:extLst>
          </p:cNvPr>
          <p:cNvPicPr>
            <a:picLocks noChangeAspect="1"/>
          </p:cNvPicPr>
          <p:nvPr/>
        </p:nvPicPr>
        <p:blipFill>
          <a:blip r:embed="rId6"/>
          <a:stretch>
            <a:fillRect/>
          </a:stretch>
        </p:blipFill>
        <p:spPr>
          <a:xfrm>
            <a:off x="3429000" y="1567580"/>
            <a:ext cx="3747950" cy="3007614"/>
          </a:xfrm>
          <a:prstGeom prst="rect">
            <a:avLst/>
          </a:prstGeom>
        </p:spPr>
      </p:pic>
      <p:pic>
        <p:nvPicPr>
          <p:cNvPr id="12" name="Imagen 11">
            <a:extLst>
              <a:ext uri="{FF2B5EF4-FFF2-40B4-BE49-F238E27FC236}">
                <a16:creationId xmlns:a16="http://schemas.microsoft.com/office/drawing/2014/main" id="{D179B2B9-FD15-53CB-159F-D3826985150E}"/>
              </a:ext>
            </a:extLst>
          </p:cNvPr>
          <p:cNvPicPr>
            <a:picLocks noChangeAspect="1"/>
          </p:cNvPicPr>
          <p:nvPr/>
        </p:nvPicPr>
        <p:blipFill>
          <a:blip r:embed="rId7"/>
          <a:stretch>
            <a:fillRect/>
          </a:stretch>
        </p:blipFill>
        <p:spPr>
          <a:xfrm>
            <a:off x="7392301" y="1450086"/>
            <a:ext cx="3885299" cy="3117833"/>
          </a:xfrm>
          <a:prstGeom prst="rect">
            <a:avLst/>
          </a:prstGeom>
        </p:spPr>
      </p:pic>
    </p:spTree>
    <p:extLst>
      <p:ext uri="{BB962C8B-B14F-4D97-AF65-F5344CB8AC3E}">
        <p14:creationId xmlns:p14="http://schemas.microsoft.com/office/powerpoint/2010/main" val="366362407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a:t>Learning outcome #3 – 2x2 Directional Coupler</a:t>
            </a:r>
            <a:br>
              <a:rPr lang="en-US" sz="2500" spc="-5">
                <a:latin typeface="+mj-lt"/>
                <a:cs typeface="Lucida Sans"/>
              </a:rPr>
            </a:br>
            <a:r>
              <a:rPr lang="en-US" b="0"/>
              <a:t>Wavelength 1.55 µm – Sweep gaps between 0.2 and 1.2 µm in steps of 0.2 µm</a:t>
            </a:r>
            <a:endParaRPr lang="en-US" sz="2500" b="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7</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82A62DD6-5488-72A1-9926-0CAEE59089A9}"/>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(Coupling relationship, </a:t>
                </a:r>
                <a:r>
                  <a:rPr lang="en-US" sz="1200" dirty="0" err="1">
                    <a:latin typeface="Arial" panose="020B0604020202020204" pitchFamily="34" charset="0"/>
                    <a:cs typeface="Arial" panose="020B0604020202020204" pitchFamily="34" charset="0"/>
                  </a:rPr>
                  <a:t>Lpi</a:t>
                </a:r>
                <a:r>
                  <a:rPr lang="en-US" sz="1200" dirty="0">
                    <a:latin typeface="Arial" panose="020B0604020202020204" pitchFamily="34" charset="0"/>
                    <a:cs typeface="Arial" panose="020B0604020202020204" pitchFamily="34" charset="0"/>
                  </a:rPr>
                  <a:t>, losses, … )</a:t>
                </a:r>
              </a:p>
              <a:p>
                <a:pPr algn="just"/>
                <a:endParaRPr lang="en-US" sz="1200"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L</a:t>
                </a:r>
                <a14:m>
                  <m:oMath xmlns:m="http://schemas.openxmlformats.org/officeDocument/2006/math">
                    <m:r>
                      <a:rPr lang="en-US" sz="1200" i="1">
                        <a:latin typeface="Cambria Math" panose="02040503050406030204" pitchFamily="18" charset="0"/>
                        <a:ea typeface="Cambria Math" panose="02040503050406030204" pitchFamily="18" charset="0"/>
                        <a:cs typeface="Arial" panose="020B0604020202020204" pitchFamily="34" charset="0"/>
                      </a:rPr>
                      <m:t>𝜋</m:t>
                    </m:r>
                  </m:oMath>
                </a14:m>
                <a:r>
                  <a:rPr lang="es-ES" sz="1200" dirty="0">
                    <a:latin typeface="Arial" panose="020B0604020202020204" pitchFamily="34" charset="0"/>
                    <a:cs typeface="Arial" panose="020B0604020202020204" pitchFamily="34" charset="0"/>
                  </a:rPr>
                  <a:t> aumenta al aumentar el gap. Esto se debe a que cuando las guías están más separadas, el acoplamiento entre los campos es mas débil. Como consecuencia, se necesita una longitud mayor para transferir completamente la potencia de una guía a la otra.</a:t>
                </a:r>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mc:Choice>
        <mc:Fallback xmlns="">
          <p:sp>
            <p:nvSpPr>
              <p:cNvPr id="2" name="CuadroTexto 1">
                <a:extLst>
                  <a:ext uri="{FF2B5EF4-FFF2-40B4-BE49-F238E27FC236}">
                    <a16:creationId xmlns:a16="http://schemas.microsoft.com/office/drawing/2014/main" id="{82A62DD6-5488-72A1-9926-0CAEE59089A9}"/>
                  </a:ext>
                </a:extLst>
              </p:cNvPr>
              <p:cNvSpPr txBox="1">
                <a:spLocks noRot="1" noChangeAspect="1" noMove="1" noResize="1" noEditPoints="1" noAdjustHandles="1" noChangeArrowheads="1" noChangeShapeType="1" noTextEdit="1"/>
              </p:cNvSpPr>
              <p:nvPr/>
            </p:nvSpPr>
            <p:spPr>
              <a:xfrm>
                <a:off x="609441" y="4860334"/>
                <a:ext cx="11199971" cy="1200329"/>
              </a:xfrm>
              <a:prstGeom prst="rect">
                <a:avLst/>
              </a:prstGeom>
              <a:blipFill>
                <a:blip r:embed="rId4"/>
                <a:stretch>
                  <a:fillRect/>
                </a:stretch>
              </a:blipFill>
              <a:ln w="28575">
                <a:solidFill>
                  <a:srgbClr val="E0700D"/>
                </a:solidFill>
              </a:ln>
            </p:spPr>
            <p:txBody>
              <a:bodyPr/>
              <a:lstStyle/>
              <a:p>
                <a:r>
                  <a:rPr lang="es-ES">
                    <a:noFill/>
                  </a:rPr>
                  <a:t> </a:t>
                </a:r>
              </a:p>
            </p:txBody>
          </p:sp>
        </mc:Fallback>
      </mc:AlternateContent>
      <p:sp>
        <p:nvSpPr>
          <p:cNvPr id="7" name="Rectángulo 6">
            <a:extLst>
              <a:ext uri="{FF2B5EF4-FFF2-40B4-BE49-F238E27FC236}">
                <a16:creationId xmlns:a16="http://schemas.microsoft.com/office/drawing/2014/main" id="{FBC7D187-267A-ADD4-764C-D3820B8ED302}"/>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magen 4">
            <a:extLst>
              <a:ext uri="{FF2B5EF4-FFF2-40B4-BE49-F238E27FC236}">
                <a16:creationId xmlns:a16="http://schemas.microsoft.com/office/drawing/2014/main" id="{1102B3F6-AC6A-87F6-F56C-076C90F250BA}"/>
              </a:ext>
            </a:extLst>
          </p:cNvPr>
          <p:cNvPicPr>
            <a:picLocks noChangeAspect="1"/>
          </p:cNvPicPr>
          <p:nvPr/>
        </p:nvPicPr>
        <p:blipFill>
          <a:blip r:embed="rId5"/>
          <a:stretch>
            <a:fillRect/>
          </a:stretch>
        </p:blipFill>
        <p:spPr>
          <a:xfrm>
            <a:off x="872300" y="1541485"/>
            <a:ext cx="3095872" cy="1265746"/>
          </a:xfrm>
          <a:prstGeom prst="rect">
            <a:avLst/>
          </a:prstGeom>
        </p:spPr>
      </p:pic>
      <p:pic>
        <p:nvPicPr>
          <p:cNvPr id="9" name="Imagen 8">
            <a:extLst>
              <a:ext uri="{FF2B5EF4-FFF2-40B4-BE49-F238E27FC236}">
                <a16:creationId xmlns:a16="http://schemas.microsoft.com/office/drawing/2014/main" id="{500209F5-D4DB-8548-9F69-EE6A78002FB0}"/>
              </a:ext>
            </a:extLst>
          </p:cNvPr>
          <p:cNvPicPr>
            <a:picLocks noChangeAspect="1"/>
          </p:cNvPicPr>
          <p:nvPr/>
        </p:nvPicPr>
        <p:blipFill>
          <a:blip r:embed="rId6"/>
          <a:stretch>
            <a:fillRect/>
          </a:stretch>
        </p:blipFill>
        <p:spPr>
          <a:xfrm>
            <a:off x="685800" y="2579698"/>
            <a:ext cx="3358731" cy="1063404"/>
          </a:xfrm>
          <a:prstGeom prst="rect">
            <a:avLst/>
          </a:prstGeom>
        </p:spPr>
      </p:pic>
      <p:pic>
        <p:nvPicPr>
          <p:cNvPr id="11" name="Imagen 10">
            <a:extLst>
              <a:ext uri="{FF2B5EF4-FFF2-40B4-BE49-F238E27FC236}">
                <a16:creationId xmlns:a16="http://schemas.microsoft.com/office/drawing/2014/main" id="{37B98634-0A5C-B1C6-3EF1-F5DF0487BD86}"/>
              </a:ext>
            </a:extLst>
          </p:cNvPr>
          <p:cNvPicPr>
            <a:picLocks noChangeAspect="1"/>
          </p:cNvPicPr>
          <p:nvPr/>
        </p:nvPicPr>
        <p:blipFill>
          <a:blip r:embed="rId7"/>
          <a:stretch>
            <a:fillRect/>
          </a:stretch>
        </p:blipFill>
        <p:spPr>
          <a:xfrm>
            <a:off x="657567" y="3594608"/>
            <a:ext cx="3898773" cy="991556"/>
          </a:xfrm>
          <a:prstGeom prst="rect">
            <a:avLst/>
          </a:prstGeom>
        </p:spPr>
      </p:pic>
      <p:pic>
        <p:nvPicPr>
          <p:cNvPr id="13" name="Imagen 12">
            <a:extLst>
              <a:ext uri="{FF2B5EF4-FFF2-40B4-BE49-F238E27FC236}">
                <a16:creationId xmlns:a16="http://schemas.microsoft.com/office/drawing/2014/main" id="{12BB6A12-E328-BF89-1DC9-53008FA9D2CC}"/>
              </a:ext>
            </a:extLst>
          </p:cNvPr>
          <p:cNvPicPr>
            <a:picLocks noChangeAspect="1"/>
          </p:cNvPicPr>
          <p:nvPr/>
        </p:nvPicPr>
        <p:blipFill>
          <a:blip r:embed="rId8"/>
          <a:stretch>
            <a:fillRect/>
          </a:stretch>
        </p:blipFill>
        <p:spPr>
          <a:xfrm>
            <a:off x="4231031" y="1683567"/>
            <a:ext cx="3898773" cy="822924"/>
          </a:xfrm>
          <a:prstGeom prst="rect">
            <a:avLst/>
          </a:prstGeom>
        </p:spPr>
      </p:pic>
      <p:pic>
        <p:nvPicPr>
          <p:cNvPr id="15" name="Imagen 14">
            <a:extLst>
              <a:ext uri="{FF2B5EF4-FFF2-40B4-BE49-F238E27FC236}">
                <a16:creationId xmlns:a16="http://schemas.microsoft.com/office/drawing/2014/main" id="{37F46EFE-AA52-FFE0-A646-3B9A947CB89D}"/>
              </a:ext>
            </a:extLst>
          </p:cNvPr>
          <p:cNvPicPr>
            <a:picLocks noChangeAspect="1"/>
          </p:cNvPicPr>
          <p:nvPr/>
        </p:nvPicPr>
        <p:blipFill>
          <a:blip r:embed="rId9"/>
          <a:stretch>
            <a:fillRect/>
          </a:stretch>
        </p:blipFill>
        <p:spPr>
          <a:xfrm>
            <a:off x="4460782" y="2579507"/>
            <a:ext cx="3742950" cy="692899"/>
          </a:xfrm>
          <a:prstGeom prst="rect">
            <a:avLst/>
          </a:prstGeom>
        </p:spPr>
      </p:pic>
      <p:pic>
        <p:nvPicPr>
          <p:cNvPr id="18" name="Imagen 17">
            <a:extLst>
              <a:ext uri="{FF2B5EF4-FFF2-40B4-BE49-F238E27FC236}">
                <a16:creationId xmlns:a16="http://schemas.microsoft.com/office/drawing/2014/main" id="{1ABB4861-B0E4-7832-C6A3-BB93CBC48E53}"/>
              </a:ext>
            </a:extLst>
          </p:cNvPr>
          <p:cNvPicPr>
            <a:picLocks noChangeAspect="1"/>
          </p:cNvPicPr>
          <p:nvPr/>
        </p:nvPicPr>
        <p:blipFill>
          <a:blip r:embed="rId10"/>
          <a:stretch>
            <a:fillRect/>
          </a:stretch>
        </p:blipFill>
        <p:spPr>
          <a:xfrm>
            <a:off x="4797959" y="3643102"/>
            <a:ext cx="3331845" cy="564915"/>
          </a:xfrm>
          <a:prstGeom prst="rect">
            <a:avLst/>
          </a:prstGeom>
        </p:spPr>
      </p:pic>
      <p:pic>
        <p:nvPicPr>
          <p:cNvPr id="20" name="Imagen 19">
            <a:extLst>
              <a:ext uri="{FF2B5EF4-FFF2-40B4-BE49-F238E27FC236}">
                <a16:creationId xmlns:a16="http://schemas.microsoft.com/office/drawing/2014/main" id="{9817408F-E8F4-1712-4477-3F151C7DC6FC}"/>
              </a:ext>
            </a:extLst>
          </p:cNvPr>
          <p:cNvPicPr>
            <a:picLocks noChangeAspect="1"/>
          </p:cNvPicPr>
          <p:nvPr/>
        </p:nvPicPr>
        <p:blipFill>
          <a:blip r:embed="rId11"/>
          <a:stretch>
            <a:fillRect/>
          </a:stretch>
        </p:blipFill>
        <p:spPr>
          <a:xfrm>
            <a:off x="8325239" y="2536619"/>
            <a:ext cx="3512406" cy="1985273"/>
          </a:xfrm>
          <a:prstGeom prst="rect">
            <a:avLst/>
          </a:prstGeom>
        </p:spPr>
      </p:pic>
      <p:pic>
        <p:nvPicPr>
          <p:cNvPr id="22" name="Imagen 21">
            <a:extLst>
              <a:ext uri="{FF2B5EF4-FFF2-40B4-BE49-F238E27FC236}">
                <a16:creationId xmlns:a16="http://schemas.microsoft.com/office/drawing/2014/main" id="{3F8FC60F-4029-60D0-9E81-AAE90079CF0A}"/>
              </a:ext>
            </a:extLst>
          </p:cNvPr>
          <p:cNvPicPr>
            <a:picLocks noChangeAspect="1"/>
          </p:cNvPicPr>
          <p:nvPr/>
        </p:nvPicPr>
        <p:blipFill>
          <a:blip r:embed="rId12"/>
          <a:stretch>
            <a:fillRect/>
          </a:stretch>
        </p:blipFill>
        <p:spPr>
          <a:xfrm>
            <a:off x="9343423" y="568291"/>
            <a:ext cx="1976277" cy="1696945"/>
          </a:xfrm>
          <a:prstGeom prst="rect">
            <a:avLst/>
          </a:prstGeom>
        </p:spPr>
      </p:pic>
    </p:spTree>
    <p:extLst>
      <p:ext uri="{BB962C8B-B14F-4D97-AF65-F5344CB8AC3E}">
        <p14:creationId xmlns:p14="http://schemas.microsoft.com/office/powerpoint/2010/main" val="15583268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a:t>Learning outcome #4 – Parallel uncoupled waveguides – TE0 mode</a:t>
            </a:r>
            <a:br>
              <a:rPr lang="en-US" sz="2500" spc="-5">
                <a:latin typeface="+mj-lt"/>
                <a:cs typeface="Lucida Sans"/>
              </a:rPr>
            </a:br>
            <a:r>
              <a:rPr lang="en-US" b="0"/>
              <a:t>Wavelength 1.55 µm, width 1.0 µm, gap to be found for uncoupled </a:t>
            </a:r>
            <a:r>
              <a:rPr lang="en-US" b="0" err="1"/>
              <a:t>wvgs</a:t>
            </a:r>
            <a:endParaRPr lang="en-US" sz="2500" b="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8</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2.0. COUPLERS</a:t>
            </a:r>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CA5F0FDF-2A95-453B-4ECA-AEB637FF2694}"/>
                  </a:ext>
                </a:extLst>
              </p:cNvPr>
              <p:cNvSpPr txBox="1"/>
              <p:nvPr/>
            </p:nvSpPr>
            <p:spPr>
              <a:xfrm>
                <a:off x="609441" y="4455746"/>
                <a:ext cx="11199971" cy="1754326"/>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Hints:</a:t>
                </a:r>
              </a:p>
              <a:p>
                <a:pPr algn="just"/>
                <a:r>
                  <a:rPr lang="en-US" sz="1200" dirty="0">
                    <a:latin typeface="Arial" panose="020B0604020202020204" pitchFamily="34" charset="0"/>
                    <a:cs typeface="Arial" panose="020B0604020202020204" pitchFamily="34" charset="0"/>
                  </a:rPr>
                  <a:t>All waveguides running in parallel are coupled somehow. Controlling the degree of coupling is key for those waveguides you don’t want coupling over certain level (i.e. uncoupled waveguides). Uncoupled waveguide definition, we will use K&lt;0.01. Parallel waveguide length = 10 mm (typical length of a chip). Find minimum gap shallow / deep w=1.0µm </a:t>
                </a:r>
                <a:r>
                  <a:rPr lang="en-US" sz="1200" dirty="0" err="1">
                    <a:latin typeface="Arial" panose="020B0604020202020204" pitchFamily="34" charset="0"/>
                    <a:cs typeface="Arial" panose="020B0604020202020204" pitchFamily="34" charset="0"/>
                  </a:rPr>
                  <a:t>wvl</a:t>
                </a:r>
                <a:r>
                  <a:rPr lang="en-US" sz="1200" dirty="0">
                    <a:latin typeface="Arial" panose="020B0604020202020204" pitchFamily="34" charset="0"/>
                    <a:cs typeface="Arial" panose="020B0604020202020204" pitchFamily="34" charset="0"/>
                  </a:rPr>
                  <a:t> 1.55 µm.</a:t>
                </a:r>
              </a:p>
              <a:p>
                <a:pPr algn="just"/>
                <a:endParaRPr lang="en-US" sz="1200"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El acoplamiento K disminuye al aumentar el gap, ya que se reduce el solapamiento entre los campos de ambas guías. Siguiendo el criterio de que cuando K&lt;0.01 las guías pueden considerarse desacopladas: en el caso </a:t>
                </a:r>
                <a:r>
                  <a:rPr lang="es-ES" sz="1200" dirty="0" err="1">
                    <a:latin typeface="Arial" panose="020B0604020202020204" pitchFamily="34" charset="0"/>
                    <a:cs typeface="Arial" panose="020B0604020202020204" pitchFamily="34" charset="0"/>
                  </a:rPr>
                  <a:t>deep</a:t>
                </a:r>
                <a:r>
                  <a:rPr lang="es-ES" sz="1200" dirty="0">
                    <a:latin typeface="Arial" panose="020B0604020202020204" pitchFamily="34" charset="0"/>
                    <a:cs typeface="Arial" panose="020B0604020202020204" pitchFamily="34" charset="0"/>
                  </a:rPr>
                  <a:t>, esto ocurre aproximadamente para gap≥3.15 </a:t>
                </a:r>
                <a:r>
                  <a:rPr lang="es-ES" sz="1200" dirty="0" err="1">
                    <a:latin typeface="Arial" panose="020B0604020202020204" pitchFamily="34" charset="0"/>
                    <a:cs typeface="Arial" panose="020B0604020202020204" pitchFamily="34" charset="0"/>
                  </a:rPr>
                  <a:t>μm</a:t>
                </a:r>
                <a:r>
                  <a:rPr lang="es-ES" sz="1200" dirty="0">
                    <a:latin typeface="Arial" panose="020B0604020202020204" pitchFamily="34" charset="0"/>
                    <a:cs typeface="Arial" panose="020B0604020202020204" pitchFamily="34" charset="0"/>
                  </a:rPr>
                  <a:t>, mientras que en el caso </a:t>
                </a:r>
                <a:r>
                  <a:rPr lang="es-ES" sz="1200" dirty="0" err="1">
                    <a:latin typeface="Arial" panose="020B0604020202020204" pitchFamily="34" charset="0"/>
                    <a:cs typeface="Arial" panose="020B0604020202020204" pitchFamily="34" charset="0"/>
                  </a:rPr>
                  <a:t>shallow</a:t>
                </a:r>
                <a:r>
                  <a:rPr lang="es-ES" sz="1200" dirty="0">
                    <a:latin typeface="Arial" panose="020B0604020202020204" pitchFamily="34" charset="0"/>
                    <a:cs typeface="Arial" panose="020B0604020202020204" pitchFamily="34" charset="0"/>
                  </a:rPr>
                  <a:t> se necesitan gaps mayores, alrededor de gap≥4.35μm. Esto se debe a que en la guía </a:t>
                </a:r>
                <a:r>
                  <a:rPr lang="es-ES" sz="1200" dirty="0" err="1">
                    <a:latin typeface="Arial" panose="020B0604020202020204" pitchFamily="34" charset="0"/>
                    <a:cs typeface="Arial" panose="020B0604020202020204" pitchFamily="34" charset="0"/>
                  </a:rPr>
                  <a:t>shallow</a:t>
                </a:r>
                <a:r>
                  <a:rPr lang="es-ES" sz="1200" dirty="0">
                    <a:latin typeface="Arial" panose="020B0604020202020204" pitchFamily="34" charset="0"/>
                    <a:cs typeface="Arial" panose="020B0604020202020204" pitchFamily="34" charset="0"/>
                  </a:rPr>
                  <a:t> el modo está menos confinado y se extiende más hacia el </a:t>
                </a:r>
                <a:r>
                  <a:rPr lang="es-ES" sz="1200" dirty="0" err="1">
                    <a:latin typeface="Arial" panose="020B0604020202020204" pitchFamily="34" charset="0"/>
                    <a:cs typeface="Arial" panose="020B0604020202020204" pitchFamily="34" charset="0"/>
                  </a:rPr>
                  <a:t>cladding</a:t>
                </a:r>
                <a:r>
                  <a:rPr lang="es-ES" sz="1200" dirty="0">
                    <a:latin typeface="Arial" panose="020B0604020202020204" pitchFamily="34" charset="0"/>
                    <a:cs typeface="Arial" panose="020B0604020202020204" pitchFamily="34" charset="0"/>
                  </a:rPr>
                  <a:t>. Los picos que aparecen para valores bajos de K o L</a:t>
                </a:r>
                <a14:m>
                  <m:oMath xmlns:m="http://schemas.openxmlformats.org/officeDocument/2006/math">
                    <m:r>
                      <a:rPr lang="en-US" sz="1200" i="1">
                        <a:latin typeface="Cambria Math" panose="02040503050406030204" pitchFamily="18" charset="0"/>
                        <a:ea typeface="Cambria Math" panose="02040503050406030204" pitchFamily="18" charset="0"/>
                        <a:cs typeface="Arial" panose="020B0604020202020204" pitchFamily="34" charset="0"/>
                      </a:rPr>
                      <m:t>𝜋</m:t>
                    </m:r>
                  </m:oMath>
                </a14:m>
                <a:r>
                  <a:rPr lang="es-ES" sz="1200" dirty="0">
                    <a:latin typeface="Arial" panose="020B0604020202020204" pitchFamily="34" charset="0"/>
                    <a:cs typeface="Arial" panose="020B0604020202020204" pitchFamily="34" charset="0"/>
                  </a:rPr>
                  <a:t> ​se deben a inestabilidades numéricas del </a:t>
                </a:r>
                <a:r>
                  <a:rPr lang="es-ES" sz="1200" dirty="0" err="1">
                    <a:latin typeface="Arial" panose="020B0604020202020204" pitchFamily="34" charset="0"/>
                    <a:cs typeface="Arial" panose="020B0604020202020204" pitchFamily="34" charset="0"/>
                  </a:rPr>
                  <a:t>solver</a:t>
                </a:r>
                <a:r>
                  <a:rPr lang="es-ES" sz="1200" dirty="0">
                    <a:latin typeface="Arial" panose="020B0604020202020204" pitchFamily="34" charset="0"/>
                    <a:cs typeface="Arial" panose="020B0604020202020204" pitchFamily="34" charset="0"/>
                  </a:rPr>
                  <a:t>.</a:t>
                </a:r>
                <a:endParaRPr lang="en-US" sz="1200" dirty="0">
                  <a:latin typeface="Arial" panose="020B0604020202020204" pitchFamily="34" charset="0"/>
                  <a:cs typeface="Arial" panose="020B0604020202020204" pitchFamily="34" charset="0"/>
                </a:endParaRPr>
              </a:p>
            </p:txBody>
          </p:sp>
        </mc:Choice>
        <mc:Fallback xmlns="">
          <p:sp>
            <p:nvSpPr>
              <p:cNvPr id="2" name="CuadroTexto 1">
                <a:extLst>
                  <a:ext uri="{FF2B5EF4-FFF2-40B4-BE49-F238E27FC236}">
                    <a16:creationId xmlns:a16="http://schemas.microsoft.com/office/drawing/2014/main" id="{CA5F0FDF-2A95-453B-4ECA-AEB637FF2694}"/>
                  </a:ext>
                </a:extLst>
              </p:cNvPr>
              <p:cNvSpPr txBox="1">
                <a:spLocks noRot="1" noChangeAspect="1" noMove="1" noResize="1" noEditPoints="1" noAdjustHandles="1" noChangeArrowheads="1" noChangeShapeType="1" noTextEdit="1"/>
              </p:cNvSpPr>
              <p:nvPr/>
            </p:nvSpPr>
            <p:spPr>
              <a:xfrm>
                <a:off x="609441" y="4455746"/>
                <a:ext cx="11199971" cy="1754326"/>
              </a:xfrm>
              <a:prstGeom prst="rect">
                <a:avLst/>
              </a:prstGeom>
              <a:blipFill>
                <a:blip r:embed="rId4"/>
                <a:stretch>
                  <a:fillRect b="-341"/>
                </a:stretch>
              </a:blipFill>
              <a:ln w="28575">
                <a:solidFill>
                  <a:srgbClr val="E0700D"/>
                </a:solidFill>
              </a:ln>
            </p:spPr>
            <p:txBody>
              <a:bodyPr/>
              <a:lstStyle/>
              <a:p>
                <a:r>
                  <a:rPr lang="es-ES">
                    <a:noFill/>
                  </a:rPr>
                  <a:t> </a:t>
                </a:r>
              </a:p>
            </p:txBody>
          </p:sp>
        </mc:Fallback>
      </mc:AlternateContent>
      <p:sp>
        <p:nvSpPr>
          <p:cNvPr id="4" name="Rectángulo 3">
            <a:extLst>
              <a:ext uri="{FF2B5EF4-FFF2-40B4-BE49-F238E27FC236}">
                <a16:creationId xmlns:a16="http://schemas.microsoft.com/office/drawing/2014/main" id="{FB4B77A0-B37C-3130-FB52-4E560C66946F}"/>
              </a:ext>
            </a:extLst>
          </p:cNvPr>
          <p:cNvSpPr/>
          <p:nvPr/>
        </p:nvSpPr>
        <p:spPr>
          <a:xfrm>
            <a:off x="609441" y="1219200"/>
            <a:ext cx="5486559" cy="306867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DA7ECAA3-0876-C0FB-D7E5-448FCC5ED226}"/>
              </a:ext>
            </a:extLst>
          </p:cNvPr>
          <p:cNvSpPr/>
          <p:nvPr/>
        </p:nvSpPr>
        <p:spPr>
          <a:xfrm>
            <a:off x="6321424" y="1219200"/>
            <a:ext cx="5486559" cy="306867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C1467207-8D05-D4C6-EBD2-209F796AE977}"/>
                  </a:ext>
                </a:extLst>
              </p:cNvPr>
              <p:cNvSpPr txBox="1"/>
              <p:nvPr/>
            </p:nvSpPr>
            <p:spPr>
              <a:xfrm>
                <a:off x="1079403" y="2480496"/>
                <a:ext cx="4546634" cy="1477328"/>
              </a:xfrm>
              <a:prstGeom prst="rect">
                <a:avLst/>
              </a:prstGeom>
              <a:noFill/>
            </p:spPr>
            <p:txBody>
              <a:bodyPr wrap="square" rtlCol="0">
                <a:spAutoFit/>
              </a:bodyPr>
              <a:lstStyle/>
              <a:p>
                <a:pPr algn="ctr"/>
                <a:r>
                  <a:rPr lang="en-US" b="1"/>
                  <a:t>deep</a:t>
                </a:r>
                <a:r>
                  <a:rPr lang="en-US"/>
                  <a:t> waveguide</a:t>
                </a:r>
              </a:p>
              <a:p>
                <a:pPr algn="ctr"/>
                <a:endParaRPr lang="en-US"/>
              </a:p>
              <a:p>
                <a:pPr algn="ctr"/>
                <a:r>
                  <a:rPr lang="en-US"/>
                  <a:t>Paste </a:t>
                </a:r>
                <a14:m>
                  <m:oMath xmlns:m="http://schemas.openxmlformats.org/officeDocument/2006/math">
                    <m:r>
                      <a:rPr lang="es-ES" b="0" i="1" smtClean="0">
                        <a:latin typeface="Cambria Math" panose="02040503050406030204" pitchFamily="18" charset="0"/>
                      </a:rPr>
                      <m:t>𝐾</m:t>
                    </m:r>
                  </m:oMath>
                </a14:m>
                <a:r>
                  <a:rPr lang="en-US"/>
                  <a:t> vs gap for 10 mm </a:t>
                </a:r>
                <a:r>
                  <a:rPr lang="en-US" err="1"/>
                  <a:t>wvgs</a:t>
                </a:r>
                <a:r>
                  <a:rPr lang="en-US"/>
                  <a:t> to be uncoupled</a:t>
                </a:r>
              </a:p>
              <a:p>
                <a:pPr algn="ctr"/>
                <a:endParaRPr lang="en-US"/>
              </a:p>
            </p:txBody>
          </p:sp>
        </mc:Choice>
        <mc:Fallback xmlns="">
          <p:sp>
            <p:nvSpPr>
              <p:cNvPr id="9" name="CuadroTexto 8">
                <a:extLst>
                  <a:ext uri="{FF2B5EF4-FFF2-40B4-BE49-F238E27FC236}">
                    <a16:creationId xmlns:a16="http://schemas.microsoft.com/office/drawing/2014/main" id="{C1467207-8D05-D4C6-EBD2-209F796AE977}"/>
                  </a:ext>
                </a:extLst>
              </p:cNvPr>
              <p:cNvSpPr txBox="1">
                <a:spLocks noRot="1" noChangeAspect="1" noMove="1" noResize="1" noEditPoints="1" noAdjustHandles="1" noChangeArrowheads="1" noChangeShapeType="1" noTextEdit="1"/>
              </p:cNvSpPr>
              <p:nvPr/>
            </p:nvSpPr>
            <p:spPr>
              <a:xfrm>
                <a:off x="1079403" y="2480496"/>
                <a:ext cx="4546634" cy="1477328"/>
              </a:xfrm>
              <a:prstGeom prst="rect">
                <a:avLst/>
              </a:prstGeom>
              <a:blipFill>
                <a:blip r:embed="rId5"/>
                <a:stretch>
                  <a:fillRect t="-247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32E39C0C-95E1-ED90-891A-5D634D9DB76B}"/>
                  </a:ext>
                </a:extLst>
              </p:cNvPr>
              <p:cNvSpPr txBox="1"/>
              <p:nvPr/>
            </p:nvSpPr>
            <p:spPr>
              <a:xfrm>
                <a:off x="6883366" y="2480496"/>
                <a:ext cx="4546634" cy="1477328"/>
              </a:xfrm>
              <a:prstGeom prst="rect">
                <a:avLst/>
              </a:prstGeom>
              <a:noFill/>
            </p:spPr>
            <p:txBody>
              <a:bodyPr wrap="square" rtlCol="0">
                <a:spAutoFit/>
              </a:bodyPr>
              <a:lstStyle/>
              <a:p>
                <a:pPr algn="ctr"/>
                <a:r>
                  <a:rPr lang="en-US" b="1"/>
                  <a:t>shallow</a:t>
                </a:r>
                <a:r>
                  <a:rPr lang="en-US"/>
                  <a:t> waveguide</a:t>
                </a:r>
              </a:p>
              <a:p>
                <a:pPr algn="ctr"/>
                <a:r>
                  <a:rPr lang="en-US" err="1"/>
                  <a:t>slab_thickness</a:t>
                </a:r>
                <a:r>
                  <a:rPr lang="en-US"/>
                  <a:t> = 150 nm</a:t>
                </a:r>
              </a:p>
              <a:p>
                <a:pPr algn="ctr"/>
                <a:endParaRPr lang="en-US"/>
              </a:p>
              <a:p>
                <a:pPr algn="ctr"/>
                <a:r>
                  <a:rPr lang="en-US"/>
                  <a:t>Paste </a:t>
                </a:r>
                <a14:m>
                  <m:oMath xmlns:m="http://schemas.openxmlformats.org/officeDocument/2006/math">
                    <m:r>
                      <a:rPr lang="es-ES" i="1">
                        <a:latin typeface="Cambria Math" panose="02040503050406030204" pitchFamily="18" charset="0"/>
                      </a:rPr>
                      <m:t>𝐾</m:t>
                    </m:r>
                  </m:oMath>
                </a14:m>
                <a:r>
                  <a:rPr lang="en-US"/>
                  <a:t> vs gap for 10 mm </a:t>
                </a:r>
                <a:r>
                  <a:rPr lang="en-US" err="1"/>
                  <a:t>wvgs</a:t>
                </a:r>
                <a:r>
                  <a:rPr lang="en-US"/>
                  <a:t> to be uncoupled</a:t>
                </a:r>
              </a:p>
            </p:txBody>
          </p:sp>
        </mc:Choice>
        <mc:Fallback xmlns="">
          <p:sp>
            <p:nvSpPr>
              <p:cNvPr id="10" name="CuadroTexto 9">
                <a:extLst>
                  <a:ext uri="{FF2B5EF4-FFF2-40B4-BE49-F238E27FC236}">
                    <a16:creationId xmlns:a16="http://schemas.microsoft.com/office/drawing/2014/main" id="{32E39C0C-95E1-ED90-891A-5D634D9DB76B}"/>
                  </a:ext>
                </a:extLst>
              </p:cNvPr>
              <p:cNvSpPr txBox="1">
                <a:spLocks noRot="1" noChangeAspect="1" noMove="1" noResize="1" noEditPoints="1" noAdjustHandles="1" noChangeArrowheads="1" noChangeShapeType="1" noTextEdit="1"/>
              </p:cNvSpPr>
              <p:nvPr/>
            </p:nvSpPr>
            <p:spPr>
              <a:xfrm>
                <a:off x="6883366" y="2480496"/>
                <a:ext cx="4546634" cy="1477328"/>
              </a:xfrm>
              <a:prstGeom prst="rect">
                <a:avLst/>
              </a:prstGeom>
              <a:blipFill>
                <a:blip r:embed="rId6"/>
                <a:stretch>
                  <a:fillRect t="-2479" b="-5785"/>
                </a:stretch>
              </a:blipFill>
            </p:spPr>
            <p:txBody>
              <a:bodyPr/>
              <a:lstStyle/>
              <a:p>
                <a:r>
                  <a:rPr lang="en-US">
                    <a:noFill/>
                  </a:rPr>
                  <a:t> </a:t>
                </a:r>
              </a:p>
            </p:txBody>
          </p:sp>
        </mc:Fallback>
      </mc:AlternateContent>
      <p:pic>
        <p:nvPicPr>
          <p:cNvPr id="7" name="Imagen 6">
            <a:extLst>
              <a:ext uri="{FF2B5EF4-FFF2-40B4-BE49-F238E27FC236}">
                <a16:creationId xmlns:a16="http://schemas.microsoft.com/office/drawing/2014/main" id="{92BCB643-9E59-E3C4-A62F-AF7DA2D9682D}"/>
              </a:ext>
            </a:extLst>
          </p:cNvPr>
          <p:cNvPicPr>
            <a:picLocks noChangeAspect="1"/>
          </p:cNvPicPr>
          <p:nvPr/>
        </p:nvPicPr>
        <p:blipFill>
          <a:blip r:embed="rId7"/>
          <a:stretch>
            <a:fillRect/>
          </a:stretch>
        </p:blipFill>
        <p:spPr>
          <a:xfrm>
            <a:off x="957072" y="1472813"/>
            <a:ext cx="4510829" cy="2795774"/>
          </a:xfrm>
          <a:prstGeom prst="rect">
            <a:avLst/>
          </a:prstGeom>
        </p:spPr>
      </p:pic>
      <p:pic>
        <p:nvPicPr>
          <p:cNvPr id="11" name="Imagen 10">
            <a:extLst>
              <a:ext uri="{FF2B5EF4-FFF2-40B4-BE49-F238E27FC236}">
                <a16:creationId xmlns:a16="http://schemas.microsoft.com/office/drawing/2014/main" id="{340B8339-E11C-F172-EDE9-3D6A82965260}"/>
              </a:ext>
            </a:extLst>
          </p:cNvPr>
          <p:cNvPicPr>
            <a:picLocks noChangeAspect="1"/>
          </p:cNvPicPr>
          <p:nvPr/>
        </p:nvPicPr>
        <p:blipFill>
          <a:blip r:embed="rId8"/>
          <a:stretch>
            <a:fillRect/>
          </a:stretch>
        </p:blipFill>
        <p:spPr>
          <a:xfrm>
            <a:off x="7057659" y="1697854"/>
            <a:ext cx="4014087" cy="2487898"/>
          </a:xfrm>
          <a:prstGeom prst="rect">
            <a:avLst/>
          </a:prstGeom>
        </p:spPr>
      </p:pic>
    </p:spTree>
    <p:extLst>
      <p:ext uri="{BB962C8B-B14F-4D97-AF65-F5344CB8AC3E}">
        <p14:creationId xmlns:p14="http://schemas.microsoft.com/office/powerpoint/2010/main" val="371235600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3D4982-2E99-3EE0-CEBE-CEF54821C335}"/>
            </a:ext>
          </a:extLst>
        </p:cNvPr>
        <p:cNvGrpSpPr/>
        <p:nvPr/>
      </p:nvGrpSpPr>
      <p:grpSpPr>
        <a:xfrm>
          <a:off x="0" y="0"/>
          <a:ext cx="0" cy="0"/>
          <a:chOff x="0" y="0"/>
          <a:chExt cx="0" cy="0"/>
        </a:xfrm>
      </p:grpSpPr>
      <p:sp>
        <p:nvSpPr>
          <p:cNvPr id="4" name="Marcador de pie de página 3">
            <a:extLst>
              <a:ext uri="{FF2B5EF4-FFF2-40B4-BE49-F238E27FC236}">
                <a16:creationId xmlns:a16="http://schemas.microsoft.com/office/drawing/2014/main" id="{A60D29C4-F13C-8947-EF1D-2CBDDD14AC5C}"/>
              </a:ext>
            </a:extLst>
          </p:cNvPr>
          <p:cNvSpPr>
            <a:spLocks noGrp="1"/>
          </p:cNvSpPr>
          <p:nvPr>
            <p:ph type="ftr" sz="quarter" idx="5"/>
          </p:nvPr>
        </p:nvSpPr>
        <p:spPr/>
        <p:txBody>
          <a:bodyPr/>
          <a:lstStyle/>
          <a:p>
            <a:pPr marL="12700">
              <a:spcBef>
                <a:spcPts val="15"/>
              </a:spcBef>
            </a:pPr>
            <a:r>
              <a:rPr lang="es-ES" spc="-5"/>
              <a:t>LAB 2.0. COUPLERS</a:t>
            </a:r>
          </a:p>
        </p:txBody>
      </p:sp>
      <p:sp>
        <p:nvSpPr>
          <p:cNvPr id="5" name="Marcador de número de diapositiva 4">
            <a:extLst>
              <a:ext uri="{FF2B5EF4-FFF2-40B4-BE49-F238E27FC236}">
                <a16:creationId xmlns:a16="http://schemas.microsoft.com/office/drawing/2014/main" id="{28A4EFD1-1AF6-F17D-1B27-5115800F99B0}"/>
              </a:ext>
            </a:extLst>
          </p:cNvPr>
          <p:cNvSpPr>
            <a:spLocks noGrp="1"/>
          </p:cNvSpPr>
          <p:nvPr>
            <p:ph type="sldNum" sz="quarter" idx="7"/>
          </p:nvPr>
        </p:nvSpPr>
        <p:spPr/>
        <p:txBody>
          <a:bodyPr/>
          <a:lstStyle/>
          <a:p>
            <a:fld id="{B6F15528-21DE-4FAA-801E-634DDDAF4B2B}" type="slidenum">
              <a:rPr lang="es-ES" smtClean="0"/>
              <a:t>9</a:t>
            </a:fld>
            <a:endParaRPr lang="es-ES"/>
          </a:p>
        </p:txBody>
      </p:sp>
      <p:sp>
        <p:nvSpPr>
          <p:cNvPr id="6" name="Título 4">
            <a:extLst>
              <a:ext uri="{FF2B5EF4-FFF2-40B4-BE49-F238E27FC236}">
                <a16:creationId xmlns:a16="http://schemas.microsoft.com/office/drawing/2014/main" id="{8111062F-F9A0-241E-6CCB-6E8BE4D8C60A}"/>
              </a:ext>
            </a:extLst>
          </p:cNvPr>
          <p:cNvSpPr>
            <a:spLocks noGrp="1"/>
          </p:cNvSpPr>
          <p:nvPr>
            <p:ph type="body" idx="1"/>
          </p:nvPr>
        </p:nvSpPr>
        <p:spPr>
          <a:xfrm>
            <a:off x="609600" y="2152650"/>
            <a:ext cx="10972800" cy="430887"/>
          </a:xfrm>
        </p:spPr>
        <p:txBody>
          <a:bodyPr/>
          <a:lstStyle/>
          <a:p>
            <a:pPr algn="ctr"/>
            <a:r>
              <a:rPr lang="en-US" sz="2800" b="1">
                <a:effectLst>
                  <a:outerShdw blurRad="38100" dist="38100" dir="2700000" algn="tl">
                    <a:srgbClr val="000000">
                      <a:alpha val="43137"/>
                    </a:srgbClr>
                  </a:outerShdw>
                </a:effectLst>
              </a:rPr>
              <a:t>Multimode Interferometer (MMI) Coupler</a:t>
            </a:r>
          </a:p>
        </p:txBody>
      </p:sp>
    </p:spTree>
    <p:extLst>
      <p:ext uri="{BB962C8B-B14F-4D97-AF65-F5344CB8AC3E}">
        <p14:creationId xmlns:p14="http://schemas.microsoft.com/office/powerpoint/2010/main" val="38733189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34E70-43B1-3881-1771-20FB4358471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42C31CE-19F0-B995-0997-9A2D6A879BF7}"/>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a:t>Learning outcome #5 – Multimode Interference (MMI) Coupler cross-section</a:t>
            </a:r>
            <a:endParaRPr lang="en-US" sz="2500" b="0">
              <a:latin typeface="+mj-lt"/>
              <a:cs typeface="Lucida Sans"/>
            </a:endParaRPr>
          </a:p>
        </p:txBody>
      </p:sp>
      <p:pic>
        <p:nvPicPr>
          <p:cNvPr id="83" name="Gráfico 82">
            <a:extLst>
              <a:ext uri="{FF2B5EF4-FFF2-40B4-BE49-F238E27FC236}">
                <a16:creationId xmlns:a16="http://schemas.microsoft.com/office/drawing/2014/main" id="{D688A609-F3DC-EE34-C536-683E70F32EA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6C672C6-89D4-7E67-2B94-811D081786A7}"/>
              </a:ext>
            </a:extLst>
          </p:cNvPr>
          <p:cNvSpPr>
            <a:spLocks noGrp="1"/>
          </p:cNvSpPr>
          <p:nvPr>
            <p:ph type="sldNum" sz="quarter" idx="7"/>
          </p:nvPr>
        </p:nvSpPr>
        <p:spPr/>
        <p:txBody>
          <a:bodyPr/>
          <a:lstStyle/>
          <a:p>
            <a:fld id="{B6F15528-21DE-4FAA-801E-634DDDAF4B2B}" type="slidenum">
              <a:rPr lang="es-ES" smtClean="0"/>
              <a:t>10</a:t>
            </a:fld>
            <a:endParaRPr lang="es-ES"/>
          </a:p>
        </p:txBody>
      </p:sp>
      <p:sp>
        <p:nvSpPr>
          <p:cNvPr id="3" name="Marcador de pie de página 2">
            <a:extLst>
              <a:ext uri="{FF2B5EF4-FFF2-40B4-BE49-F238E27FC236}">
                <a16:creationId xmlns:a16="http://schemas.microsoft.com/office/drawing/2014/main" id="{AA1F4313-D710-7A3E-7A8F-EB77DEE3C1A7}"/>
              </a:ext>
            </a:extLst>
          </p:cNvPr>
          <p:cNvSpPr>
            <a:spLocks noGrp="1"/>
          </p:cNvSpPr>
          <p:nvPr>
            <p:ph type="ftr" sz="quarter" idx="5"/>
          </p:nvPr>
        </p:nvSpPr>
        <p:spPr/>
        <p:txBody>
          <a:bodyPr/>
          <a:lstStyle/>
          <a:p>
            <a:pPr marL="12700">
              <a:spcBef>
                <a:spcPts val="15"/>
              </a:spcBef>
            </a:pPr>
            <a:r>
              <a:rPr lang="es-ES" spc="-5"/>
              <a:t>LAB 2.0. COUPLERS</a:t>
            </a:r>
          </a:p>
        </p:txBody>
      </p:sp>
      <mc:AlternateContent xmlns:mc="http://schemas.openxmlformats.org/markup-compatibility/2006" xmlns:a14="http://schemas.microsoft.com/office/drawing/2010/main">
        <mc:Choice Requires="a14">
          <p:sp>
            <p:nvSpPr>
              <p:cNvPr id="4" name="Marcador de texto 2">
                <a:extLst>
                  <a:ext uri="{FF2B5EF4-FFF2-40B4-BE49-F238E27FC236}">
                    <a16:creationId xmlns:a16="http://schemas.microsoft.com/office/drawing/2014/main" id="{D838A93A-BFC8-0124-93CE-FDC193435A0C}"/>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sz="2000" b="1"/>
                  <a:t>INSTRUCTOR:</a:t>
                </a:r>
              </a:p>
              <a:p>
                <a:pPr marL="342900" indent="-342900" algn="just">
                  <a:buFont typeface="Arial" panose="020B0604020202020204" pitchFamily="34" charset="0"/>
                  <a:buChar char="•"/>
                </a:pPr>
                <a:r>
                  <a:rPr lang="en-US" sz="2000"/>
                  <a:t>Present Python and </a:t>
                </a:r>
                <a:r>
                  <a:rPr lang="en-US" sz="2000" err="1"/>
                  <a:t>GDSFactory</a:t>
                </a:r>
                <a:r>
                  <a:rPr lang="en-US" sz="2000"/>
                  <a:t> implementation of DC cross-section</a:t>
                </a:r>
              </a:p>
              <a:p>
                <a:pPr marL="342900" indent="-342900" algn="just">
                  <a:buFont typeface="Arial" panose="020B0604020202020204" pitchFamily="34" charset="0"/>
                  <a:buChar char="•"/>
                </a:pPr>
                <a:r>
                  <a:rPr lang="en-US" sz="2000"/>
                  <a:t>Describe how to obtain the length </a:t>
                </a:r>
                <a14:m>
                  <m:oMath xmlns:m="http://schemas.openxmlformats.org/officeDocument/2006/math">
                    <m:sSub>
                      <m:sSubPr>
                        <m:ctrlPr>
                          <a:rPr lang="es-ES" sz="2000" b="0" i="1" smtClean="0">
                            <a:latin typeface="Cambria Math" panose="02040503050406030204" pitchFamily="18" charset="0"/>
                          </a:rPr>
                        </m:ctrlPr>
                      </m:sSubPr>
                      <m:e>
                        <m:r>
                          <a:rPr lang="es-ES" sz="2000" b="0" i="1" smtClean="0">
                            <a:latin typeface="Cambria Math" panose="02040503050406030204" pitchFamily="18" charset="0"/>
                          </a:rPr>
                          <m:t>𝐿</m:t>
                        </m:r>
                      </m:e>
                      <m:sub>
                        <m:r>
                          <a:rPr lang="es-ES" sz="2000" b="0" i="1" smtClean="0">
                            <a:latin typeface="Cambria Math" panose="02040503050406030204" pitchFamily="18" charset="0"/>
                          </a:rPr>
                          <m:t>𝜋</m:t>
                        </m:r>
                      </m:sub>
                    </m:sSub>
                  </m:oMath>
                </a14:m>
                <a:endParaRPr lang="en-US" sz="2000"/>
              </a:p>
              <a:p>
                <a:pPr marL="342900" indent="-342900" algn="just">
                  <a:buFont typeface="Arial" panose="020B0604020202020204" pitchFamily="34" charset="0"/>
                  <a:buChar char="•"/>
                </a:pPr>
                <a:r>
                  <a:rPr lang="en-US" sz="2000"/>
                  <a:t>Describe the outputs.</a:t>
                </a:r>
              </a:p>
              <a:p>
                <a:pPr marL="0" indent="0" algn="just">
                  <a:buNone/>
                </a:pPr>
                <a:r>
                  <a:rPr lang="en-US" sz="2000" b="1"/>
                  <a:t>ALL EXAMPLE #2: </a:t>
                </a:r>
                <a:r>
                  <a:rPr lang="en-US" sz="2000"/>
                  <a:t>waveguide width 12 µm, gap between waveguides 0.6 µm, deep </a:t>
                </a:r>
                <a:r>
                  <a:rPr lang="en-US" sz="2000" err="1"/>
                  <a:t>wvg</a:t>
                </a:r>
                <a:r>
                  <a:rPr lang="en-US" sz="2000"/>
                  <a:t>, wavelength start and end same 1.55 µm </a:t>
                </a:r>
                <a:r>
                  <a:rPr lang="en-US" sz="2000">
                    <a:sym typeface="Wingdings" pitchFamily="2" charset="2"/>
                  </a:rPr>
                  <a:t> all ”Run”</a:t>
                </a:r>
                <a:endParaRPr lang="en-US" sz="2000"/>
              </a:p>
              <a:p>
                <a:pPr marL="0" indent="0" algn="just">
                  <a:buNone/>
                </a:pPr>
                <a:r>
                  <a:rPr lang="en-US" sz="2000" b="1"/>
                  <a:t>ALL: </a:t>
                </a:r>
                <a:r>
                  <a:rPr lang="en-US" sz="2000"/>
                  <a:t>Follow</a:t>
                </a:r>
                <a:r>
                  <a:rPr lang="en-US" sz="2000" b="1"/>
                  <a:t> </a:t>
                </a:r>
                <a:r>
                  <a:rPr lang="en-US" sz="2000"/>
                  <a:t>instructor, that will show how to 1) plot mode, 2) explore the results (neff …)</a:t>
                </a:r>
              </a:p>
              <a:p>
                <a:pPr algn="just"/>
                <a:endParaRPr lang="en-US" sz="2000" b="1" i="1" u="sng"/>
              </a:p>
              <a:p>
                <a:pPr algn="just"/>
                <a:endParaRPr lang="en-US" sz="2000" kern="0">
                  <a:solidFill>
                    <a:sysClr val="windowText" lastClr="000000"/>
                  </a:solidFill>
                </a:endParaRPr>
              </a:p>
            </p:txBody>
          </p:sp>
        </mc:Choice>
        <mc:Fallback xmlns="">
          <p:sp>
            <p:nvSpPr>
              <p:cNvPr id="4" name="Marcador de texto 2">
                <a:extLst>
                  <a:ext uri="{FF2B5EF4-FFF2-40B4-BE49-F238E27FC236}">
                    <a16:creationId xmlns:a16="http://schemas.microsoft.com/office/drawing/2014/main" id="{D838A93A-BFC8-0124-93CE-FDC193435A0C}"/>
                  </a:ext>
                </a:extLst>
              </p:cNvPr>
              <p:cNvSpPr txBox="1">
                <a:spLocks noRot="1" noChangeAspect="1" noMove="1" noResize="1" noEditPoints="1" noAdjustHandles="1" noChangeArrowheads="1" noChangeShapeType="1" noTextEdit="1"/>
              </p:cNvSpPr>
              <p:nvPr/>
            </p:nvSpPr>
            <p:spPr>
              <a:xfrm>
                <a:off x="608012" y="1295400"/>
                <a:ext cx="11048999" cy="4958137"/>
              </a:xfrm>
              <a:prstGeom prst="rect">
                <a:avLst/>
              </a:prstGeom>
              <a:blipFill>
                <a:blip r:embed="rId4"/>
                <a:stretch>
                  <a:fillRect l="-607" t="-738" r="-552"/>
                </a:stretch>
              </a:blipFill>
            </p:spPr>
            <p:txBody>
              <a:bodyPr/>
              <a:lstStyle/>
              <a:p>
                <a:r>
                  <a:rPr lang="en-US">
                    <a:noFill/>
                  </a:rPr>
                  <a:t> </a:t>
                </a:r>
              </a:p>
            </p:txBody>
          </p:sp>
        </mc:Fallback>
      </mc:AlternateContent>
      <p:sp>
        <p:nvSpPr>
          <p:cNvPr id="2" name="CuadroTexto 1">
            <a:extLst>
              <a:ext uri="{FF2B5EF4-FFF2-40B4-BE49-F238E27FC236}">
                <a16:creationId xmlns:a16="http://schemas.microsoft.com/office/drawing/2014/main" id="{FDE3A197-9508-F9F1-1FEB-FF883D78C151}"/>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a:latin typeface="Arial" panose="020B0604020202020204" pitchFamily="34" charset="0"/>
                <a:cs typeface="Arial" panose="020B0604020202020204" pitchFamily="34" charset="0"/>
              </a:rPr>
              <a:t>Document all your results (neff, plot fields of different modes, comparison between different polarizations…)</a:t>
            </a:r>
          </a:p>
          <a:p>
            <a:pPr algn="just"/>
            <a:endParaRPr lang="en-US" sz="1200">
              <a:latin typeface="Arial" panose="020B0604020202020204" pitchFamily="34" charset="0"/>
              <a:cs typeface="Arial" panose="020B0604020202020204" pitchFamily="34" charset="0"/>
            </a:endParaRPr>
          </a:p>
          <a:p>
            <a:pPr algn="just"/>
            <a:endParaRPr lang="en-US" sz="1200">
              <a:latin typeface="Arial" panose="020B0604020202020204" pitchFamily="34" charset="0"/>
              <a:cs typeface="Arial" panose="020B0604020202020204" pitchFamily="34" charset="0"/>
            </a:endParaRPr>
          </a:p>
          <a:p>
            <a:pPr algn="just"/>
            <a:endParaRPr lang="en-US" sz="1200">
              <a:latin typeface="Arial" panose="020B0604020202020204" pitchFamily="34" charset="0"/>
              <a:cs typeface="Arial" panose="020B0604020202020204" pitchFamily="34" charset="0"/>
            </a:endParaRPr>
          </a:p>
          <a:p>
            <a:pPr algn="just"/>
            <a:endParaRPr lang="en-US" sz="1200">
              <a:latin typeface="Arial" panose="020B0604020202020204" pitchFamily="34" charset="0"/>
              <a:cs typeface="Arial" panose="020B0604020202020204" pitchFamily="34" charset="0"/>
            </a:endParaRPr>
          </a:p>
          <a:p>
            <a:pPr algn="just"/>
            <a:endParaRPr lang="en-US" sz="120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0245150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CF4811-3191-3415-1DD1-C5D7890D943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DB238DA9-CEDB-14EE-031C-255CC964FE77}"/>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n-US" sz="2500"/>
              <a:t>Learning outcome #5 – Multimode Interference (MMI) Coupler cross-section</a:t>
            </a:r>
            <a:endParaRPr lang="en-US" sz="2500" b="0">
              <a:latin typeface="+mj-lt"/>
              <a:cs typeface="Lucida Sans"/>
            </a:endParaRPr>
          </a:p>
        </p:txBody>
      </p:sp>
      <p:pic>
        <p:nvPicPr>
          <p:cNvPr id="83" name="Gráfico 82">
            <a:extLst>
              <a:ext uri="{FF2B5EF4-FFF2-40B4-BE49-F238E27FC236}">
                <a16:creationId xmlns:a16="http://schemas.microsoft.com/office/drawing/2014/main" id="{DDBB4AE5-9AC5-C15F-E554-E33CB9AB3CA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765822F9-AA75-E7B6-C9A1-910943D2A6F7}"/>
              </a:ext>
            </a:extLst>
          </p:cNvPr>
          <p:cNvSpPr>
            <a:spLocks noGrp="1"/>
          </p:cNvSpPr>
          <p:nvPr>
            <p:ph type="sldNum" sz="quarter" idx="7"/>
          </p:nvPr>
        </p:nvSpPr>
        <p:spPr/>
        <p:txBody>
          <a:bodyPr/>
          <a:lstStyle/>
          <a:p>
            <a:fld id="{B6F15528-21DE-4FAA-801E-634DDDAF4B2B}" type="slidenum">
              <a:rPr lang="es-ES" smtClean="0"/>
              <a:t>11</a:t>
            </a:fld>
            <a:endParaRPr lang="es-ES"/>
          </a:p>
        </p:txBody>
      </p:sp>
      <p:sp>
        <p:nvSpPr>
          <p:cNvPr id="3" name="Marcador de pie de página 2">
            <a:extLst>
              <a:ext uri="{FF2B5EF4-FFF2-40B4-BE49-F238E27FC236}">
                <a16:creationId xmlns:a16="http://schemas.microsoft.com/office/drawing/2014/main" id="{93BDB7C6-6809-5B90-CE08-3F6A25C60918}"/>
              </a:ext>
            </a:extLst>
          </p:cNvPr>
          <p:cNvSpPr>
            <a:spLocks noGrp="1"/>
          </p:cNvSpPr>
          <p:nvPr>
            <p:ph type="ftr" sz="quarter" idx="5"/>
          </p:nvPr>
        </p:nvSpPr>
        <p:spPr/>
        <p:txBody>
          <a:bodyPr/>
          <a:lstStyle/>
          <a:p>
            <a:pPr marL="12700">
              <a:spcBef>
                <a:spcPts val="15"/>
              </a:spcBef>
            </a:pPr>
            <a:r>
              <a:rPr lang="es-ES" spc="-5"/>
              <a:t>LAB 2.0. COUPLERS</a:t>
            </a:r>
          </a:p>
        </p:txBody>
      </p:sp>
      <p:sp>
        <p:nvSpPr>
          <p:cNvPr id="2" name="CuadroTexto 1">
            <a:extLst>
              <a:ext uri="{FF2B5EF4-FFF2-40B4-BE49-F238E27FC236}">
                <a16:creationId xmlns:a16="http://schemas.microsoft.com/office/drawing/2014/main" id="{9ED3DA15-BEB2-D659-6EBC-5683CEA0D07C}"/>
              </a:ext>
            </a:extLst>
          </p:cNvPr>
          <p:cNvSpPr txBox="1"/>
          <p:nvPr/>
        </p:nvSpPr>
        <p:spPr>
          <a:xfrm>
            <a:off x="609441" y="4860334"/>
            <a:ext cx="11199971" cy="1015663"/>
          </a:xfrm>
          <a:prstGeom prst="rect">
            <a:avLst/>
          </a:prstGeom>
          <a:solidFill>
            <a:schemeClr val="bg1">
              <a:lumMod val="95000"/>
            </a:schemeClr>
          </a:solidFill>
          <a:ln w="28575">
            <a:solidFill>
              <a:srgbClr val="E0700D"/>
            </a:solidFill>
          </a:ln>
        </p:spPr>
        <p:txBody>
          <a:bodyPr wrap="square" rtlCol="0">
            <a:spAutoFit/>
          </a:bodyPr>
          <a:lstStyle/>
          <a:p>
            <a:pPr algn="just"/>
            <a:r>
              <a:rPr lang="es-ES" sz="1200">
                <a:latin typeface="Arial" panose="020B0604020202020204" pitchFamily="34" charset="0"/>
                <a:cs typeface="Arial" panose="020B0604020202020204" pitchFamily="34" charset="0"/>
              </a:rPr>
              <a:t>Se obtienen los valores de los índices efectivos de los 20 primeros modos del cuerpo MMI. Todos ellos son mayores que el índice del </a:t>
            </a:r>
            <a:r>
              <a:rPr lang="es-ES" sz="1200" err="1">
                <a:latin typeface="Arial" panose="020B0604020202020204" pitchFamily="34" charset="0"/>
                <a:cs typeface="Arial" panose="020B0604020202020204" pitchFamily="34" charset="0"/>
              </a:rPr>
              <a:t>cladding</a:t>
            </a:r>
            <a:r>
              <a:rPr lang="es-ES" sz="1200">
                <a:latin typeface="Arial" panose="020B0604020202020204" pitchFamily="34" charset="0"/>
                <a:cs typeface="Arial" panose="020B0604020202020204" pitchFamily="34" charset="0"/>
              </a:rPr>
              <a:t> (n=1.45), por lo que todos los modos calculados se propagan. A partir de la fracción TE se identifican 12 modos TE y 8 modos TM. En las distribuciones de campo se representan los modos TE0, TE1 y TE7. Se observa que, al aumentar el orden del modo, aparecen más lóbulos y cambios de signo a lo largo de la anchura del MMI.</a:t>
            </a:r>
            <a:endParaRPr lang="en-US" sz="1200">
              <a:latin typeface="Arial" panose="020B0604020202020204" pitchFamily="34" charset="0"/>
              <a:cs typeface="Arial" panose="020B0604020202020204" pitchFamily="34" charset="0"/>
            </a:endParaRPr>
          </a:p>
          <a:p>
            <a:pPr algn="just"/>
            <a:endParaRPr lang="en-US" sz="1200">
              <a:latin typeface="Arial" panose="020B0604020202020204" pitchFamily="34" charset="0"/>
              <a:cs typeface="Arial" panose="020B0604020202020204" pitchFamily="34" charset="0"/>
            </a:endParaRPr>
          </a:p>
          <a:p>
            <a:pPr algn="just"/>
            <a:endParaRPr lang="en-US" sz="1200">
              <a:latin typeface="Arial" panose="020B0604020202020204" pitchFamily="34" charset="0"/>
              <a:cs typeface="Arial" panose="020B0604020202020204" pitchFamily="34" charset="0"/>
            </a:endParaRPr>
          </a:p>
        </p:txBody>
      </p:sp>
      <p:pic>
        <p:nvPicPr>
          <p:cNvPr id="6" name="Imagen 5">
            <a:extLst>
              <a:ext uri="{FF2B5EF4-FFF2-40B4-BE49-F238E27FC236}">
                <a16:creationId xmlns:a16="http://schemas.microsoft.com/office/drawing/2014/main" id="{A035C233-A864-3C0E-D46F-6851C0AEEA7A}"/>
              </a:ext>
            </a:extLst>
          </p:cNvPr>
          <p:cNvPicPr>
            <a:picLocks noChangeAspect="1"/>
          </p:cNvPicPr>
          <p:nvPr/>
        </p:nvPicPr>
        <p:blipFill>
          <a:blip r:embed="rId4"/>
          <a:stretch>
            <a:fillRect/>
          </a:stretch>
        </p:blipFill>
        <p:spPr>
          <a:xfrm>
            <a:off x="800671" y="1213215"/>
            <a:ext cx="5104257" cy="1568902"/>
          </a:xfrm>
          <a:prstGeom prst="rect">
            <a:avLst/>
          </a:prstGeom>
        </p:spPr>
      </p:pic>
      <p:pic>
        <p:nvPicPr>
          <p:cNvPr id="8" name="Imagen 7">
            <a:extLst>
              <a:ext uri="{FF2B5EF4-FFF2-40B4-BE49-F238E27FC236}">
                <a16:creationId xmlns:a16="http://schemas.microsoft.com/office/drawing/2014/main" id="{375C36BB-59D3-9C5F-789D-EFF038A8B885}"/>
              </a:ext>
            </a:extLst>
          </p:cNvPr>
          <p:cNvPicPr>
            <a:picLocks noChangeAspect="1"/>
          </p:cNvPicPr>
          <p:nvPr/>
        </p:nvPicPr>
        <p:blipFill>
          <a:blip r:embed="rId5"/>
          <a:stretch>
            <a:fillRect/>
          </a:stretch>
        </p:blipFill>
        <p:spPr>
          <a:xfrm>
            <a:off x="6414318" y="1210697"/>
            <a:ext cx="4891857" cy="1568768"/>
          </a:xfrm>
          <a:prstGeom prst="rect">
            <a:avLst/>
          </a:prstGeom>
        </p:spPr>
      </p:pic>
      <p:pic>
        <p:nvPicPr>
          <p:cNvPr id="10" name="Imagen 9">
            <a:extLst>
              <a:ext uri="{FF2B5EF4-FFF2-40B4-BE49-F238E27FC236}">
                <a16:creationId xmlns:a16="http://schemas.microsoft.com/office/drawing/2014/main" id="{9A525E03-CE04-570B-7216-3C9D731ADE25}"/>
              </a:ext>
            </a:extLst>
          </p:cNvPr>
          <p:cNvPicPr>
            <a:picLocks noChangeAspect="1"/>
          </p:cNvPicPr>
          <p:nvPr/>
        </p:nvPicPr>
        <p:blipFill>
          <a:blip r:embed="rId6"/>
          <a:stretch>
            <a:fillRect/>
          </a:stretch>
        </p:blipFill>
        <p:spPr>
          <a:xfrm>
            <a:off x="1313714" y="2898962"/>
            <a:ext cx="2612058" cy="1864387"/>
          </a:xfrm>
          <a:prstGeom prst="rect">
            <a:avLst/>
          </a:prstGeom>
        </p:spPr>
      </p:pic>
      <p:pic>
        <p:nvPicPr>
          <p:cNvPr id="12" name="Imagen 11">
            <a:extLst>
              <a:ext uri="{FF2B5EF4-FFF2-40B4-BE49-F238E27FC236}">
                <a16:creationId xmlns:a16="http://schemas.microsoft.com/office/drawing/2014/main" id="{0BD2C318-1771-BAA6-89E6-646EE53ACF14}"/>
              </a:ext>
            </a:extLst>
          </p:cNvPr>
          <p:cNvPicPr>
            <a:picLocks noChangeAspect="1"/>
          </p:cNvPicPr>
          <p:nvPr/>
        </p:nvPicPr>
        <p:blipFill>
          <a:blip r:embed="rId7"/>
          <a:stretch>
            <a:fillRect/>
          </a:stretch>
        </p:blipFill>
        <p:spPr>
          <a:xfrm>
            <a:off x="4725806" y="2898962"/>
            <a:ext cx="2740388" cy="1917286"/>
          </a:xfrm>
          <a:prstGeom prst="rect">
            <a:avLst/>
          </a:prstGeom>
        </p:spPr>
      </p:pic>
      <p:pic>
        <p:nvPicPr>
          <p:cNvPr id="14" name="Imagen 13">
            <a:extLst>
              <a:ext uri="{FF2B5EF4-FFF2-40B4-BE49-F238E27FC236}">
                <a16:creationId xmlns:a16="http://schemas.microsoft.com/office/drawing/2014/main" id="{5A10B351-4FAD-016C-ADA3-04AF2AC90C8D}"/>
              </a:ext>
            </a:extLst>
          </p:cNvPr>
          <p:cNvPicPr>
            <a:picLocks noChangeAspect="1"/>
          </p:cNvPicPr>
          <p:nvPr/>
        </p:nvPicPr>
        <p:blipFill>
          <a:blip r:embed="rId8"/>
          <a:stretch>
            <a:fillRect/>
          </a:stretch>
        </p:blipFill>
        <p:spPr>
          <a:xfrm>
            <a:off x="8193712" y="2898962"/>
            <a:ext cx="2740388" cy="1917286"/>
          </a:xfrm>
          <a:prstGeom prst="rect">
            <a:avLst/>
          </a:prstGeom>
        </p:spPr>
      </p:pic>
    </p:spTree>
    <p:extLst>
      <p:ext uri="{BB962C8B-B14F-4D97-AF65-F5344CB8AC3E}">
        <p14:creationId xmlns:p14="http://schemas.microsoft.com/office/powerpoint/2010/main" val="227266521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BF7C0E-2677-BADF-D636-6F9B71E665F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2B8D44BF-A3B5-6BED-C39C-FA8260E83536}"/>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a:t>Learning outcome #6 – 6.1 2x2 Multimode Interference Coupler </a:t>
            </a:r>
            <a:br>
              <a:rPr lang="en-US" sz="2500"/>
            </a:br>
            <a:r>
              <a:rPr lang="en-US" b="0"/>
              <a:t>Wavelength 1.55 µm, </a:t>
            </a:r>
            <a:r>
              <a:rPr lang="en-US" b="0" err="1"/>
              <a:t>wMMI</a:t>
            </a:r>
            <a:r>
              <a:rPr lang="en-US" b="0"/>
              <a:t> = 6.6 µm</a:t>
            </a:r>
            <a:endParaRPr lang="en-US" sz="2500" b="0">
              <a:latin typeface="+mj-lt"/>
              <a:cs typeface="Lucida Sans"/>
            </a:endParaRPr>
          </a:p>
        </p:txBody>
      </p:sp>
      <p:pic>
        <p:nvPicPr>
          <p:cNvPr id="83" name="Gráfico 82">
            <a:extLst>
              <a:ext uri="{FF2B5EF4-FFF2-40B4-BE49-F238E27FC236}">
                <a16:creationId xmlns:a16="http://schemas.microsoft.com/office/drawing/2014/main" id="{5DFCF1AD-6B06-F914-AC0B-80F0ED838EF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A656CCE-66E0-EAE0-5C63-DF1315DF6299}"/>
              </a:ext>
            </a:extLst>
          </p:cNvPr>
          <p:cNvSpPr>
            <a:spLocks noGrp="1"/>
          </p:cNvSpPr>
          <p:nvPr>
            <p:ph type="sldNum" sz="quarter" idx="7"/>
          </p:nvPr>
        </p:nvSpPr>
        <p:spPr/>
        <p:txBody>
          <a:bodyPr/>
          <a:lstStyle/>
          <a:p>
            <a:fld id="{B6F15528-21DE-4FAA-801E-634DDDAF4B2B}" type="slidenum">
              <a:rPr lang="es-ES" smtClean="0"/>
              <a:t>12</a:t>
            </a:fld>
            <a:endParaRPr lang="es-ES"/>
          </a:p>
        </p:txBody>
      </p:sp>
      <p:sp>
        <p:nvSpPr>
          <p:cNvPr id="3" name="Marcador de pie de página 2">
            <a:extLst>
              <a:ext uri="{FF2B5EF4-FFF2-40B4-BE49-F238E27FC236}">
                <a16:creationId xmlns:a16="http://schemas.microsoft.com/office/drawing/2014/main" id="{D3AB6581-C493-80EB-A67F-5289454DAA28}"/>
              </a:ext>
            </a:extLst>
          </p:cNvPr>
          <p:cNvSpPr>
            <a:spLocks noGrp="1"/>
          </p:cNvSpPr>
          <p:nvPr>
            <p:ph type="ftr" sz="quarter" idx="5"/>
          </p:nvPr>
        </p:nvSpPr>
        <p:spPr/>
        <p:txBody>
          <a:bodyPr/>
          <a:lstStyle/>
          <a:p>
            <a:pPr marL="12700">
              <a:spcBef>
                <a:spcPts val="15"/>
              </a:spcBef>
            </a:pPr>
            <a:r>
              <a:rPr lang="es-ES" spc="-5"/>
              <a:t>LAB 2.0. COUPLERS</a:t>
            </a:r>
          </a:p>
        </p:txBody>
      </p:sp>
      <p:sp>
        <p:nvSpPr>
          <p:cNvPr id="2" name="CuadroTexto 1">
            <a:extLst>
              <a:ext uri="{FF2B5EF4-FFF2-40B4-BE49-F238E27FC236}">
                <a16:creationId xmlns:a16="http://schemas.microsoft.com/office/drawing/2014/main" id="{B5029729-ADF3-3B30-4FF9-83BE1DB82BD7}"/>
              </a:ext>
            </a:extLst>
          </p:cNvPr>
          <p:cNvSpPr txBox="1"/>
          <p:nvPr/>
        </p:nvSpPr>
        <p:spPr>
          <a:xfrm>
            <a:off x="609441" y="4819471"/>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a:latin typeface="Arial" panose="020B0604020202020204" pitchFamily="34" charset="0"/>
                <a:cs typeface="Arial" panose="020B0604020202020204" pitchFamily="34" charset="0"/>
              </a:rPr>
              <a:t>Comment results (Coupling relationship, </a:t>
            </a:r>
            <a:r>
              <a:rPr lang="en-US" sz="1200" err="1">
                <a:latin typeface="Arial" panose="020B0604020202020204" pitchFamily="34" charset="0"/>
                <a:cs typeface="Arial" panose="020B0604020202020204" pitchFamily="34" charset="0"/>
              </a:rPr>
              <a:t>Lpi</a:t>
            </a:r>
            <a:r>
              <a:rPr lang="en-US" sz="1200">
                <a:latin typeface="Arial" panose="020B0604020202020204" pitchFamily="34" charset="0"/>
                <a:cs typeface="Arial" panose="020B0604020202020204" pitchFamily="34" charset="0"/>
              </a:rPr>
              <a:t>,  losses, comparison with Directional Coupler… )</a:t>
            </a:r>
          </a:p>
          <a:p>
            <a:pPr algn="just"/>
            <a:r>
              <a:rPr lang="es-ES" sz="1200">
                <a:latin typeface="Arial" panose="020B0604020202020204" pitchFamily="34" charset="0"/>
                <a:cs typeface="Arial" panose="020B0604020202020204" pitchFamily="34" charset="0"/>
              </a:rPr>
              <a:t>En la simulación EME se observa la interferencia multimodo dentro del cuerpo MMI. La potencia de entrada acoplada es 0.9604 y la potencia total de salida es 0.9075, con unas pérdidas de exceso de 0.4217 dB. La potencia se reparte entre las dos salidas con valores de 0.4675 y 0.4399, lo que corresponde a un reparto aproximado de 51.52 % y 48.48 %. Por tanto, el dispositivo funciona como un acoplador MMI 2x2 prácticamente 50/50.</a:t>
            </a:r>
            <a:endParaRPr lang="en-US" sz="1200">
              <a:latin typeface="Arial" panose="020B0604020202020204" pitchFamily="34" charset="0"/>
              <a:cs typeface="Arial" panose="020B0604020202020204" pitchFamily="34" charset="0"/>
            </a:endParaRPr>
          </a:p>
          <a:p>
            <a:pPr algn="just"/>
            <a:endParaRPr lang="en-US" sz="1200">
              <a:latin typeface="Arial" panose="020B0604020202020204" pitchFamily="34" charset="0"/>
              <a:cs typeface="Arial" panose="020B0604020202020204" pitchFamily="34" charset="0"/>
            </a:endParaRPr>
          </a:p>
          <a:p>
            <a:pPr algn="just"/>
            <a:endParaRPr lang="en-US" sz="120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98DE5FDA-4E91-E843-E84A-1467BFAA9986}"/>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magen 4">
            <a:extLst>
              <a:ext uri="{FF2B5EF4-FFF2-40B4-BE49-F238E27FC236}">
                <a16:creationId xmlns:a16="http://schemas.microsoft.com/office/drawing/2014/main" id="{74BE849E-4450-A900-67F6-7114167503EC}"/>
              </a:ext>
            </a:extLst>
          </p:cNvPr>
          <p:cNvPicPr>
            <a:picLocks noChangeAspect="1"/>
          </p:cNvPicPr>
          <p:nvPr/>
        </p:nvPicPr>
        <p:blipFill>
          <a:blip r:embed="rId4"/>
          <a:stretch>
            <a:fillRect/>
          </a:stretch>
        </p:blipFill>
        <p:spPr>
          <a:xfrm>
            <a:off x="5332095" y="2162889"/>
            <a:ext cx="5381625" cy="2219325"/>
          </a:xfrm>
          <a:prstGeom prst="rect">
            <a:avLst/>
          </a:prstGeom>
        </p:spPr>
      </p:pic>
      <p:pic>
        <p:nvPicPr>
          <p:cNvPr id="6" name="Imagen 5">
            <a:extLst>
              <a:ext uri="{FF2B5EF4-FFF2-40B4-BE49-F238E27FC236}">
                <a16:creationId xmlns:a16="http://schemas.microsoft.com/office/drawing/2014/main" id="{72F1879C-8265-88BC-D2BF-2E353EDBFB08}"/>
              </a:ext>
            </a:extLst>
          </p:cNvPr>
          <p:cNvPicPr>
            <a:picLocks noChangeAspect="1"/>
          </p:cNvPicPr>
          <p:nvPr/>
        </p:nvPicPr>
        <p:blipFill>
          <a:blip r:embed="rId5"/>
          <a:stretch>
            <a:fillRect/>
          </a:stretch>
        </p:blipFill>
        <p:spPr>
          <a:xfrm>
            <a:off x="1544052" y="2029922"/>
            <a:ext cx="2949763" cy="2124315"/>
          </a:xfrm>
          <a:prstGeom prst="rect">
            <a:avLst/>
          </a:prstGeom>
        </p:spPr>
      </p:pic>
    </p:spTree>
    <p:extLst>
      <p:ext uri="{BB962C8B-B14F-4D97-AF65-F5344CB8AC3E}">
        <p14:creationId xmlns:p14="http://schemas.microsoft.com/office/powerpoint/2010/main" val="281567942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F11DBE-A482-7036-60B2-70B7E2318F46}"/>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C096193E-AB86-E3CD-BDAC-0F9156C1A3F0}"/>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a:t>Learning outcome #6.2 – 2x2 Multimode Interference Coupler - Optimization</a:t>
            </a:r>
            <a:br>
              <a:rPr lang="en-US" sz="2500"/>
            </a:br>
            <a:r>
              <a:rPr lang="en-US" b="0"/>
              <a:t>Wavelength 1.55 µm, </a:t>
            </a:r>
            <a:r>
              <a:rPr lang="en-US" b="0" err="1"/>
              <a:t>wMMI</a:t>
            </a:r>
            <a:r>
              <a:rPr lang="en-US" b="0"/>
              <a:t> = 6.6 µm</a:t>
            </a:r>
            <a:endParaRPr lang="en-US" sz="2500" b="0">
              <a:latin typeface="+mj-lt"/>
              <a:cs typeface="Lucida Sans"/>
            </a:endParaRPr>
          </a:p>
        </p:txBody>
      </p:sp>
      <p:pic>
        <p:nvPicPr>
          <p:cNvPr id="83" name="Gráfico 82">
            <a:extLst>
              <a:ext uri="{FF2B5EF4-FFF2-40B4-BE49-F238E27FC236}">
                <a16:creationId xmlns:a16="http://schemas.microsoft.com/office/drawing/2014/main" id="{2D17DCD6-D851-E62D-D95C-A9F9954602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891046F-11DC-B7FC-54F7-9583E688DC0E}"/>
              </a:ext>
            </a:extLst>
          </p:cNvPr>
          <p:cNvSpPr>
            <a:spLocks noGrp="1"/>
          </p:cNvSpPr>
          <p:nvPr>
            <p:ph type="sldNum" sz="quarter" idx="7"/>
          </p:nvPr>
        </p:nvSpPr>
        <p:spPr/>
        <p:txBody>
          <a:bodyPr/>
          <a:lstStyle/>
          <a:p>
            <a:fld id="{B6F15528-21DE-4FAA-801E-634DDDAF4B2B}" type="slidenum">
              <a:rPr lang="es-ES" smtClean="0"/>
              <a:t>13</a:t>
            </a:fld>
            <a:endParaRPr lang="es-ES"/>
          </a:p>
        </p:txBody>
      </p:sp>
      <p:sp>
        <p:nvSpPr>
          <p:cNvPr id="3" name="Marcador de pie de página 2">
            <a:extLst>
              <a:ext uri="{FF2B5EF4-FFF2-40B4-BE49-F238E27FC236}">
                <a16:creationId xmlns:a16="http://schemas.microsoft.com/office/drawing/2014/main" id="{4C9BAA39-017F-D602-6705-A6CF44830139}"/>
              </a:ext>
            </a:extLst>
          </p:cNvPr>
          <p:cNvSpPr>
            <a:spLocks noGrp="1"/>
          </p:cNvSpPr>
          <p:nvPr>
            <p:ph type="ftr" sz="quarter" idx="5"/>
          </p:nvPr>
        </p:nvSpPr>
        <p:spPr/>
        <p:txBody>
          <a:bodyPr/>
          <a:lstStyle/>
          <a:p>
            <a:pPr marL="12700">
              <a:spcBef>
                <a:spcPts val="15"/>
              </a:spcBef>
            </a:pPr>
            <a:r>
              <a:rPr lang="es-ES" spc="-5"/>
              <a:t>LAB 2.0. COUPLERS</a:t>
            </a:r>
          </a:p>
        </p:txBody>
      </p:sp>
      <p:sp>
        <p:nvSpPr>
          <p:cNvPr id="2" name="CuadroTexto 1">
            <a:extLst>
              <a:ext uri="{FF2B5EF4-FFF2-40B4-BE49-F238E27FC236}">
                <a16:creationId xmlns:a16="http://schemas.microsoft.com/office/drawing/2014/main" id="{43D7D9E5-DAC3-2BB8-7377-826863CBAD4E}"/>
              </a:ext>
            </a:extLst>
          </p:cNvPr>
          <p:cNvSpPr txBox="1"/>
          <p:nvPr/>
        </p:nvSpPr>
        <p:spPr>
          <a:xfrm>
            <a:off x="609441" y="4819471"/>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a:latin typeface="Arial" panose="020B0604020202020204" pitchFamily="34" charset="0"/>
                <a:cs typeface="Arial" panose="020B0604020202020204" pitchFamily="34" charset="0"/>
              </a:rPr>
              <a:t>Comment results</a:t>
            </a:r>
          </a:p>
          <a:p>
            <a:pPr algn="just"/>
            <a:r>
              <a:rPr lang="es-ES" sz="1200">
                <a:latin typeface="Arial" panose="020B0604020202020204" pitchFamily="34" charset="0"/>
                <a:cs typeface="Arial" panose="020B0604020202020204" pitchFamily="34" charset="0"/>
              </a:rPr>
              <a:t>Tras ajustar manualmente la longitud del MMI (</a:t>
            </a:r>
            <a:r>
              <a:rPr lang="es-ES" sz="1200" err="1">
                <a:latin typeface="Arial" panose="020B0604020202020204" pitchFamily="34" charset="0"/>
                <a:cs typeface="Arial" panose="020B0604020202020204" pitchFamily="34" charset="0"/>
              </a:rPr>
              <a:t>dy</a:t>
            </a:r>
            <a:r>
              <a:rPr lang="es-ES" sz="1200">
                <a:latin typeface="Arial" panose="020B0604020202020204" pitchFamily="34" charset="0"/>
                <a:cs typeface="Arial" panose="020B0604020202020204" pitchFamily="34" charset="0"/>
              </a:rPr>
              <a:t> = 0.5 </a:t>
            </a:r>
            <a:r>
              <a:rPr lang="es-ES" sz="1200" err="1">
                <a:latin typeface="Arial" panose="020B0604020202020204" pitchFamily="34" charset="0"/>
                <a:cs typeface="Arial" panose="020B0604020202020204" pitchFamily="34" charset="0"/>
              </a:rPr>
              <a:t>μm</a:t>
            </a:r>
            <a:r>
              <a:rPr lang="es-ES" sz="1200">
                <a:latin typeface="Arial" panose="020B0604020202020204" pitchFamily="34" charset="0"/>
                <a:cs typeface="Arial" panose="020B0604020202020204" pitchFamily="34" charset="0"/>
              </a:rPr>
              <a:t>), se obtiene un reparto de potencia más equilibrado entre las dos salidas, con una relación 50.62%/49.38%, más cercana al caso ideal. Además, las pérdidas de exceso disminuyen hasta 0.3861 dB, por lo que la optimización mejora ligeramente el funcionamiento del dispositivo. Esta mejora se debe a que la nueva longitud ajusta mejor la condición de autoimagen dentro del MMI, haciendo que los máximos de intensidad al final de la región multimodo coincidan mejor con las guías de salida.</a:t>
            </a:r>
            <a:endParaRPr lang="en-US" sz="1200">
              <a:latin typeface="Arial" panose="020B0604020202020204" pitchFamily="34" charset="0"/>
              <a:cs typeface="Arial" panose="020B0604020202020204" pitchFamily="34" charset="0"/>
            </a:endParaRPr>
          </a:p>
          <a:p>
            <a:pPr algn="just"/>
            <a:endParaRPr lang="en-US" sz="120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9772491E-4FFB-FFC3-C855-72A4B15F3E73}"/>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magen 4">
            <a:extLst>
              <a:ext uri="{FF2B5EF4-FFF2-40B4-BE49-F238E27FC236}">
                <a16:creationId xmlns:a16="http://schemas.microsoft.com/office/drawing/2014/main" id="{78407938-D4E2-F455-87C0-0215A39884A8}"/>
              </a:ext>
            </a:extLst>
          </p:cNvPr>
          <p:cNvPicPr>
            <a:picLocks noChangeAspect="1"/>
          </p:cNvPicPr>
          <p:nvPr/>
        </p:nvPicPr>
        <p:blipFill>
          <a:blip r:embed="rId4"/>
          <a:stretch>
            <a:fillRect/>
          </a:stretch>
        </p:blipFill>
        <p:spPr>
          <a:xfrm>
            <a:off x="5788914" y="2056298"/>
            <a:ext cx="5381625" cy="2238375"/>
          </a:xfrm>
          <a:prstGeom prst="rect">
            <a:avLst/>
          </a:prstGeom>
        </p:spPr>
      </p:pic>
      <p:pic>
        <p:nvPicPr>
          <p:cNvPr id="6" name="Imagen 5">
            <a:extLst>
              <a:ext uri="{FF2B5EF4-FFF2-40B4-BE49-F238E27FC236}">
                <a16:creationId xmlns:a16="http://schemas.microsoft.com/office/drawing/2014/main" id="{9B67FB2E-6CD5-8AC1-7B41-4612868D190B}"/>
              </a:ext>
            </a:extLst>
          </p:cNvPr>
          <p:cNvPicPr>
            <a:picLocks noChangeAspect="1"/>
          </p:cNvPicPr>
          <p:nvPr/>
        </p:nvPicPr>
        <p:blipFill>
          <a:blip r:embed="rId5"/>
          <a:stretch>
            <a:fillRect/>
          </a:stretch>
        </p:blipFill>
        <p:spPr>
          <a:xfrm>
            <a:off x="1106264" y="1938191"/>
            <a:ext cx="3267775" cy="2444023"/>
          </a:xfrm>
          <a:prstGeom prst="rect">
            <a:avLst/>
          </a:prstGeom>
        </p:spPr>
      </p:pic>
    </p:spTree>
    <p:extLst>
      <p:ext uri="{BB962C8B-B14F-4D97-AF65-F5344CB8AC3E}">
        <p14:creationId xmlns:p14="http://schemas.microsoft.com/office/powerpoint/2010/main" val="268521575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A9819-E058-DC4F-FB99-88F20442D9F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E1662E38-DE72-ADF3-A38E-08ED40DCC2AD}"/>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a:t>Learning outcome #6.3 – 2x2 Multimode Interference Coupler – Optimization (II)</a:t>
            </a:r>
            <a:br>
              <a:rPr lang="en-US" sz="2500"/>
            </a:br>
            <a:r>
              <a:rPr lang="en-US" b="0"/>
              <a:t>Wavelength 1.55 µm, </a:t>
            </a:r>
            <a:r>
              <a:rPr lang="en-US" b="0" err="1"/>
              <a:t>wMMI</a:t>
            </a:r>
            <a:r>
              <a:rPr lang="en-US" b="0"/>
              <a:t> = 6.6 µm</a:t>
            </a:r>
            <a:endParaRPr lang="en-US" sz="2500" b="0">
              <a:latin typeface="+mj-lt"/>
              <a:cs typeface="Lucida Sans"/>
            </a:endParaRPr>
          </a:p>
        </p:txBody>
      </p:sp>
      <p:pic>
        <p:nvPicPr>
          <p:cNvPr id="83" name="Gráfico 82">
            <a:extLst>
              <a:ext uri="{FF2B5EF4-FFF2-40B4-BE49-F238E27FC236}">
                <a16:creationId xmlns:a16="http://schemas.microsoft.com/office/drawing/2014/main" id="{1CD4B005-DA76-DF7C-8A51-CA16DFD2CA3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0B06F952-20FD-3223-6AB8-83339507AFE8}"/>
              </a:ext>
            </a:extLst>
          </p:cNvPr>
          <p:cNvSpPr>
            <a:spLocks noGrp="1"/>
          </p:cNvSpPr>
          <p:nvPr>
            <p:ph type="sldNum" sz="quarter" idx="7"/>
          </p:nvPr>
        </p:nvSpPr>
        <p:spPr/>
        <p:txBody>
          <a:bodyPr/>
          <a:lstStyle/>
          <a:p>
            <a:fld id="{B6F15528-21DE-4FAA-801E-634DDDAF4B2B}" type="slidenum">
              <a:rPr lang="es-ES" smtClean="0"/>
              <a:t>14</a:t>
            </a:fld>
            <a:endParaRPr lang="es-ES"/>
          </a:p>
        </p:txBody>
      </p:sp>
      <p:sp>
        <p:nvSpPr>
          <p:cNvPr id="3" name="Marcador de pie de página 2">
            <a:extLst>
              <a:ext uri="{FF2B5EF4-FFF2-40B4-BE49-F238E27FC236}">
                <a16:creationId xmlns:a16="http://schemas.microsoft.com/office/drawing/2014/main" id="{8B06152F-2A2C-A19B-581F-494FDFF33752}"/>
              </a:ext>
            </a:extLst>
          </p:cNvPr>
          <p:cNvSpPr>
            <a:spLocks noGrp="1"/>
          </p:cNvSpPr>
          <p:nvPr>
            <p:ph type="ftr" sz="quarter" idx="5"/>
          </p:nvPr>
        </p:nvSpPr>
        <p:spPr/>
        <p:txBody>
          <a:bodyPr/>
          <a:lstStyle/>
          <a:p>
            <a:pPr marL="12700">
              <a:spcBef>
                <a:spcPts val="15"/>
              </a:spcBef>
            </a:pPr>
            <a:r>
              <a:rPr lang="es-ES" spc="-5"/>
              <a:t>LAB 2.0. COUPLERS</a:t>
            </a:r>
          </a:p>
        </p:txBody>
      </p:sp>
      <p:sp>
        <p:nvSpPr>
          <p:cNvPr id="2" name="CuadroTexto 1">
            <a:extLst>
              <a:ext uri="{FF2B5EF4-FFF2-40B4-BE49-F238E27FC236}">
                <a16:creationId xmlns:a16="http://schemas.microsoft.com/office/drawing/2014/main" id="{EF5B7948-A25A-9043-7061-DD15A9023924}"/>
              </a:ext>
            </a:extLst>
          </p:cNvPr>
          <p:cNvSpPr txBox="1"/>
          <p:nvPr/>
        </p:nvSpPr>
        <p:spPr>
          <a:xfrm>
            <a:off x="609441" y="4819471"/>
            <a:ext cx="11199971" cy="1569660"/>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r>
              <a:rPr lang="es-ES" sz="1200" dirty="0">
                <a:latin typeface="Arial" panose="020B0604020202020204" pitchFamily="34" charset="0"/>
                <a:cs typeface="Arial" panose="020B0604020202020204" pitchFamily="34" charset="0"/>
              </a:rPr>
              <a:t>Al ajustar la longitud y aumentar la anchura de las guías de entrada/salida (incremento de 0.8 </a:t>
            </a:r>
            <a:r>
              <a:rPr lang="es-ES" sz="1200" dirty="0" err="1">
                <a:latin typeface="Arial" panose="020B0604020202020204" pitchFamily="34" charset="0"/>
                <a:cs typeface="Arial" panose="020B0604020202020204" pitchFamily="34" charset="0"/>
              </a:rPr>
              <a:t>μm</a:t>
            </a:r>
            <a:r>
              <a:rPr lang="es-ES" sz="1200" dirty="0">
                <a:latin typeface="Arial" panose="020B0604020202020204" pitchFamily="34" charset="0"/>
                <a:cs typeface="Arial" panose="020B0604020202020204" pitchFamily="34" charset="0"/>
              </a:rPr>
              <a:t>), se logra optimizar el dispositivo para un reparto de potencia casi ideal de 50.60% / 49.40%.</a:t>
            </a:r>
          </a:p>
          <a:p>
            <a:r>
              <a:rPr lang="es-ES" sz="1200" dirty="0">
                <a:latin typeface="Arial" panose="020B0604020202020204" pitchFamily="34" charset="0"/>
                <a:cs typeface="Arial" panose="020B0604020202020204" pitchFamily="34" charset="0"/>
              </a:rPr>
              <a:t>Gracias a esta mejora en la adaptación modal, las pérdidas por exceso bajan hasta los 0.0923 dB, mejorando drásticamente la eficiencia general. Este resultado se debe a que la condición de autoimagen se cumple con mayor precisión al final del cuerpo del MMI, permitiendo que las guías de salida capturen los máximos de intensidad de luz de forma más efectiva, como se observa en la propagación EME.</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C8036B97-F577-1F3C-3CE2-BD45F7D1FFC2}"/>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Imagen 5">
            <a:extLst>
              <a:ext uri="{FF2B5EF4-FFF2-40B4-BE49-F238E27FC236}">
                <a16:creationId xmlns:a16="http://schemas.microsoft.com/office/drawing/2014/main" id="{A04C76FE-2A54-B0EF-68FC-B9B2823DACFE}"/>
              </a:ext>
            </a:extLst>
          </p:cNvPr>
          <p:cNvPicPr>
            <a:picLocks noChangeAspect="1"/>
          </p:cNvPicPr>
          <p:nvPr/>
        </p:nvPicPr>
        <p:blipFill>
          <a:blip r:embed="rId4"/>
          <a:stretch>
            <a:fillRect/>
          </a:stretch>
        </p:blipFill>
        <p:spPr>
          <a:xfrm>
            <a:off x="5847039" y="2098019"/>
            <a:ext cx="5381625" cy="2209800"/>
          </a:xfrm>
          <a:prstGeom prst="rect">
            <a:avLst/>
          </a:prstGeom>
        </p:spPr>
      </p:pic>
      <p:pic>
        <p:nvPicPr>
          <p:cNvPr id="11" name="Imagen 10">
            <a:extLst>
              <a:ext uri="{FF2B5EF4-FFF2-40B4-BE49-F238E27FC236}">
                <a16:creationId xmlns:a16="http://schemas.microsoft.com/office/drawing/2014/main" id="{6612CABF-1021-1FF4-C515-DD87F9C9C8FD}"/>
              </a:ext>
            </a:extLst>
          </p:cNvPr>
          <p:cNvPicPr>
            <a:picLocks noChangeAspect="1"/>
          </p:cNvPicPr>
          <p:nvPr/>
        </p:nvPicPr>
        <p:blipFill>
          <a:blip r:embed="rId5"/>
          <a:stretch>
            <a:fillRect/>
          </a:stretch>
        </p:blipFill>
        <p:spPr>
          <a:xfrm>
            <a:off x="846144" y="1529422"/>
            <a:ext cx="4124842" cy="3002204"/>
          </a:xfrm>
          <a:prstGeom prst="rect">
            <a:avLst/>
          </a:prstGeom>
        </p:spPr>
      </p:pic>
    </p:spTree>
    <p:extLst>
      <p:ext uri="{BB962C8B-B14F-4D97-AF65-F5344CB8AC3E}">
        <p14:creationId xmlns:p14="http://schemas.microsoft.com/office/powerpoint/2010/main" val="102373122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A1363-C83E-82B6-7BDE-AD2801F8B66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E256546-3103-104D-A87F-78AEBE5D595E}"/>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a:t>Learning outcome #7 – 1x4 Multimode Interference Coupler </a:t>
            </a:r>
            <a:br>
              <a:rPr lang="en-US" sz="2500"/>
            </a:br>
            <a:r>
              <a:rPr lang="en-US" b="0"/>
              <a:t>Wavelength 1.55 µm, </a:t>
            </a:r>
            <a:r>
              <a:rPr lang="en-US" b="0" err="1"/>
              <a:t>wMMI</a:t>
            </a:r>
            <a:r>
              <a:rPr lang="en-US" b="0"/>
              <a:t> = ? µm</a:t>
            </a:r>
            <a:endParaRPr lang="en-US" sz="2500" b="0">
              <a:latin typeface="+mj-lt"/>
              <a:cs typeface="Lucida Sans"/>
            </a:endParaRPr>
          </a:p>
        </p:txBody>
      </p:sp>
      <p:pic>
        <p:nvPicPr>
          <p:cNvPr id="83" name="Gráfico 82">
            <a:extLst>
              <a:ext uri="{FF2B5EF4-FFF2-40B4-BE49-F238E27FC236}">
                <a16:creationId xmlns:a16="http://schemas.microsoft.com/office/drawing/2014/main" id="{4BFCA3D8-29F6-7091-7099-77888A9F863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42E75535-0FBC-4C5F-9AC5-7008914FCF56}"/>
              </a:ext>
            </a:extLst>
          </p:cNvPr>
          <p:cNvSpPr>
            <a:spLocks noGrp="1"/>
          </p:cNvSpPr>
          <p:nvPr>
            <p:ph type="sldNum" sz="quarter" idx="7"/>
          </p:nvPr>
        </p:nvSpPr>
        <p:spPr/>
        <p:txBody>
          <a:bodyPr/>
          <a:lstStyle/>
          <a:p>
            <a:fld id="{B6F15528-21DE-4FAA-801E-634DDDAF4B2B}" type="slidenum">
              <a:rPr lang="es-ES" smtClean="0"/>
              <a:t>15</a:t>
            </a:fld>
            <a:endParaRPr lang="es-ES"/>
          </a:p>
        </p:txBody>
      </p:sp>
      <p:sp>
        <p:nvSpPr>
          <p:cNvPr id="3" name="Marcador de pie de página 2">
            <a:extLst>
              <a:ext uri="{FF2B5EF4-FFF2-40B4-BE49-F238E27FC236}">
                <a16:creationId xmlns:a16="http://schemas.microsoft.com/office/drawing/2014/main" id="{07AC2AFF-A7D9-EBCD-7C5A-6CDF61B69366}"/>
              </a:ext>
            </a:extLst>
          </p:cNvPr>
          <p:cNvSpPr>
            <a:spLocks noGrp="1"/>
          </p:cNvSpPr>
          <p:nvPr>
            <p:ph type="ftr" sz="quarter" idx="5"/>
          </p:nvPr>
        </p:nvSpPr>
        <p:spPr/>
        <p:txBody>
          <a:bodyPr/>
          <a:lstStyle/>
          <a:p>
            <a:pPr marL="12700">
              <a:spcBef>
                <a:spcPts val="15"/>
              </a:spcBef>
            </a:pPr>
            <a:r>
              <a:rPr lang="es-ES" spc="-5"/>
              <a:t>LAB 2.0. COUPLERS</a:t>
            </a:r>
          </a:p>
        </p:txBody>
      </p:sp>
      <p:sp>
        <p:nvSpPr>
          <p:cNvPr id="2" name="CuadroTexto 1">
            <a:extLst>
              <a:ext uri="{FF2B5EF4-FFF2-40B4-BE49-F238E27FC236}">
                <a16:creationId xmlns:a16="http://schemas.microsoft.com/office/drawing/2014/main" id="{42D73A2E-0E5A-8A39-6B70-F9E94D6DBB70}"/>
              </a:ext>
            </a:extLst>
          </p:cNvPr>
          <p:cNvSpPr txBox="1"/>
          <p:nvPr/>
        </p:nvSpPr>
        <p:spPr>
          <a:xfrm>
            <a:off x="609441" y="4819471"/>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a:latin typeface="Arial" panose="020B0604020202020204" pitchFamily="34" charset="0"/>
                <a:cs typeface="Arial" panose="020B0604020202020204" pitchFamily="34" charset="0"/>
              </a:rPr>
              <a:t>Repeat all the design process for a 1x4 MMI Coupler.  </a:t>
            </a:r>
          </a:p>
          <a:p>
            <a:pPr algn="just"/>
            <a:r>
              <a:rPr lang="es-ES" sz="1200">
                <a:latin typeface="Arial" panose="020B0604020202020204" pitchFamily="34" charset="0"/>
                <a:cs typeface="Arial" panose="020B0604020202020204" pitchFamily="34" charset="0"/>
              </a:rPr>
              <a:t>Al optimizar el MMI de 4 salidas se obtiene un reparto de potencia muy equilibrado entre los cuatro puertos, con ratios de 24.41%, 25.60%, 25.60% y 24.40%, muy próximos al valor ideal del 25%. Además, las pérdidas de exceso son muy bajas (0.0526dB), por debajo del objetivo de 0.1dB. Esto indica que la longitud del MMI y la anchura de las guías I/O permiten una buena formación de las autoimágenes y una transferencia eficiente hacia las cuatro salidas.</a:t>
            </a:r>
            <a:endParaRPr lang="en-US" sz="1200">
              <a:latin typeface="Arial" panose="020B0604020202020204" pitchFamily="34" charset="0"/>
              <a:cs typeface="Arial" panose="020B0604020202020204" pitchFamily="34" charset="0"/>
            </a:endParaRPr>
          </a:p>
          <a:p>
            <a:pPr algn="just"/>
            <a:endParaRPr lang="en-US" sz="1200">
              <a:latin typeface="Arial" panose="020B0604020202020204" pitchFamily="34" charset="0"/>
              <a:cs typeface="Arial" panose="020B0604020202020204" pitchFamily="34" charset="0"/>
            </a:endParaRPr>
          </a:p>
          <a:p>
            <a:pPr algn="just"/>
            <a:endParaRPr lang="en-US" sz="120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AFB86587-21D4-5A33-7D00-DDF170C919BA}"/>
              </a:ext>
            </a:extLst>
          </p:cNvPr>
          <p:cNvSpPr/>
          <p:nvPr/>
        </p:nvSpPr>
        <p:spPr>
          <a:xfrm>
            <a:off x="609441" y="1377510"/>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magen 4">
            <a:extLst>
              <a:ext uri="{FF2B5EF4-FFF2-40B4-BE49-F238E27FC236}">
                <a16:creationId xmlns:a16="http://schemas.microsoft.com/office/drawing/2014/main" id="{35A69CD1-54DE-8DD1-BB02-DC11E14EDAEF}"/>
              </a:ext>
            </a:extLst>
          </p:cNvPr>
          <p:cNvPicPr>
            <a:picLocks noChangeAspect="1"/>
          </p:cNvPicPr>
          <p:nvPr/>
        </p:nvPicPr>
        <p:blipFill>
          <a:blip r:embed="rId4"/>
          <a:stretch>
            <a:fillRect/>
          </a:stretch>
        </p:blipFill>
        <p:spPr>
          <a:xfrm>
            <a:off x="875253" y="1750360"/>
            <a:ext cx="5429535" cy="2710971"/>
          </a:xfrm>
          <a:prstGeom prst="rect">
            <a:avLst/>
          </a:prstGeom>
        </p:spPr>
      </p:pic>
      <p:pic>
        <p:nvPicPr>
          <p:cNvPr id="9" name="Imagen 8">
            <a:extLst>
              <a:ext uri="{FF2B5EF4-FFF2-40B4-BE49-F238E27FC236}">
                <a16:creationId xmlns:a16="http://schemas.microsoft.com/office/drawing/2014/main" id="{2E0D2D9C-20DC-D1CF-F6F9-0E9ECD81AE86}"/>
              </a:ext>
            </a:extLst>
          </p:cNvPr>
          <p:cNvPicPr>
            <a:picLocks noChangeAspect="1"/>
          </p:cNvPicPr>
          <p:nvPr/>
        </p:nvPicPr>
        <p:blipFill>
          <a:blip r:embed="rId5"/>
          <a:stretch>
            <a:fillRect/>
          </a:stretch>
        </p:blipFill>
        <p:spPr>
          <a:xfrm>
            <a:off x="6877850" y="2237225"/>
            <a:ext cx="4438897" cy="2026117"/>
          </a:xfrm>
          <a:prstGeom prst="rect">
            <a:avLst/>
          </a:prstGeom>
        </p:spPr>
      </p:pic>
    </p:spTree>
    <p:extLst>
      <p:ext uri="{BB962C8B-B14F-4D97-AF65-F5344CB8AC3E}">
        <p14:creationId xmlns:p14="http://schemas.microsoft.com/office/powerpoint/2010/main" val="6998643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1090042"/>
          </a:xfrm>
          <a:prstGeom prst="rect">
            <a:avLst/>
          </a:prstGeom>
        </p:spPr>
        <p:txBody>
          <a:bodyPr vert="horz" wrap="square" lIns="0" tIns="12700" rIns="0" bIns="0" rtlCol="0">
            <a:spAutoFit/>
          </a:bodyPr>
          <a:lstStyle/>
          <a:p>
            <a:pPr marL="12700">
              <a:lnSpc>
                <a:spcPct val="100000"/>
              </a:lnSpc>
              <a:spcBef>
                <a:spcPts val="100"/>
              </a:spcBef>
            </a:pPr>
            <a:r>
              <a:rPr lang="en-US" sz="2500"/>
              <a:t>Extra #1 – Directional coupler gap dependence</a:t>
            </a:r>
            <a:br>
              <a:rPr lang="en-US" sz="2500"/>
            </a:br>
            <a:r>
              <a:rPr lang="en-US" b="0"/>
              <a:t>Wavelength 1.55 µm, width 1.0 µm, </a:t>
            </a:r>
            <a:r>
              <a:rPr lang="en-US"/>
              <a:t>gap 0.2-2.4 µm </a:t>
            </a:r>
            <a:r>
              <a:rPr lang="en-US" b="0"/>
              <a:t>(step 0.2 µm)</a:t>
            </a:r>
            <a:br>
              <a:rPr lang="es-ES" sz="2500" spc="-5">
                <a:latin typeface="+mj-lt"/>
                <a:cs typeface="Lucida Sans"/>
              </a:rPr>
            </a:br>
            <a:endParaRPr sz="2500" b="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16</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2.0. COUPLERS</a:t>
            </a:r>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D0F8CF3B-B920-DBFC-F825-0C87B51EADA7}"/>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Make conclusions and observations from your results</a:t>
                </a:r>
              </a:p>
              <a:p>
                <a:pPr algn="just"/>
                <a:endParaRPr lang="en-US" sz="1200"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Al aumentar el gap, la longitud de acoplo L</a:t>
                </a:r>
                <a14:m>
                  <m:oMath xmlns:m="http://schemas.openxmlformats.org/officeDocument/2006/math">
                    <m:r>
                      <a:rPr lang="en-US" sz="1200" i="1">
                        <a:latin typeface="Cambria Math" panose="02040503050406030204" pitchFamily="18" charset="0"/>
                        <a:ea typeface="Cambria Math" panose="02040503050406030204" pitchFamily="18" charset="0"/>
                        <a:cs typeface="Arial" panose="020B0604020202020204" pitchFamily="34" charset="0"/>
                      </a:rPr>
                      <m:t>𝜋</m:t>
                    </m:r>
                  </m:oMath>
                </a14:m>
                <a:r>
                  <a:rPr lang="es-ES" sz="1200" dirty="0">
                    <a:latin typeface="Arial" panose="020B0604020202020204" pitchFamily="34" charset="0"/>
                    <a:cs typeface="Arial" panose="020B0604020202020204" pitchFamily="34" charset="0"/>
                  </a:rPr>
                  <a:t> aumenta en todos los casos, ya que el solapamiento entre los campos de ambas guías disminuye y el acoplamiento se hace más débil. En la guía </a:t>
                </a:r>
                <a:r>
                  <a:rPr lang="es-ES" sz="1200" dirty="0" err="1">
                    <a:latin typeface="Arial" panose="020B0604020202020204" pitchFamily="34" charset="0"/>
                    <a:cs typeface="Arial" panose="020B0604020202020204" pitchFamily="34" charset="0"/>
                  </a:rPr>
                  <a:t>deep</a:t>
                </a:r>
                <a:r>
                  <a:rPr lang="es-ES" sz="1200" dirty="0">
                    <a:latin typeface="Arial" panose="020B0604020202020204" pitchFamily="34" charset="0"/>
                    <a:cs typeface="Arial" panose="020B0604020202020204" pitchFamily="34" charset="0"/>
                  </a:rPr>
                  <a:t>, este aumento es mucho más brusco, especialmente para gaps grandes, porque el campo está más confinado y, al separar las guías, el acoplamiento cae rápidamente. En la guía </a:t>
                </a:r>
                <a:r>
                  <a:rPr lang="es-ES" sz="1200" dirty="0" err="1">
                    <a:latin typeface="Arial" panose="020B0604020202020204" pitchFamily="34" charset="0"/>
                    <a:cs typeface="Arial" panose="020B0604020202020204" pitchFamily="34" charset="0"/>
                  </a:rPr>
                  <a:t>shallow</a:t>
                </a:r>
                <a:r>
                  <a:rPr lang="es-ES" sz="1200" dirty="0">
                    <a:latin typeface="Arial" panose="020B0604020202020204" pitchFamily="34" charset="0"/>
                    <a:cs typeface="Arial" panose="020B0604020202020204" pitchFamily="34" charset="0"/>
                  </a:rPr>
                  <a:t>, el crecimiento de L</a:t>
                </a:r>
                <a14:m>
                  <m:oMath xmlns:m="http://schemas.openxmlformats.org/officeDocument/2006/math">
                    <m:r>
                      <a:rPr lang="es-ES" sz="1200" i="1" smtClean="0">
                        <a:latin typeface="Cambria Math" panose="02040503050406030204" pitchFamily="18" charset="0"/>
                        <a:ea typeface="Cambria Math" panose="02040503050406030204" pitchFamily="18" charset="0"/>
                        <a:cs typeface="Arial" panose="020B0604020202020204" pitchFamily="34" charset="0"/>
                      </a:rPr>
                      <m:t>𝜋</m:t>
                    </m:r>
                    <m:r>
                      <a:rPr lang="es-ES" sz="1200" b="0" i="1" smtClean="0">
                        <a:latin typeface="Cambria Math" panose="02040503050406030204" pitchFamily="18" charset="0"/>
                        <a:ea typeface="Cambria Math" panose="02040503050406030204" pitchFamily="18" charset="0"/>
                        <a:cs typeface="Arial" panose="020B0604020202020204" pitchFamily="34" charset="0"/>
                      </a:rPr>
                      <m:t> </m:t>
                    </m:r>
                  </m:oMath>
                </a14:m>
                <a:r>
                  <a:rPr lang="es-ES" sz="1200" dirty="0">
                    <a:latin typeface="Arial" panose="020B0604020202020204" pitchFamily="34" charset="0"/>
                    <a:cs typeface="Arial" panose="020B0604020202020204" pitchFamily="34" charset="0"/>
                  </a:rPr>
                  <a:t>es más progresivo, ya que el modo se extiende más por el </a:t>
                </a:r>
                <a:r>
                  <a:rPr lang="es-ES" sz="1200" dirty="0" err="1">
                    <a:latin typeface="Arial" panose="020B0604020202020204" pitchFamily="34" charset="0"/>
                    <a:cs typeface="Arial" panose="020B0604020202020204" pitchFamily="34" charset="0"/>
                  </a:rPr>
                  <a:t>cladding</a:t>
                </a:r>
                <a:r>
                  <a:rPr lang="es-ES" sz="1200" dirty="0">
                    <a:latin typeface="Arial" panose="020B0604020202020204" pitchFamily="34" charset="0"/>
                    <a:cs typeface="Arial" panose="020B0604020202020204" pitchFamily="34" charset="0"/>
                  </a:rPr>
                  <a:t> y mantiene cierto acoplamiento a mayores distancias. También se observan diferencias entre las polarizaciones TE y TM, debido a que sus distribuciones de campo y su confinamiento no son iguales.</a:t>
                </a:r>
                <a:endParaRPr lang="en-US" sz="1200" dirty="0">
                  <a:latin typeface="Arial" panose="020B0604020202020204" pitchFamily="34" charset="0"/>
                  <a:cs typeface="Arial" panose="020B0604020202020204" pitchFamily="34" charset="0"/>
                </a:endParaRPr>
              </a:p>
            </p:txBody>
          </p:sp>
        </mc:Choice>
        <mc:Fallback xmlns="">
          <p:sp>
            <p:nvSpPr>
              <p:cNvPr id="2" name="CuadroTexto 1">
                <a:extLst>
                  <a:ext uri="{FF2B5EF4-FFF2-40B4-BE49-F238E27FC236}">
                    <a16:creationId xmlns:a16="http://schemas.microsoft.com/office/drawing/2014/main" id="{D0F8CF3B-B920-DBFC-F825-0C87B51EADA7}"/>
                  </a:ext>
                </a:extLst>
              </p:cNvPr>
              <p:cNvSpPr txBox="1">
                <a:spLocks noRot="1" noChangeAspect="1" noMove="1" noResize="1" noEditPoints="1" noAdjustHandles="1" noChangeArrowheads="1" noChangeShapeType="1" noTextEdit="1"/>
              </p:cNvSpPr>
              <p:nvPr/>
            </p:nvSpPr>
            <p:spPr>
              <a:xfrm>
                <a:off x="609441" y="4860334"/>
                <a:ext cx="11199971" cy="1384995"/>
              </a:xfrm>
              <a:prstGeom prst="rect">
                <a:avLst/>
              </a:prstGeom>
              <a:blipFill>
                <a:blip r:embed="rId4"/>
                <a:stretch>
                  <a:fillRect b="-862"/>
                </a:stretch>
              </a:blipFill>
              <a:ln w="28575">
                <a:solidFill>
                  <a:srgbClr val="E0700D"/>
                </a:solidFill>
              </a:ln>
            </p:spPr>
            <p:txBody>
              <a:bodyPr/>
              <a:lstStyle/>
              <a:p>
                <a:r>
                  <a:rPr lang="es-ES">
                    <a:noFill/>
                  </a:rPr>
                  <a:t> </a:t>
                </a:r>
              </a:p>
            </p:txBody>
          </p:sp>
        </mc:Fallback>
      </mc:AlternateContent>
      <p:sp>
        <p:nvSpPr>
          <p:cNvPr id="5" name="Rectángulo 4">
            <a:extLst>
              <a:ext uri="{FF2B5EF4-FFF2-40B4-BE49-F238E27FC236}">
                <a16:creationId xmlns:a16="http://schemas.microsoft.com/office/drawing/2014/main" id="{E7488849-10A1-FB48-F511-E57B062CD7E2}"/>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68726DAB-1B5F-39D1-63A0-BB708EA6E17F}"/>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adroTexto 6">
            <a:extLst>
              <a:ext uri="{FF2B5EF4-FFF2-40B4-BE49-F238E27FC236}">
                <a16:creationId xmlns:a16="http://schemas.microsoft.com/office/drawing/2014/main" id="{6D309BFB-98FD-0CBA-3C6A-346D8859893B}"/>
              </a:ext>
            </a:extLst>
          </p:cNvPr>
          <p:cNvSpPr txBox="1"/>
          <p:nvPr/>
        </p:nvSpPr>
        <p:spPr>
          <a:xfrm>
            <a:off x="6331152" y="4342178"/>
            <a:ext cx="2269787" cy="369332"/>
          </a:xfrm>
          <a:prstGeom prst="rect">
            <a:avLst/>
          </a:prstGeom>
          <a:noFill/>
        </p:spPr>
        <p:txBody>
          <a:bodyPr wrap="square">
            <a:spAutoFit/>
          </a:bodyPr>
          <a:lstStyle/>
          <a:p>
            <a:r>
              <a:rPr lang="en-US"/>
              <a:t>slab = 150nm</a:t>
            </a:r>
            <a:endParaRPr lang="es-ES"/>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E9BD6C85-02F1-7B54-41E3-E3D9883786D8}"/>
                  </a:ext>
                </a:extLst>
              </p:cNvPr>
              <p:cNvSpPr txBox="1"/>
              <p:nvPr/>
            </p:nvSpPr>
            <p:spPr>
              <a:xfrm>
                <a:off x="1079403" y="2709096"/>
                <a:ext cx="4546634" cy="923330"/>
              </a:xfrm>
              <a:prstGeom prst="rect">
                <a:avLst/>
              </a:prstGeom>
              <a:noFill/>
            </p:spPr>
            <p:txBody>
              <a:bodyPr wrap="square" rtlCol="0">
                <a:spAutoFit/>
              </a:bodyPr>
              <a:lstStyle/>
              <a:p>
                <a:pPr algn="ctr"/>
                <a:r>
                  <a:rPr lang="en-US" b="1"/>
                  <a:t>deep</a:t>
                </a:r>
                <a:r>
                  <a:rPr lang="en-US"/>
                  <a:t> waveguide</a:t>
                </a:r>
              </a:p>
              <a:p>
                <a:pPr algn="ctr"/>
                <a:endParaRPr lang="en-US"/>
              </a:p>
              <a:p>
                <a:pPr algn="ctr"/>
                <a:r>
                  <a:rPr lang="en-US"/>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a:t> vs gap for TE and TM plot here</a:t>
                </a:r>
              </a:p>
            </p:txBody>
          </p:sp>
        </mc:Choice>
        <mc:Fallback xmlns="">
          <p:sp>
            <p:nvSpPr>
              <p:cNvPr id="8" name="CuadroTexto 7">
                <a:extLst>
                  <a:ext uri="{FF2B5EF4-FFF2-40B4-BE49-F238E27FC236}">
                    <a16:creationId xmlns:a16="http://schemas.microsoft.com/office/drawing/2014/main" id="{E9BD6C85-02F1-7B54-41E3-E3D9883786D8}"/>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7431A41C-EEB3-44D0-4622-A915E258C8F0}"/>
                  </a:ext>
                </a:extLst>
              </p:cNvPr>
              <p:cNvSpPr txBox="1"/>
              <p:nvPr/>
            </p:nvSpPr>
            <p:spPr>
              <a:xfrm>
                <a:off x="6883366" y="2709096"/>
                <a:ext cx="4546634" cy="923330"/>
              </a:xfrm>
              <a:prstGeom prst="rect">
                <a:avLst/>
              </a:prstGeom>
              <a:noFill/>
            </p:spPr>
            <p:txBody>
              <a:bodyPr wrap="square" rtlCol="0">
                <a:spAutoFit/>
              </a:bodyPr>
              <a:lstStyle/>
              <a:p>
                <a:pPr algn="ctr"/>
                <a:r>
                  <a:rPr lang="en-US" b="1"/>
                  <a:t>shallow</a:t>
                </a:r>
                <a:r>
                  <a:rPr lang="en-US"/>
                  <a:t> waveguide</a:t>
                </a:r>
              </a:p>
              <a:p>
                <a:pPr algn="ctr"/>
                <a:endParaRPr lang="en-US"/>
              </a:p>
              <a:p>
                <a:pPr algn="ctr"/>
                <a:r>
                  <a:rPr lang="en-US"/>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a:t> vs gap for TE and TM plot here</a:t>
                </a:r>
              </a:p>
            </p:txBody>
          </p:sp>
        </mc:Choice>
        <mc:Fallback xmlns="">
          <p:sp>
            <p:nvSpPr>
              <p:cNvPr id="9" name="CuadroTexto 8">
                <a:extLst>
                  <a:ext uri="{FF2B5EF4-FFF2-40B4-BE49-F238E27FC236}">
                    <a16:creationId xmlns:a16="http://schemas.microsoft.com/office/drawing/2014/main" id="{7431A41C-EEB3-44D0-4622-A915E258C8F0}"/>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n-US">
                    <a:noFill/>
                  </a:rPr>
                  <a:t> </a:t>
                </a:r>
              </a:p>
            </p:txBody>
          </p:sp>
        </mc:Fallback>
      </mc:AlternateContent>
      <p:pic>
        <p:nvPicPr>
          <p:cNvPr id="10" name="Imagen 9">
            <a:extLst>
              <a:ext uri="{FF2B5EF4-FFF2-40B4-BE49-F238E27FC236}">
                <a16:creationId xmlns:a16="http://schemas.microsoft.com/office/drawing/2014/main" id="{9703C1BB-7FE0-20E4-A2ED-2DF53C9D51A8}"/>
              </a:ext>
            </a:extLst>
          </p:cNvPr>
          <p:cNvPicPr>
            <a:picLocks noChangeAspect="1"/>
          </p:cNvPicPr>
          <p:nvPr/>
        </p:nvPicPr>
        <p:blipFill>
          <a:blip r:embed="rId7"/>
          <a:stretch>
            <a:fillRect/>
          </a:stretch>
        </p:blipFill>
        <p:spPr>
          <a:xfrm>
            <a:off x="1216866" y="1647091"/>
            <a:ext cx="4271708" cy="2819807"/>
          </a:xfrm>
          <a:prstGeom prst="rect">
            <a:avLst/>
          </a:prstGeom>
        </p:spPr>
      </p:pic>
      <p:pic>
        <p:nvPicPr>
          <p:cNvPr id="14" name="Imagen 13">
            <a:extLst>
              <a:ext uri="{FF2B5EF4-FFF2-40B4-BE49-F238E27FC236}">
                <a16:creationId xmlns:a16="http://schemas.microsoft.com/office/drawing/2014/main" id="{69CEB966-C816-3A2C-25E1-C6FA5FA3C60F}"/>
              </a:ext>
            </a:extLst>
          </p:cNvPr>
          <p:cNvPicPr>
            <a:picLocks noChangeAspect="1"/>
          </p:cNvPicPr>
          <p:nvPr/>
        </p:nvPicPr>
        <p:blipFill>
          <a:blip r:embed="rId8"/>
          <a:stretch>
            <a:fillRect/>
          </a:stretch>
        </p:blipFill>
        <p:spPr>
          <a:xfrm>
            <a:off x="6755593" y="1498925"/>
            <a:ext cx="4405314" cy="2936876"/>
          </a:xfrm>
          <a:prstGeom prst="rect">
            <a:avLst/>
          </a:prstGeom>
        </p:spPr>
      </p:pic>
    </p:spTree>
    <p:extLst>
      <p:ext uri="{BB962C8B-B14F-4D97-AF65-F5344CB8AC3E}">
        <p14:creationId xmlns:p14="http://schemas.microsoft.com/office/powerpoint/2010/main" val="17979636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C60F79-E2ED-1B1B-6289-A1259E80858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AC39480-E3E5-69B1-401F-A50C45531EF2}"/>
              </a:ext>
            </a:extLst>
          </p:cNvPr>
          <p:cNvSpPr txBox="1">
            <a:spLocks noGrp="1"/>
          </p:cNvSpPr>
          <p:nvPr>
            <p:ph type="title"/>
          </p:nvPr>
        </p:nvSpPr>
        <p:spPr>
          <a:xfrm>
            <a:off x="685800" y="408883"/>
            <a:ext cx="10994410" cy="1474763"/>
          </a:xfrm>
          <a:prstGeom prst="rect">
            <a:avLst/>
          </a:prstGeom>
        </p:spPr>
        <p:txBody>
          <a:bodyPr vert="horz" wrap="square" lIns="0" tIns="12700" rIns="0" bIns="0" rtlCol="0">
            <a:spAutoFit/>
          </a:bodyPr>
          <a:lstStyle/>
          <a:p>
            <a:pPr marL="12700">
              <a:lnSpc>
                <a:spcPct val="100000"/>
              </a:lnSpc>
              <a:spcBef>
                <a:spcPts val="100"/>
              </a:spcBef>
            </a:pPr>
            <a:r>
              <a:rPr lang="en-US" sz="2500"/>
              <a:t>Extra #2 – Directional wavelength dependence</a:t>
            </a:r>
            <a:br>
              <a:rPr lang="en-US" sz="2500"/>
            </a:br>
            <a:r>
              <a:rPr lang="en-US" b="0"/>
              <a:t>Wavelengths </a:t>
            </a:r>
            <a:r>
              <a:rPr lang="en-US"/>
              <a:t>from 1.5 to 1.7 µm</a:t>
            </a:r>
            <a:r>
              <a:rPr lang="en-US" b="0"/>
              <a:t>, gap = 0.6 µm, width 1.0 µm</a:t>
            </a:r>
            <a:br>
              <a:rPr lang="en-US" b="0"/>
            </a:br>
            <a:br>
              <a:rPr lang="es-ES" sz="2500" spc="-5">
                <a:latin typeface="+mj-lt"/>
                <a:cs typeface="Lucida Sans"/>
              </a:rPr>
            </a:br>
            <a:endParaRPr sz="2500" b="0">
              <a:latin typeface="+mj-lt"/>
              <a:cs typeface="Lucida Sans"/>
            </a:endParaRPr>
          </a:p>
        </p:txBody>
      </p:sp>
      <p:pic>
        <p:nvPicPr>
          <p:cNvPr id="83" name="Gráfico 82">
            <a:extLst>
              <a:ext uri="{FF2B5EF4-FFF2-40B4-BE49-F238E27FC236}">
                <a16:creationId xmlns:a16="http://schemas.microsoft.com/office/drawing/2014/main" id="{4BEE8680-2E49-EF52-0E73-7736679A4D7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73F99BBB-5F10-0BE4-E2DE-E78EAA82F552}"/>
              </a:ext>
            </a:extLst>
          </p:cNvPr>
          <p:cNvSpPr>
            <a:spLocks noGrp="1"/>
          </p:cNvSpPr>
          <p:nvPr>
            <p:ph type="sldNum" sz="quarter" idx="7"/>
          </p:nvPr>
        </p:nvSpPr>
        <p:spPr/>
        <p:txBody>
          <a:bodyPr/>
          <a:lstStyle/>
          <a:p>
            <a:fld id="{B6F15528-21DE-4FAA-801E-634DDDAF4B2B}" type="slidenum">
              <a:rPr lang="es-ES" smtClean="0"/>
              <a:t>17</a:t>
            </a:fld>
            <a:endParaRPr lang="es-ES"/>
          </a:p>
        </p:txBody>
      </p:sp>
      <p:sp>
        <p:nvSpPr>
          <p:cNvPr id="3" name="Marcador de pie de página 2">
            <a:extLst>
              <a:ext uri="{FF2B5EF4-FFF2-40B4-BE49-F238E27FC236}">
                <a16:creationId xmlns:a16="http://schemas.microsoft.com/office/drawing/2014/main" id="{52B2FA4B-8D15-84DC-29D1-94F9F8504763}"/>
              </a:ext>
            </a:extLst>
          </p:cNvPr>
          <p:cNvSpPr>
            <a:spLocks noGrp="1"/>
          </p:cNvSpPr>
          <p:nvPr>
            <p:ph type="ftr" sz="quarter" idx="5"/>
          </p:nvPr>
        </p:nvSpPr>
        <p:spPr/>
        <p:txBody>
          <a:bodyPr/>
          <a:lstStyle/>
          <a:p>
            <a:pPr marL="12700">
              <a:spcBef>
                <a:spcPts val="15"/>
              </a:spcBef>
            </a:pPr>
            <a:r>
              <a:rPr lang="es-ES" spc="-5"/>
              <a:t>LAB 2.0. COUPLERS</a:t>
            </a:r>
          </a:p>
        </p:txBody>
      </p:sp>
      <p:sp>
        <p:nvSpPr>
          <p:cNvPr id="5" name="Rectángulo 4">
            <a:extLst>
              <a:ext uri="{FF2B5EF4-FFF2-40B4-BE49-F238E27FC236}">
                <a16:creationId xmlns:a16="http://schemas.microsoft.com/office/drawing/2014/main" id="{B42E1AD9-10D4-8ACB-526F-2DA1DD2B9881}"/>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15ED9C7E-0684-E2B9-7FD6-9BCF17CC000A}"/>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uadroTexto 6">
            <a:extLst>
              <a:ext uri="{FF2B5EF4-FFF2-40B4-BE49-F238E27FC236}">
                <a16:creationId xmlns:a16="http://schemas.microsoft.com/office/drawing/2014/main" id="{5F16E403-DF61-C9A0-D57F-2E61BEFA8887}"/>
              </a:ext>
            </a:extLst>
          </p:cNvPr>
          <p:cNvSpPr txBox="1"/>
          <p:nvPr/>
        </p:nvSpPr>
        <p:spPr>
          <a:xfrm>
            <a:off x="6331152" y="4342178"/>
            <a:ext cx="2269787" cy="369332"/>
          </a:xfrm>
          <a:prstGeom prst="rect">
            <a:avLst/>
          </a:prstGeom>
          <a:noFill/>
        </p:spPr>
        <p:txBody>
          <a:bodyPr wrap="square">
            <a:spAutoFit/>
          </a:bodyPr>
          <a:lstStyle/>
          <a:p>
            <a:r>
              <a:rPr lang="en-US"/>
              <a:t>slab = 150nm</a:t>
            </a:r>
            <a:endParaRPr lang="es-ES"/>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B08C2240-8810-4E0A-7DCF-E62A8271EA2E}"/>
                  </a:ext>
                </a:extLst>
              </p:cNvPr>
              <p:cNvSpPr txBox="1"/>
              <p:nvPr/>
            </p:nvSpPr>
            <p:spPr>
              <a:xfrm>
                <a:off x="1079403" y="2709096"/>
                <a:ext cx="4546634" cy="923330"/>
              </a:xfrm>
              <a:prstGeom prst="rect">
                <a:avLst/>
              </a:prstGeom>
              <a:noFill/>
            </p:spPr>
            <p:txBody>
              <a:bodyPr wrap="square" rtlCol="0">
                <a:spAutoFit/>
              </a:bodyPr>
              <a:lstStyle/>
              <a:p>
                <a:pPr algn="ctr"/>
                <a:r>
                  <a:rPr lang="en-US" b="1"/>
                  <a:t>deep</a:t>
                </a:r>
                <a:r>
                  <a:rPr lang="en-US"/>
                  <a:t> waveguide</a:t>
                </a:r>
              </a:p>
              <a:p>
                <a:pPr algn="ctr"/>
                <a:endParaRPr lang="en-US"/>
              </a:p>
              <a:p>
                <a:pPr algn="ctr"/>
                <a:r>
                  <a:rPr lang="en-US"/>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a:t> vs </a:t>
                </a:r>
                <a:r>
                  <a:rPr lang="en-US" err="1"/>
                  <a:t>wvl</a:t>
                </a:r>
                <a:r>
                  <a:rPr lang="en-US"/>
                  <a:t> for TE and TM plot here</a:t>
                </a:r>
              </a:p>
            </p:txBody>
          </p:sp>
        </mc:Choice>
        <mc:Fallback xmlns="">
          <p:sp>
            <p:nvSpPr>
              <p:cNvPr id="8" name="CuadroTexto 7">
                <a:extLst>
                  <a:ext uri="{FF2B5EF4-FFF2-40B4-BE49-F238E27FC236}">
                    <a16:creationId xmlns:a16="http://schemas.microsoft.com/office/drawing/2014/main" id="{B08C2240-8810-4E0A-7DCF-E62A8271EA2E}"/>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4"/>
                <a:stretch>
                  <a:fillRect t="-3289" b="-92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BBDDC809-0F06-CBE2-4D1A-3A2FA36C33A8}"/>
                  </a:ext>
                </a:extLst>
              </p:cNvPr>
              <p:cNvSpPr txBox="1"/>
              <p:nvPr/>
            </p:nvSpPr>
            <p:spPr>
              <a:xfrm>
                <a:off x="6883366" y="2709096"/>
                <a:ext cx="4546634" cy="923330"/>
              </a:xfrm>
              <a:prstGeom prst="rect">
                <a:avLst/>
              </a:prstGeom>
              <a:noFill/>
            </p:spPr>
            <p:txBody>
              <a:bodyPr wrap="square" rtlCol="0">
                <a:spAutoFit/>
              </a:bodyPr>
              <a:lstStyle/>
              <a:p>
                <a:pPr algn="ctr"/>
                <a:r>
                  <a:rPr lang="en-US" b="1"/>
                  <a:t>shallow</a:t>
                </a:r>
                <a:r>
                  <a:rPr lang="en-US"/>
                  <a:t> waveguide</a:t>
                </a:r>
              </a:p>
              <a:p>
                <a:pPr algn="ctr"/>
                <a:endParaRPr lang="en-US"/>
              </a:p>
              <a:p>
                <a:pPr algn="ctr"/>
                <a:r>
                  <a:rPr lang="en-US"/>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a:t> vs </a:t>
                </a:r>
                <a:r>
                  <a:rPr lang="en-US" err="1"/>
                  <a:t>wvl</a:t>
                </a:r>
                <a:r>
                  <a:rPr lang="en-US"/>
                  <a:t> for TE and TM plot here</a:t>
                </a:r>
              </a:p>
            </p:txBody>
          </p:sp>
        </mc:Choice>
        <mc:Fallback xmlns="">
          <p:sp>
            <p:nvSpPr>
              <p:cNvPr id="9" name="CuadroTexto 8">
                <a:extLst>
                  <a:ext uri="{FF2B5EF4-FFF2-40B4-BE49-F238E27FC236}">
                    <a16:creationId xmlns:a16="http://schemas.microsoft.com/office/drawing/2014/main" id="{BBDDC809-0F06-CBE2-4D1A-3A2FA36C33A8}"/>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5"/>
                <a:stretch>
                  <a:fillRect t="-3289" b="-9211"/>
                </a:stretch>
              </a:blipFill>
            </p:spPr>
            <p:txBody>
              <a:bodyPr/>
              <a:lstStyle/>
              <a:p>
                <a:r>
                  <a:rPr lang="en-US">
                    <a:noFill/>
                  </a:rPr>
                  <a:t> </a:t>
                </a:r>
              </a:p>
            </p:txBody>
          </p:sp>
        </mc:Fallback>
      </mc:AlternateContent>
      <p:pic>
        <p:nvPicPr>
          <p:cNvPr id="10" name="Imagen 9">
            <a:extLst>
              <a:ext uri="{FF2B5EF4-FFF2-40B4-BE49-F238E27FC236}">
                <a16:creationId xmlns:a16="http://schemas.microsoft.com/office/drawing/2014/main" id="{9A010499-E5CC-7FF9-DA1C-7D8D6DC74DD1}"/>
              </a:ext>
            </a:extLst>
          </p:cNvPr>
          <p:cNvPicPr>
            <a:picLocks noChangeAspect="1"/>
          </p:cNvPicPr>
          <p:nvPr/>
        </p:nvPicPr>
        <p:blipFill>
          <a:blip r:embed="rId6"/>
          <a:stretch>
            <a:fillRect/>
          </a:stretch>
        </p:blipFill>
        <p:spPr>
          <a:xfrm>
            <a:off x="1045304" y="1778553"/>
            <a:ext cx="4528068" cy="2644521"/>
          </a:xfrm>
          <a:prstGeom prst="rect">
            <a:avLst/>
          </a:prstGeom>
        </p:spPr>
      </p:pic>
      <p:pic>
        <p:nvPicPr>
          <p:cNvPr id="12" name="Imagen 11">
            <a:extLst>
              <a:ext uri="{FF2B5EF4-FFF2-40B4-BE49-F238E27FC236}">
                <a16:creationId xmlns:a16="http://schemas.microsoft.com/office/drawing/2014/main" id="{F4424A26-1EF0-C593-3E94-A1C14B758664}"/>
              </a:ext>
            </a:extLst>
          </p:cNvPr>
          <p:cNvPicPr>
            <a:picLocks noChangeAspect="1"/>
          </p:cNvPicPr>
          <p:nvPr/>
        </p:nvPicPr>
        <p:blipFill>
          <a:blip r:embed="rId7"/>
          <a:stretch>
            <a:fillRect/>
          </a:stretch>
        </p:blipFill>
        <p:spPr>
          <a:xfrm>
            <a:off x="6390323" y="1541200"/>
            <a:ext cx="5316219" cy="3101128"/>
          </a:xfrm>
          <a:prstGeom prst="rect">
            <a:avLst/>
          </a:prstGeom>
        </p:spPr>
      </p:pic>
      <mc:AlternateContent xmlns:mc="http://schemas.openxmlformats.org/markup-compatibility/2006">
        <mc:Choice xmlns:a14="http://schemas.microsoft.com/office/drawing/2010/main" Requires="a14">
          <p:sp>
            <p:nvSpPr>
              <p:cNvPr id="14" name="CuadroTexto 13">
                <a:extLst>
                  <a:ext uri="{FF2B5EF4-FFF2-40B4-BE49-F238E27FC236}">
                    <a16:creationId xmlns:a16="http://schemas.microsoft.com/office/drawing/2014/main" id="{A0C962F3-7DF4-66E7-60D0-370F60DC58D9}"/>
                  </a:ext>
                </a:extLst>
              </p:cNvPr>
              <p:cNvSpPr txBox="1"/>
              <p:nvPr/>
            </p:nvSpPr>
            <p:spPr>
              <a:xfrm>
                <a:off x="609441" y="4860334"/>
                <a:ext cx="11199971" cy="1015663"/>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a:t>
                </a:r>
              </a:p>
              <a:p>
                <a:pPr algn="just"/>
                <a:r>
                  <a:rPr lang="en-US" sz="1200" dirty="0">
                    <a:latin typeface="Arial" panose="020B0604020202020204" pitchFamily="34" charset="0"/>
                    <a:cs typeface="Arial" panose="020B0604020202020204" pitchFamily="34" charset="0"/>
                  </a:rPr>
                  <a:t>Al </a:t>
                </a:r>
                <a:r>
                  <a:rPr lang="en-US" sz="1200" dirty="0" err="1">
                    <a:latin typeface="Arial" panose="020B0604020202020204" pitchFamily="34" charset="0"/>
                    <a:cs typeface="Arial" panose="020B0604020202020204" pitchFamily="34" charset="0"/>
                  </a:rPr>
                  <a:t>aumentar</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longitud</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onda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modos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están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menos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confinados</a:t>
                </a:r>
                <a:r>
                  <a:rPr lang="en-US" sz="1200" dirty="0">
                    <a:latin typeface="Arial" panose="020B0604020202020204" pitchFamily="34" charset="0"/>
                    <a:cs typeface="Arial" panose="020B0604020202020204" pitchFamily="34" charset="0"/>
                  </a:rPr>
                  <a:t> y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campo se </a:t>
                </a:r>
                <a:r>
                  <a:rPr lang="en-US" sz="1200" dirty="0" err="1">
                    <a:latin typeface="Arial" panose="020B0604020202020204" pitchFamily="34" charset="0"/>
                    <a:cs typeface="Arial" panose="020B0604020202020204" pitchFamily="34" charset="0"/>
                  </a:rPr>
                  <a:t>expande</a:t>
                </a:r>
                <a:r>
                  <a:rPr lang="en-US" sz="1200" dirty="0">
                    <a:latin typeface="Arial" panose="020B0604020202020204" pitchFamily="34" charset="0"/>
                    <a:cs typeface="Arial" panose="020B0604020202020204" pitchFamily="34" charset="0"/>
                  </a:rPr>
                  <a:t>, lo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aumenta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solapamiento</a:t>
                </a:r>
                <a:r>
                  <a:rPr lang="en-US" sz="1200" dirty="0">
                    <a:latin typeface="Arial" panose="020B0604020202020204" pitchFamily="34" charset="0"/>
                    <a:cs typeface="Arial" panose="020B0604020202020204" pitchFamily="34" charset="0"/>
                  </a:rPr>
                  <a:t> entre </a:t>
                </a:r>
                <a:r>
                  <a:rPr lang="en-US" sz="1200" dirty="0" err="1">
                    <a:latin typeface="Arial" panose="020B0604020202020204" pitchFamily="34" charset="0"/>
                    <a:cs typeface="Arial" panose="020B0604020202020204" pitchFamily="34" charset="0"/>
                  </a:rPr>
                  <a:t>guías</a:t>
                </a:r>
                <a:r>
                  <a:rPr lang="en-US" sz="1200" dirty="0">
                    <a:latin typeface="Arial" panose="020B0604020202020204" pitchFamily="34" charset="0"/>
                    <a:cs typeface="Arial" panose="020B0604020202020204" pitchFamily="34" charset="0"/>
                  </a:rPr>
                  <a:t> y reduce la </a:t>
                </a:r>
                <a:r>
                  <a:rPr lang="en-US" sz="1200" dirty="0" err="1">
                    <a:latin typeface="Arial" panose="020B0604020202020204" pitchFamily="34" charset="0"/>
                    <a:cs typeface="Arial" panose="020B0604020202020204" pitchFamily="34" charset="0"/>
                  </a:rPr>
                  <a:t>longitud</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acoplamiento</a:t>
                </a:r>
                <a:r>
                  <a:rPr lang="en-US" sz="1200" dirty="0">
                    <a:latin typeface="Arial" panose="020B0604020202020204" pitchFamily="34" charset="0"/>
                    <a:cs typeface="Arial" panose="020B0604020202020204" pitchFamily="34" charset="0"/>
                  </a:rPr>
                  <a:t> L</a:t>
                </a:r>
                <a14:m>
                  <m:oMath xmlns:m="http://schemas.openxmlformats.org/officeDocument/2006/math">
                    <m:r>
                      <a:rPr lang="en-US" sz="1200" i="1" smtClean="0">
                        <a:latin typeface="Cambria Math" panose="02040503050406030204" pitchFamily="18" charset="0"/>
                        <a:ea typeface="Cambria Math" panose="02040503050406030204" pitchFamily="18" charset="0"/>
                        <a:cs typeface="Arial" panose="020B0604020202020204" pitchFamily="34" charset="0"/>
                      </a:rPr>
                      <m:t>𝜋</m:t>
                    </m:r>
                  </m:oMath>
                </a14:m>
                <a:r>
                  <a:rPr lang="en-US" sz="1200" dirty="0">
                    <a:latin typeface="Arial" panose="020B0604020202020204" pitchFamily="34" charset="0"/>
                    <a:cs typeface="Arial" panose="020B0604020202020204" pitchFamily="34" charset="0"/>
                  </a:rPr>
                  <a:t>. En las </a:t>
                </a:r>
                <a:r>
                  <a:rPr lang="en-US" sz="1200" dirty="0" err="1">
                    <a:latin typeface="Arial" panose="020B0604020202020204" pitchFamily="34" charset="0"/>
                    <a:cs typeface="Arial" panose="020B0604020202020204" pitchFamily="34" charset="0"/>
                  </a:rPr>
                  <a:t>guías</a:t>
                </a:r>
                <a:r>
                  <a:rPr lang="en-US" sz="1200" dirty="0">
                    <a:latin typeface="Arial" panose="020B0604020202020204" pitchFamily="34" charset="0"/>
                    <a:cs typeface="Arial" panose="020B0604020202020204" pitchFamily="34" charset="0"/>
                  </a:rPr>
                  <a:t> deep,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modo TE require </a:t>
                </a:r>
                <a:r>
                  <a:rPr lang="en-US" sz="1200" dirty="0" err="1">
                    <a:latin typeface="Arial" panose="020B0604020202020204" pitchFamily="34" charset="0"/>
                    <a:cs typeface="Arial" panose="020B0604020202020204" pitchFamily="34" charset="0"/>
                  </a:rPr>
                  <a:t>una</a:t>
                </a:r>
                <a:r>
                  <a:rPr lang="en-US" sz="1200" dirty="0">
                    <a:latin typeface="Arial" panose="020B0604020202020204" pitchFamily="34" charset="0"/>
                    <a:cs typeface="Arial" panose="020B0604020202020204" pitchFamily="34" charset="0"/>
                  </a:rPr>
                  <a:t> mayor </a:t>
                </a:r>
                <a:r>
                  <a:rPr lang="en-US" sz="1200" dirty="0" err="1">
                    <a:latin typeface="Arial" panose="020B0604020202020204" pitchFamily="34" charset="0"/>
                    <a:cs typeface="Arial" panose="020B0604020202020204" pitchFamily="34" charset="0"/>
                  </a:rPr>
                  <a:t>longitud</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acoplamiento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TM, </a:t>
                </a:r>
                <a:r>
                  <a:rPr lang="en-US" sz="1200" dirty="0" err="1">
                    <a:latin typeface="Arial" panose="020B0604020202020204" pitchFamily="34" charset="0"/>
                    <a:cs typeface="Arial" panose="020B0604020202020204" pitchFamily="34" charset="0"/>
                  </a:rPr>
                  <a:t>aunque</a:t>
                </a:r>
                <a:r>
                  <a:rPr lang="en-US" sz="1200" dirty="0">
                    <a:latin typeface="Arial" panose="020B0604020202020204" pitchFamily="34" charset="0"/>
                    <a:cs typeface="Arial" panose="020B0604020202020204" pitchFamily="34" charset="0"/>
                  </a:rPr>
                  <a:t> ambos </a:t>
                </a:r>
                <a:r>
                  <a:rPr lang="en-US" sz="1200" dirty="0" err="1">
                    <a:latin typeface="Arial" panose="020B0604020202020204" pitchFamily="34" charset="0"/>
                    <a:cs typeface="Arial" panose="020B0604020202020204" pitchFamily="34" charset="0"/>
                  </a:rPr>
                  <a:t>decrecen</a:t>
                </a:r>
                <a:r>
                  <a:rPr lang="en-US" sz="1200" dirty="0">
                    <a:latin typeface="Arial" panose="020B0604020202020204" pitchFamily="34" charset="0"/>
                    <a:cs typeface="Arial" panose="020B0604020202020204" pitchFamily="34" charset="0"/>
                  </a:rPr>
                  <a:t> de forma </a:t>
                </a:r>
                <a:r>
                  <a:rPr lang="en-US" sz="1200" dirty="0" err="1">
                    <a:latin typeface="Arial" panose="020B0604020202020204" pitchFamily="34" charset="0"/>
                    <a:cs typeface="Arial" panose="020B0604020202020204" pitchFamily="34" charset="0"/>
                  </a:rPr>
                  <a:t>predecible</a:t>
                </a:r>
                <a:r>
                  <a:rPr lang="en-US" sz="1200" dirty="0">
                    <a:latin typeface="Arial" panose="020B0604020202020204" pitchFamily="34" charset="0"/>
                    <a:cs typeface="Arial" panose="020B0604020202020204" pitchFamily="34" charset="0"/>
                  </a:rPr>
                  <a:t> al </a:t>
                </a:r>
                <a:r>
                  <a:rPr lang="en-US" sz="1200" dirty="0" err="1">
                    <a:latin typeface="Arial" panose="020B0604020202020204" pitchFamily="34" charset="0"/>
                    <a:cs typeface="Arial" panose="020B0604020202020204" pitchFamily="34" charset="0"/>
                  </a:rPr>
                  <a:t>subir</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longitud</a:t>
                </a:r>
                <a:r>
                  <a:rPr lang="en-US" sz="1200" dirty="0">
                    <a:latin typeface="Arial" panose="020B0604020202020204" pitchFamily="34" charset="0"/>
                    <a:cs typeface="Arial" panose="020B0604020202020204" pitchFamily="34" charset="0"/>
                  </a:rPr>
                  <a:t> de </a:t>
                </a:r>
                <a:r>
                  <a:rPr lang="en-US" sz="1200" dirty="0" err="1">
                    <a:latin typeface="Arial" panose="020B0604020202020204" pitchFamily="34" charset="0"/>
                    <a:cs typeface="Arial" panose="020B0604020202020204" pitchFamily="34" charset="0"/>
                  </a:rPr>
                  <a:t>onda</a:t>
                </a:r>
                <a:r>
                  <a:rPr lang="en-US" sz="1200" dirty="0">
                    <a:latin typeface="Arial" panose="020B0604020202020204" pitchFamily="34" charset="0"/>
                    <a:cs typeface="Arial" panose="020B0604020202020204" pitchFamily="34" charset="0"/>
                  </a:rPr>
                  <a:t>. Por contra,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las </a:t>
                </a:r>
                <a:r>
                  <a:rPr lang="en-US" sz="1200" dirty="0" err="1">
                    <a:latin typeface="Arial" panose="020B0604020202020204" pitchFamily="34" charset="0"/>
                    <a:cs typeface="Arial" panose="020B0604020202020204" pitchFamily="34" charset="0"/>
                  </a:rPr>
                  <a:t>guías</a:t>
                </a:r>
                <a:r>
                  <a:rPr lang="en-US" sz="1200" dirty="0">
                    <a:latin typeface="Arial" panose="020B0604020202020204" pitchFamily="34" charset="0"/>
                    <a:cs typeface="Arial" panose="020B0604020202020204" pitchFamily="34" charset="0"/>
                  </a:rPr>
                  <a:t> shallow,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modo TM </a:t>
                </a:r>
                <a:r>
                  <a:rPr lang="en-US" sz="1200" dirty="0" err="1">
                    <a:latin typeface="Arial" panose="020B0604020202020204" pitchFamily="34" charset="0"/>
                    <a:cs typeface="Arial" panose="020B0604020202020204" pitchFamily="34" charset="0"/>
                  </a:rPr>
                  <a:t>muestra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una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dependencia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mucho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más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crítica</a:t>
                </a:r>
                <a:r>
                  <a:rPr lang="en-US" sz="1200" dirty="0">
                    <a:latin typeface="Arial" panose="020B0604020202020204" pitchFamily="34" charset="0"/>
                    <a:cs typeface="Arial" panose="020B0604020202020204" pitchFamily="34" charset="0"/>
                  </a:rPr>
                  <a:t> y </a:t>
                </a:r>
                <a:r>
                  <a:rPr lang="en-US" sz="1200" dirty="0" err="1">
                    <a:latin typeface="Arial" panose="020B0604020202020204" pitchFamily="34" charset="0"/>
                    <a:cs typeface="Arial" panose="020B0604020202020204" pitchFamily="34" charset="0"/>
                  </a:rPr>
                  <a:t>valores</a:t>
                </a:r>
                <a:r>
                  <a:rPr lang="en-US" sz="1200" dirty="0">
                    <a:latin typeface="Arial" panose="020B0604020202020204" pitchFamily="34" charset="0"/>
                    <a:cs typeface="Arial" panose="020B0604020202020204" pitchFamily="34" charset="0"/>
                  </a:rPr>
                  <a:t> de L</a:t>
                </a:r>
                <a14:m>
                  <m:oMath xmlns:m="http://schemas.openxmlformats.org/officeDocument/2006/math">
                    <m:r>
                      <a:rPr lang="en-US" sz="1200" i="1">
                        <a:latin typeface="Cambria Math" panose="02040503050406030204" pitchFamily="18" charset="0"/>
                        <a:ea typeface="Cambria Math" panose="02040503050406030204" pitchFamily="18" charset="0"/>
                        <a:cs typeface="Arial" panose="020B0604020202020204" pitchFamily="34" charset="0"/>
                      </a:rPr>
                      <m:t>𝜋</m:t>
                    </m:r>
                  </m:oMath>
                </a14:m>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superiores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mientras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modo TE </a:t>
                </a:r>
                <a:r>
                  <a:rPr lang="en-US" sz="1200" dirty="0" err="1">
                    <a:latin typeface="Arial" panose="020B0604020202020204" pitchFamily="34" charset="0"/>
                    <a:cs typeface="Arial" panose="020B0604020202020204" pitchFamily="34" charset="0"/>
                  </a:rPr>
                  <a:t>casi</a:t>
                </a:r>
                <a:r>
                  <a:rPr lang="en-US" sz="1200" dirty="0">
                    <a:latin typeface="Arial" panose="020B0604020202020204" pitchFamily="34" charset="0"/>
                    <a:cs typeface="Arial" panose="020B0604020202020204" pitchFamily="34" charset="0"/>
                  </a:rPr>
                  <a:t> no varia, </a:t>
                </a:r>
                <a:r>
                  <a:rPr lang="en-US" sz="1200" dirty="0" err="1">
                    <a:latin typeface="Arial" panose="020B0604020202020204" pitchFamily="34" charset="0"/>
                    <a:cs typeface="Arial" panose="020B0604020202020204" pitchFamily="34" charset="0"/>
                  </a:rPr>
                  <a:t>demostrando</a:t>
                </a:r>
                <a:r>
                  <a:rPr lang="en-US" sz="1200" dirty="0">
                    <a:latin typeface="Arial" panose="020B0604020202020204" pitchFamily="34" charset="0"/>
                    <a:cs typeface="Arial" panose="020B0604020202020204" pitchFamily="34" charset="0"/>
                  </a:rPr>
                  <a:t> ser </a:t>
                </a:r>
                <a:r>
                  <a:rPr lang="en-US" sz="1200" dirty="0" err="1">
                    <a:latin typeface="Arial" panose="020B0604020202020204" pitchFamily="34" charset="0"/>
                    <a:cs typeface="Arial" panose="020B0604020202020204" pitchFamily="34" charset="0"/>
                  </a:rPr>
                  <a:t>más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robusto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frente</a:t>
                </a:r>
                <a:r>
                  <a:rPr lang="en-US" sz="1200" dirty="0">
                    <a:latin typeface="Arial" panose="020B0604020202020204" pitchFamily="34" charset="0"/>
                    <a:cs typeface="Arial" panose="020B0604020202020204" pitchFamily="34" charset="0"/>
                  </a:rPr>
                  <a:t> a </a:t>
                </a:r>
                <a:r>
                  <a:rPr lang="en-US" sz="1200" dirty="0" err="1">
                    <a:latin typeface="Arial" panose="020B0604020202020204" pitchFamily="34" charset="0"/>
                    <a:cs typeface="Arial" panose="020B0604020202020204" pitchFamily="34" charset="0"/>
                  </a:rPr>
                  <a:t>cambios</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espectrales</a:t>
                </a:r>
                <a:r>
                  <a:rPr lang="en-US" sz="1200" dirty="0">
                    <a:latin typeface="Arial" panose="020B0604020202020204" pitchFamily="34" charset="0"/>
                    <a:cs typeface="Arial" panose="020B0604020202020204" pitchFamily="34" charset="0"/>
                  </a:rPr>
                  <a:t>.</a:t>
                </a:r>
              </a:p>
            </p:txBody>
          </p:sp>
        </mc:Choice>
        <mc:Fallback>
          <p:sp>
            <p:nvSpPr>
              <p:cNvPr id="14" name="CuadroTexto 13">
                <a:extLst>
                  <a:ext uri="{FF2B5EF4-FFF2-40B4-BE49-F238E27FC236}">
                    <a16:creationId xmlns:a16="http://schemas.microsoft.com/office/drawing/2014/main" id="{A0C962F3-7DF4-66E7-60D0-370F60DC58D9}"/>
                  </a:ext>
                </a:extLst>
              </p:cNvPr>
              <p:cNvSpPr txBox="1">
                <a:spLocks noRot="1" noChangeAspect="1" noMove="1" noResize="1" noEditPoints="1" noAdjustHandles="1" noChangeArrowheads="1" noChangeShapeType="1" noTextEdit="1"/>
              </p:cNvSpPr>
              <p:nvPr/>
            </p:nvSpPr>
            <p:spPr>
              <a:xfrm>
                <a:off x="609441" y="4860334"/>
                <a:ext cx="11199971" cy="1015663"/>
              </a:xfrm>
              <a:prstGeom prst="rect">
                <a:avLst/>
              </a:prstGeom>
              <a:blipFill>
                <a:blip r:embed="rId8"/>
                <a:stretch>
                  <a:fillRect b="-1163"/>
                </a:stretch>
              </a:blipFill>
              <a:ln w="28575">
                <a:solidFill>
                  <a:srgbClr val="E0700D"/>
                </a:solidFill>
              </a:ln>
            </p:spPr>
            <p:txBody>
              <a:bodyPr/>
              <a:lstStyle/>
              <a:p>
                <a:r>
                  <a:rPr lang="es-ES">
                    <a:noFill/>
                  </a:rPr>
                  <a:t> </a:t>
                </a:r>
              </a:p>
            </p:txBody>
          </p:sp>
        </mc:Fallback>
      </mc:AlternateContent>
    </p:spTree>
    <p:extLst>
      <p:ext uri="{BB962C8B-B14F-4D97-AF65-F5344CB8AC3E}">
        <p14:creationId xmlns:p14="http://schemas.microsoft.com/office/powerpoint/2010/main" val="81355806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a:t>Extra #3 – MMI coupler wavelength dependence</a:t>
            </a:r>
            <a:br>
              <a:rPr lang="en-US" sz="2500" spc="-5">
                <a:latin typeface="+mj-lt"/>
                <a:cs typeface="Lucida Sans"/>
              </a:rPr>
            </a:br>
            <a:r>
              <a:rPr lang="en-US" b="0"/>
              <a:t>Wavelengths from 1.5 to 1.7 µm, </a:t>
            </a:r>
            <a:r>
              <a:rPr lang="en-US" b="0" err="1"/>
              <a:t>wMMI</a:t>
            </a:r>
            <a:r>
              <a:rPr lang="en-US" b="0"/>
              <a:t> = 6.6 µm</a:t>
            </a:r>
            <a:endParaRPr lang="en-US" sz="2500" b="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18</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2.0. COUPLERS</a:t>
            </a:r>
          </a:p>
        </p:txBody>
      </p:sp>
      <mc:AlternateContent xmlns:mc="http://schemas.openxmlformats.org/markup-compatibility/2006" xmlns:a14="http://schemas.microsoft.com/office/drawing/2010/main">
        <mc:Choice Requires="a14">
          <p:sp>
            <p:nvSpPr>
              <p:cNvPr id="2" name="CuadroTexto 1">
                <a:extLst>
                  <a:ext uri="{FF2B5EF4-FFF2-40B4-BE49-F238E27FC236}">
                    <a16:creationId xmlns:a16="http://schemas.microsoft.com/office/drawing/2014/main" id="{82A62DD6-5488-72A1-9926-0CAEE59089A9}"/>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Comment results (Important. Compare with Directional Coupler)</a:t>
                </a:r>
              </a:p>
              <a:p>
                <a:pPr algn="just"/>
                <a:endParaRPr lang="en-US" sz="1200" dirty="0">
                  <a:latin typeface="Arial" panose="020B0604020202020204" pitchFamily="34" charset="0"/>
                  <a:cs typeface="Arial" panose="020B0604020202020204" pitchFamily="34" charset="0"/>
                </a:endParaRPr>
              </a:p>
              <a:p>
                <a:pPr algn="just"/>
                <a:r>
                  <a:rPr lang="es-ES" sz="1200" dirty="0">
                    <a:latin typeface="Arial" panose="020B0604020202020204" pitchFamily="34" charset="0"/>
                    <a:cs typeface="Arial" panose="020B0604020202020204" pitchFamily="34" charset="0"/>
                  </a:rPr>
                  <a:t>En el acoplador MMI, L</a:t>
                </a:r>
                <a14:m>
                  <m:oMath xmlns:m="http://schemas.openxmlformats.org/officeDocument/2006/math">
                    <m:r>
                      <a:rPr lang="en-US" sz="1200" i="1">
                        <a:latin typeface="Cambria Math" panose="02040503050406030204" pitchFamily="18" charset="0"/>
                        <a:ea typeface="Cambria Math" panose="02040503050406030204" pitchFamily="18" charset="0"/>
                        <a:cs typeface="Arial" panose="020B0604020202020204" pitchFamily="34" charset="0"/>
                      </a:rPr>
                      <m:t>𝜋</m:t>
                    </m:r>
                  </m:oMath>
                </a14:m>
                <a:r>
                  <a:rPr lang="es-ES" sz="1200" dirty="0">
                    <a:latin typeface="Arial" panose="020B0604020202020204" pitchFamily="34" charset="0"/>
                    <a:cs typeface="Arial" panose="020B0604020202020204" pitchFamily="34" charset="0"/>
                  </a:rPr>
                  <a:t> también disminuye al aumentar la longitud de onda, pero lo hace de forma suave y prácticamente lineal para ambas guías. A diferencia del acoplador direccional, no aparecen variaciones bruscas ni una dependencia tan crítica con la polarización. Esto se debe a que el funcionamiento del MMI se basa en la interferencia multimodo y en la formación de autoimágenes dentro de la región ancha, por lo que resulta más estable frente a cambios espectrales. En general, el MMI presenta una respuesta más robusta que la del acoplador direccional.</a:t>
                </a:r>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mc:Choice>
        <mc:Fallback xmlns="">
          <p:sp>
            <p:nvSpPr>
              <p:cNvPr id="2" name="CuadroTexto 1">
                <a:extLst>
                  <a:ext uri="{FF2B5EF4-FFF2-40B4-BE49-F238E27FC236}">
                    <a16:creationId xmlns:a16="http://schemas.microsoft.com/office/drawing/2014/main" id="{82A62DD6-5488-72A1-9926-0CAEE59089A9}"/>
                  </a:ext>
                </a:extLst>
              </p:cNvPr>
              <p:cNvSpPr txBox="1">
                <a:spLocks noRot="1" noChangeAspect="1" noMove="1" noResize="1" noEditPoints="1" noAdjustHandles="1" noChangeArrowheads="1" noChangeShapeType="1" noTextEdit="1"/>
              </p:cNvSpPr>
              <p:nvPr/>
            </p:nvSpPr>
            <p:spPr>
              <a:xfrm>
                <a:off x="609441" y="4860334"/>
                <a:ext cx="11199971" cy="1384995"/>
              </a:xfrm>
              <a:prstGeom prst="rect">
                <a:avLst/>
              </a:prstGeom>
              <a:blipFill>
                <a:blip r:embed="rId4"/>
                <a:stretch>
                  <a:fillRect/>
                </a:stretch>
              </a:blipFill>
              <a:ln w="28575">
                <a:solidFill>
                  <a:srgbClr val="E0700D"/>
                </a:solidFill>
              </a:ln>
            </p:spPr>
            <p:txBody>
              <a:bodyPr/>
              <a:lstStyle/>
              <a:p>
                <a:r>
                  <a:rPr lang="es-ES">
                    <a:noFill/>
                  </a:rPr>
                  <a:t> </a:t>
                </a:r>
              </a:p>
            </p:txBody>
          </p:sp>
        </mc:Fallback>
      </mc:AlternateContent>
      <p:sp>
        <p:nvSpPr>
          <p:cNvPr id="4" name="Rectángulo 3">
            <a:extLst>
              <a:ext uri="{FF2B5EF4-FFF2-40B4-BE49-F238E27FC236}">
                <a16:creationId xmlns:a16="http://schemas.microsoft.com/office/drawing/2014/main" id="{796EDE51-D41E-C23B-F402-2F7357DE8714}"/>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5A3233C9-FE6F-52D8-4D87-224222BDA8E1}"/>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uadroTexto 5">
            <a:extLst>
              <a:ext uri="{FF2B5EF4-FFF2-40B4-BE49-F238E27FC236}">
                <a16:creationId xmlns:a16="http://schemas.microsoft.com/office/drawing/2014/main" id="{0C016548-01A2-6E58-B80D-148384B98EB3}"/>
              </a:ext>
            </a:extLst>
          </p:cNvPr>
          <p:cNvSpPr txBox="1"/>
          <p:nvPr/>
        </p:nvSpPr>
        <p:spPr>
          <a:xfrm>
            <a:off x="6331152" y="4342178"/>
            <a:ext cx="2269787" cy="369332"/>
          </a:xfrm>
          <a:prstGeom prst="rect">
            <a:avLst/>
          </a:prstGeom>
          <a:noFill/>
        </p:spPr>
        <p:txBody>
          <a:bodyPr wrap="square">
            <a:spAutoFit/>
          </a:bodyPr>
          <a:lstStyle/>
          <a:p>
            <a:r>
              <a:rPr lang="en-US"/>
              <a:t>slab = 150nm</a:t>
            </a:r>
            <a:endParaRPr lang="es-ES"/>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075D03BE-0D6A-89E5-3C68-D7BD97B4676E}"/>
                  </a:ext>
                </a:extLst>
              </p:cNvPr>
              <p:cNvSpPr txBox="1"/>
              <p:nvPr/>
            </p:nvSpPr>
            <p:spPr>
              <a:xfrm>
                <a:off x="1079403" y="2709096"/>
                <a:ext cx="4546634" cy="923330"/>
              </a:xfrm>
              <a:prstGeom prst="rect">
                <a:avLst/>
              </a:prstGeom>
              <a:noFill/>
            </p:spPr>
            <p:txBody>
              <a:bodyPr wrap="square" rtlCol="0">
                <a:spAutoFit/>
              </a:bodyPr>
              <a:lstStyle/>
              <a:p>
                <a:pPr algn="ctr"/>
                <a:r>
                  <a:rPr lang="en-US" b="1"/>
                  <a:t>deep</a:t>
                </a:r>
                <a:r>
                  <a:rPr lang="en-US"/>
                  <a:t> waveguide</a:t>
                </a:r>
              </a:p>
              <a:p>
                <a:pPr algn="ctr"/>
                <a:endParaRPr lang="en-US"/>
              </a:p>
              <a:p>
                <a:pPr algn="ctr"/>
                <a:r>
                  <a:rPr lang="en-US"/>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a:t> vs </a:t>
                </a:r>
                <a:r>
                  <a:rPr lang="en-US" err="1"/>
                  <a:t>wvl</a:t>
                </a:r>
                <a:r>
                  <a:rPr lang="en-US"/>
                  <a:t> for TE and TM plot here</a:t>
                </a:r>
              </a:p>
            </p:txBody>
          </p:sp>
        </mc:Choice>
        <mc:Fallback xmlns="">
          <p:sp>
            <p:nvSpPr>
              <p:cNvPr id="9" name="CuadroTexto 8">
                <a:extLst>
                  <a:ext uri="{FF2B5EF4-FFF2-40B4-BE49-F238E27FC236}">
                    <a16:creationId xmlns:a16="http://schemas.microsoft.com/office/drawing/2014/main" id="{075D03BE-0D6A-89E5-3C68-D7BD97B4676E}"/>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s-E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AC01EDEE-71CC-C570-700B-076F03FCF7E1}"/>
                  </a:ext>
                </a:extLst>
              </p:cNvPr>
              <p:cNvSpPr txBox="1"/>
              <p:nvPr/>
            </p:nvSpPr>
            <p:spPr>
              <a:xfrm>
                <a:off x="6883366" y="2709096"/>
                <a:ext cx="4546634" cy="923330"/>
              </a:xfrm>
              <a:prstGeom prst="rect">
                <a:avLst/>
              </a:prstGeom>
              <a:noFill/>
            </p:spPr>
            <p:txBody>
              <a:bodyPr wrap="square" rtlCol="0">
                <a:spAutoFit/>
              </a:bodyPr>
              <a:lstStyle/>
              <a:p>
                <a:pPr algn="ctr"/>
                <a:r>
                  <a:rPr lang="en-US" b="1"/>
                  <a:t>shallow</a:t>
                </a:r>
                <a:r>
                  <a:rPr lang="en-US"/>
                  <a:t> waveguide</a:t>
                </a:r>
              </a:p>
              <a:p>
                <a:pPr algn="ctr"/>
                <a:endParaRPr lang="en-US"/>
              </a:p>
              <a:p>
                <a:pPr algn="ctr"/>
                <a:r>
                  <a:rPr lang="en-US"/>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a:t> vs </a:t>
                </a:r>
                <a:r>
                  <a:rPr lang="en-US" err="1"/>
                  <a:t>wvl</a:t>
                </a:r>
                <a:r>
                  <a:rPr lang="en-US"/>
                  <a:t> for TE and TM plot here</a:t>
                </a:r>
              </a:p>
            </p:txBody>
          </p:sp>
        </mc:Choice>
        <mc:Fallback xmlns="">
          <p:sp>
            <p:nvSpPr>
              <p:cNvPr id="10" name="CuadroTexto 9">
                <a:extLst>
                  <a:ext uri="{FF2B5EF4-FFF2-40B4-BE49-F238E27FC236}">
                    <a16:creationId xmlns:a16="http://schemas.microsoft.com/office/drawing/2014/main" id="{AC01EDEE-71CC-C570-700B-076F03FCF7E1}"/>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s-ES">
                    <a:noFill/>
                  </a:rPr>
                  <a:t> </a:t>
                </a:r>
              </a:p>
            </p:txBody>
          </p:sp>
        </mc:Fallback>
      </mc:AlternateContent>
      <p:pic>
        <p:nvPicPr>
          <p:cNvPr id="8" name="Imagen 7">
            <a:extLst>
              <a:ext uri="{FF2B5EF4-FFF2-40B4-BE49-F238E27FC236}">
                <a16:creationId xmlns:a16="http://schemas.microsoft.com/office/drawing/2014/main" id="{287AF794-19AC-1134-B41E-520B3CA3DCF6}"/>
              </a:ext>
            </a:extLst>
          </p:cNvPr>
          <p:cNvPicPr>
            <a:picLocks noChangeAspect="1"/>
          </p:cNvPicPr>
          <p:nvPr/>
        </p:nvPicPr>
        <p:blipFill>
          <a:blip r:embed="rId7"/>
          <a:stretch>
            <a:fillRect/>
          </a:stretch>
        </p:blipFill>
        <p:spPr>
          <a:xfrm>
            <a:off x="734347" y="1594470"/>
            <a:ext cx="5209094" cy="3042260"/>
          </a:xfrm>
          <a:prstGeom prst="rect">
            <a:avLst/>
          </a:prstGeom>
        </p:spPr>
      </p:pic>
      <p:pic>
        <p:nvPicPr>
          <p:cNvPr id="12" name="Imagen 11">
            <a:extLst>
              <a:ext uri="{FF2B5EF4-FFF2-40B4-BE49-F238E27FC236}">
                <a16:creationId xmlns:a16="http://schemas.microsoft.com/office/drawing/2014/main" id="{4420355F-A0C8-7E7B-81CE-5AFAF2D66064}"/>
              </a:ext>
            </a:extLst>
          </p:cNvPr>
          <p:cNvPicPr>
            <a:picLocks noChangeAspect="1"/>
          </p:cNvPicPr>
          <p:nvPr/>
        </p:nvPicPr>
        <p:blipFill>
          <a:blip r:embed="rId8"/>
          <a:stretch>
            <a:fillRect/>
          </a:stretch>
        </p:blipFill>
        <p:spPr>
          <a:xfrm>
            <a:off x="6377047" y="1544204"/>
            <a:ext cx="5330595" cy="3113220"/>
          </a:xfrm>
          <a:prstGeom prst="rect">
            <a:avLst/>
          </a:prstGeom>
        </p:spPr>
      </p:pic>
    </p:spTree>
    <p:extLst>
      <p:ext uri="{BB962C8B-B14F-4D97-AF65-F5344CB8AC3E}">
        <p14:creationId xmlns:p14="http://schemas.microsoft.com/office/powerpoint/2010/main" val="95514564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55C897-D580-E5C1-161C-F8E072695C0C}"/>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3FFBD12-4EFF-41C1-4765-2AD268B2BD9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a:t>Extra #4 – MMI coupler body width dependence</a:t>
            </a:r>
            <a:br>
              <a:rPr lang="en-US" sz="2500" spc="-5">
                <a:latin typeface="+mj-lt"/>
                <a:cs typeface="Lucida Sans"/>
              </a:rPr>
            </a:br>
            <a:r>
              <a:rPr lang="en-US" b="0"/>
              <a:t>Wavelength 1.55 µm, </a:t>
            </a:r>
            <a:r>
              <a:rPr lang="en-US" b="0" err="1"/>
              <a:t>wMMI</a:t>
            </a:r>
            <a:r>
              <a:rPr lang="en-US" b="0"/>
              <a:t> = 5-10 µm (steps 0.5 µm)</a:t>
            </a:r>
            <a:endParaRPr lang="en-US" sz="2500" b="0">
              <a:latin typeface="+mj-lt"/>
              <a:cs typeface="Lucida Sans"/>
            </a:endParaRPr>
          </a:p>
        </p:txBody>
      </p:sp>
      <p:pic>
        <p:nvPicPr>
          <p:cNvPr id="83" name="Gráfico 82">
            <a:extLst>
              <a:ext uri="{FF2B5EF4-FFF2-40B4-BE49-F238E27FC236}">
                <a16:creationId xmlns:a16="http://schemas.microsoft.com/office/drawing/2014/main" id="{C14AF521-052E-A1FA-D63D-CB0826C48D2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C87B233-8A68-967F-55BC-3A828B5F39BA}"/>
              </a:ext>
            </a:extLst>
          </p:cNvPr>
          <p:cNvSpPr>
            <a:spLocks noGrp="1"/>
          </p:cNvSpPr>
          <p:nvPr>
            <p:ph type="sldNum" sz="quarter" idx="7"/>
          </p:nvPr>
        </p:nvSpPr>
        <p:spPr/>
        <p:txBody>
          <a:bodyPr/>
          <a:lstStyle/>
          <a:p>
            <a:fld id="{B6F15528-21DE-4FAA-801E-634DDDAF4B2B}" type="slidenum">
              <a:rPr lang="es-ES" smtClean="0"/>
              <a:t>19</a:t>
            </a:fld>
            <a:endParaRPr lang="es-ES"/>
          </a:p>
        </p:txBody>
      </p:sp>
      <p:sp>
        <p:nvSpPr>
          <p:cNvPr id="3" name="Marcador de pie de página 2">
            <a:extLst>
              <a:ext uri="{FF2B5EF4-FFF2-40B4-BE49-F238E27FC236}">
                <a16:creationId xmlns:a16="http://schemas.microsoft.com/office/drawing/2014/main" id="{DB1B524E-0E15-1C98-31B0-C98BD07BFBE8}"/>
              </a:ext>
            </a:extLst>
          </p:cNvPr>
          <p:cNvSpPr>
            <a:spLocks noGrp="1"/>
          </p:cNvSpPr>
          <p:nvPr>
            <p:ph type="ftr" sz="quarter" idx="5"/>
          </p:nvPr>
        </p:nvSpPr>
        <p:spPr/>
        <p:txBody>
          <a:bodyPr/>
          <a:lstStyle/>
          <a:p>
            <a:pPr marL="12700">
              <a:spcBef>
                <a:spcPts val="15"/>
              </a:spcBef>
            </a:pPr>
            <a:r>
              <a:rPr lang="es-ES" spc="-5"/>
              <a:t>LAB 2.0. COUPLERS</a:t>
            </a:r>
          </a:p>
        </p:txBody>
      </p:sp>
      <mc:AlternateContent xmlns:mc="http://schemas.openxmlformats.org/markup-compatibility/2006">
        <mc:Choice xmlns:a14="http://schemas.microsoft.com/office/drawing/2010/main" Requires="a14">
          <p:sp>
            <p:nvSpPr>
              <p:cNvPr id="2" name="CuadroTexto 1">
                <a:extLst>
                  <a:ext uri="{FF2B5EF4-FFF2-40B4-BE49-F238E27FC236}">
                    <a16:creationId xmlns:a16="http://schemas.microsoft.com/office/drawing/2014/main" id="{8D88CB07-C5F5-9BB7-9F41-E171F0F0E2B9}"/>
                  </a:ext>
                </a:extLst>
              </p:cNvPr>
              <p:cNvSpPr txBox="1"/>
              <p:nvPr/>
            </p:nvSpPr>
            <p:spPr>
              <a:xfrm>
                <a:off x="609442" y="4860334"/>
                <a:ext cx="11198541" cy="2123658"/>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a:latin typeface="Arial" panose="020B0604020202020204" pitchFamily="34" charset="0"/>
                    <a:cs typeface="Arial" panose="020B0604020202020204" pitchFamily="34" charset="0"/>
                  </a:rPr>
                  <a:t>Polarization independent coupler: is there any point for which the MMI coupler can work identically for TE and TM? Answer yes / no and explain why?</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No, no </a:t>
                </a:r>
                <a:r>
                  <a:rPr lang="en-US" sz="1200" dirty="0" err="1">
                    <a:latin typeface="Arial" panose="020B0604020202020204" pitchFamily="34" charset="0"/>
                    <a:cs typeface="Arial" panose="020B0604020202020204" pitchFamily="34" charset="0"/>
                  </a:rPr>
                  <a:t>existe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ningún</a:t>
                </a:r>
                <a:r>
                  <a:rPr lang="en-US" sz="1200" dirty="0">
                    <a:latin typeface="Arial" panose="020B0604020202020204" pitchFamily="34" charset="0"/>
                    <a:cs typeface="Arial" panose="020B0604020202020204" pitchFamily="34" charset="0"/>
                  </a:rPr>
                  <a:t> punto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rango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estudiado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anchuras</a:t>
                </a:r>
                <a:r>
                  <a:rPr lang="en-US" sz="1200" dirty="0">
                    <a:latin typeface="Arial" panose="020B0604020202020204" pitchFamily="34" charset="0"/>
                    <a:cs typeface="Arial" panose="020B0604020202020204" pitchFamily="34" charset="0"/>
                  </a:rPr>
                  <a:t> de 5 a 10 um) </a:t>
                </a:r>
                <a:r>
                  <a:rPr lang="en-US" sz="1200" dirty="0" err="1">
                    <a:latin typeface="Arial" panose="020B0604020202020204" pitchFamily="34" charset="0"/>
                    <a:cs typeface="Arial" panose="020B0604020202020204" pitchFamily="34" charset="0"/>
                  </a:rPr>
                  <a:t>donde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acoplador</a:t>
                </a:r>
                <a:r>
                  <a:rPr lang="en-US" sz="1200" dirty="0">
                    <a:latin typeface="Arial" panose="020B0604020202020204" pitchFamily="34" charset="0"/>
                    <a:cs typeface="Arial" panose="020B0604020202020204" pitchFamily="34" charset="0"/>
                  </a:rPr>
                  <a:t> MMI </a:t>
                </a:r>
                <a:r>
                  <a:rPr lang="en-US" sz="1200" dirty="0" err="1">
                    <a:latin typeface="Arial" panose="020B0604020202020204" pitchFamily="34" charset="0"/>
                    <a:cs typeface="Arial" panose="020B0604020202020204" pitchFamily="34" charset="0"/>
                  </a:rPr>
                  <a:t>funcione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idénticamente</a:t>
                </a:r>
                <a:r>
                  <a:rPr lang="en-US" sz="1200" dirty="0">
                    <a:latin typeface="Arial" panose="020B0604020202020204" pitchFamily="34" charset="0"/>
                    <a:cs typeface="Arial" panose="020B0604020202020204" pitchFamily="34" charset="0"/>
                  </a:rPr>
                  <a:t> para TE y TM. Esto se </a:t>
                </a:r>
                <a:r>
                  <a:rPr lang="en-US" sz="1200" dirty="0" err="1">
                    <a:latin typeface="Arial" panose="020B0604020202020204" pitchFamily="34" charset="0"/>
                    <a:cs typeface="Arial" panose="020B0604020202020204" pitchFamily="34" charset="0"/>
                  </a:rPr>
                  <a:t>debe</a:t>
                </a:r>
                <a:r>
                  <a:rPr lang="en-US" sz="1200" dirty="0">
                    <a:latin typeface="Arial" panose="020B0604020202020204" pitchFamily="34" charset="0"/>
                    <a:cs typeface="Arial" panose="020B0604020202020204" pitchFamily="34" charset="0"/>
                  </a:rPr>
                  <a:t> a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las curvas de L</a:t>
                </a:r>
                <a14:m>
                  <m:oMath xmlns:m="http://schemas.openxmlformats.org/officeDocument/2006/math">
                    <m:r>
                      <a:rPr lang="en-US" sz="1200" i="1">
                        <a:latin typeface="Cambria Math" panose="02040503050406030204" pitchFamily="18" charset="0"/>
                        <a:ea typeface="Cambria Math" panose="02040503050406030204" pitchFamily="18" charset="0"/>
                        <a:cs typeface="Arial" panose="020B0604020202020204" pitchFamily="34" charset="0"/>
                      </a:rPr>
                      <m:t>𝜋</m:t>
                    </m:r>
                  </m:oMath>
                </a14:m>
                <a:r>
                  <a:rPr lang="en-US" sz="1200" dirty="0">
                    <a:latin typeface="Arial" panose="020B0604020202020204" pitchFamily="34" charset="0"/>
                    <a:cs typeface="Arial" panose="020B0604020202020204" pitchFamily="34" charset="0"/>
                  </a:rPr>
                  <a:t> para ambas </a:t>
                </a:r>
                <a:r>
                  <a:rPr lang="en-US" sz="1200" dirty="0" err="1">
                    <a:latin typeface="Arial" panose="020B0604020202020204" pitchFamily="34" charset="0"/>
                    <a:cs typeface="Arial" panose="020B0604020202020204" pitchFamily="34" charset="0"/>
                  </a:rPr>
                  <a:t>polarizaciones</a:t>
                </a:r>
                <a:r>
                  <a:rPr lang="en-US" sz="1200" dirty="0">
                    <a:latin typeface="Arial" panose="020B0604020202020204" pitchFamily="34" charset="0"/>
                    <a:cs typeface="Arial" panose="020B0604020202020204" pitchFamily="34" charset="0"/>
                  </a:rPr>
                  <a:t> son </a:t>
                </a:r>
                <a:r>
                  <a:rPr lang="en-US" sz="1200" dirty="0" err="1">
                    <a:latin typeface="Arial" panose="020B0604020202020204" pitchFamily="34" charset="0"/>
                    <a:cs typeface="Arial" panose="020B0604020202020204" pitchFamily="34" charset="0"/>
                  </a:rPr>
                  <a:t>divergentes</a:t>
                </a:r>
                <a:r>
                  <a:rPr lang="en-US" sz="1200" dirty="0">
                    <a:latin typeface="Arial" panose="020B0604020202020204" pitchFamily="34" charset="0"/>
                    <a:cs typeface="Arial" panose="020B0604020202020204" pitchFamily="34" charset="0"/>
                  </a:rPr>
                  <a:t>. Cuando </a:t>
                </a:r>
                <a:r>
                  <a:rPr lang="en-US" sz="1200" dirty="0" err="1">
                    <a:latin typeface="Arial" panose="020B0604020202020204" pitchFamily="34" charset="0"/>
                    <a:cs typeface="Arial" panose="020B0604020202020204" pitchFamily="34" charset="0"/>
                  </a:rPr>
                  <a:t>aumenta</a:t>
                </a:r>
                <a:r>
                  <a:rPr lang="en-US" sz="1200" dirty="0">
                    <a:latin typeface="Arial" panose="020B0604020202020204" pitchFamily="34" charset="0"/>
                    <a:cs typeface="Arial" panose="020B0604020202020204" pitchFamily="34" charset="0"/>
                  </a:rPr>
                  <a:t> la </a:t>
                </a:r>
                <a:r>
                  <a:rPr lang="en-US" sz="1200" dirty="0" err="1">
                    <a:latin typeface="Arial" panose="020B0604020202020204" pitchFamily="34" charset="0"/>
                    <a:cs typeface="Arial" panose="020B0604020202020204" pitchFamily="34" charset="0"/>
                  </a:rPr>
                  <a:t>anchura</a:t>
                </a:r>
                <a:r>
                  <a:rPr lang="en-US" sz="1200" dirty="0">
                    <a:latin typeface="Arial" panose="020B0604020202020204" pitchFamily="34" charset="0"/>
                    <a:cs typeface="Arial" panose="020B0604020202020204" pitchFamily="34" charset="0"/>
                  </a:rPr>
                  <a:t> del </a:t>
                </a:r>
                <a:r>
                  <a:rPr lang="en-US" sz="1200" dirty="0" err="1">
                    <a:latin typeface="Arial" panose="020B0604020202020204" pitchFamily="34" charset="0"/>
                    <a:cs typeface="Arial" panose="020B0604020202020204" pitchFamily="34" charset="0"/>
                  </a:rPr>
                  <a:t>cuerpo</a:t>
                </a:r>
                <a:r>
                  <a:rPr lang="en-US" sz="1200" dirty="0">
                    <a:latin typeface="Arial" panose="020B0604020202020204" pitchFamily="34" charset="0"/>
                    <a:cs typeface="Arial" panose="020B0604020202020204" pitchFamily="34" charset="0"/>
                  </a:rPr>
                  <a:t> del MMI la </a:t>
                </a:r>
                <a:r>
                  <a:rPr lang="en-US" sz="1200" dirty="0" err="1">
                    <a:latin typeface="Arial" panose="020B0604020202020204" pitchFamily="34" charset="0"/>
                    <a:cs typeface="Arial" panose="020B0604020202020204" pitchFamily="34" charset="0"/>
                  </a:rPr>
                  <a:t>diferencia</a:t>
                </a:r>
                <a:r>
                  <a:rPr lang="en-US" sz="1200" dirty="0">
                    <a:latin typeface="Arial" panose="020B0604020202020204" pitchFamily="34" charset="0"/>
                    <a:cs typeface="Arial" panose="020B0604020202020204" pitchFamily="34" charset="0"/>
                  </a:rPr>
                  <a:t> entre la </a:t>
                </a:r>
                <a:r>
                  <a:rPr lang="en-US" sz="1200" dirty="0" err="1">
                    <a:latin typeface="Arial" panose="020B0604020202020204" pitchFamily="34" charset="0"/>
                    <a:cs typeface="Arial" panose="020B0604020202020204" pitchFamily="34" charset="0"/>
                  </a:rPr>
                  <a:t>longitud</a:t>
                </a:r>
                <a:r>
                  <a:rPr lang="en-US" sz="1200" dirty="0">
                    <a:latin typeface="Arial" panose="020B0604020202020204" pitchFamily="34" charset="0"/>
                    <a:cs typeface="Arial" panose="020B0604020202020204" pitchFamily="34" charset="0"/>
                  </a:rPr>
                  <a:t> de batido de TE y TM se </a:t>
                </a:r>
                <a:r>
                  <a:rPr lang="en-US" sz="1200" dirty="0" err="1">
                    <a:latin typeface="Arial" panose="020B0604020202020204" pitchFamily="34" charset="0"/>
                    <a:cs typeface="Arial" panose="020B0604020202020204" pitchFamily="34" charset="0"/>
                  </a:rPr>
                  <a:t>hace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cada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vez</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más</a:t>
                </a:r>
                <a:r>
                  <a:rPr lang="en-US" sz="1200" dirty="0">
                    <a:latin typeface="Arial" panose="020B0604020202020204" pitchFamily="34" charset="0"/>
                    <a:cs typeface="Arial" panose="020B0604020202020204" pitchFamily="34" charset="0"/>
                  </a:rPr>
                  <a:t> grande tanto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guías</a:t>
                </a:r>
                <a:r>
                  <a:rPr lang="en-US" sz="1200" dirty="0">
                    <a:latin typeface="Arial" panose="020B0604020202020204" pitchFamily="34" charset="0"/>
                    <a:cs typeface="Arial" panose="020B0604020202020204" pitchFamily="34" charset="0"/>
                  </a:rPr>
                  <a:t> deep </a:t>
                </a:r>
                <a:r>
                  <a:rPr lang="en-US" sz="1200" dirty="0" err="1">
                    <a:latin typeface="Arial" panose="020B0604020202020204" pitchFamily="34" charset="0"/>
                    <a:cs typeface="Arial" panose="020B0604020202020204" pitchFamily="34" charset="0"/>
                  </a:rPr>
                  <a:t>como</a:t>
                </a:r>
                <a:r>
                  <a:rPr lang="en-US" sz="1200" dirty="0">
                    <a:latin typeface="Arial" panose="020B0604020202020204" pitchFamily="34" charset="0"/>
                    <a:cs typeface="Arial" panose="020B0604020202020204" pitchFamily="34" charset="0"/>
                  </a:rPr>
                  <a:t> shallow. Para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el</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dispositivo</a:t>
                </a:r>
                <a:r>
                  <a:rPr lang="en-US" sz="1200" dirty="0">
                    <a:latin typeface="Arial" panose="020B0604020202020204" pitchFamily="34" charset="0"/>
                    <a:cs typeface="Arial" panose="020B0604020202020204" pitchFamily="34" charset="0"/>
                  </a:rPr>
                  <a:t> fuera </a:t>
                </a:r>
                <a:r>
                  <a:rPr lang="en-US" sz="1200" dirty="0" err="1">
                    <a:latin typeface="Arial" panose="020B0604020202020204" pitchFamily="34" charset="0"/>
                    <a:cs typeface="Arial" panose="020B0604020202020204" pitchFamily="34" charset="0"/>
                  </a:rPr>
                  <a:t>independiente</a:t>
                </a:r>
                <a:r>
                  <a:rPr lang="en-US" sz="1200" dirty="0">
                    <a:latin typeface="Arial" panose="020B0604020202020204" pitchFamily="34" charset="0"/>
                    <a:cs typeface="Arial" panose="020B0604020202020204" pitchFamily="34" charset="0"/>
                  </a:rPr>
                  <a:t> de la </a:t>
                </a:r>
                <a:r>
                  <a:rPr lang="en-US" sz="1200" dirty="0" err="1">
                    <a:latin typeface="Arial" panose="020B0604020202020204" pitchFamily="34" charset="0"/>
                    <a:cs typeface="Arial" panose="020B0604020202020204" pitchFamily="34" charset="0"/>
                  </a:rPr>
                  <a:t>polarización</a:t>
                </a:r>
                <a:r>
                  <a:rPr lang="en-US" sz="1200" dirty="0">
                    <a:latin typeface="Arial" panose="020B0604020202020204" pitchFamily="34" charset="0"/>
                    <a:cs typeface="Arial" panose="020B0604020202020204" pitchFamily="34" charset="0"/>
                  </a:rPr>
                  <a:t>, ambas curvas </a:t>
                </a:r>
                <a:r>
                  <a:rPr lang="en-US" sz="1200" dirty="0" err="1">
                    <a:latin typeface="Arial" panose="020B0604020202020204" pitchFamily="34" charset="0"/>
                    <a:cs typeface="Arial" panose="020B0604020202020204" pitchFamily="34" charset="0"/>
                  </a:rPr>
                  <a:t>deberían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cruzarse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en</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algún</a:t>
                </a:r>
                <a:r>
                  <a:rPr lang="en-US" sz="1200" dirty="0">
                    <a:latin typeface="Arial" panose="020B0604020202020204" pitchFamily="34" charset="0"/>
                    <a:cs typeface="Arial" panose="020B0604020202020204" pitchFamily="34" charset="0"/>
                  </a:rPr>
                  <a:t> valor, lo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permitiría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que</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una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misma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longitud</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física</a:t>
                </a:r>
                <a:r>
                  <a:rPr lang="en-US" sz="1200" dirty="0">
                    <a:latin typeface="Arial" panose="020B0604020202020204" pitchFamily="34" charset="0"/>
                    <a:cs typeface="Arial" panose="020B0604020202020204" pitchFamily="34" charset="0"/>
                  </a:rPr>
                  <a:t> del </a:t>
                </a:r>
                <a:r>
                  <a:rPr lang="en-US" sz="1200" dirty="0" err="1">
                    <a:latin typeface="Arial" panose="020B0604020202020204" pitchFamily="34" charset="0"/>
                    <a:cs typeface="Arial" panose="020B0604020202020204" pitchFamily="34" charset="0"/>
                  </a:rPr>
                  <a:t>dispositivo</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satisfaga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esa</a:t>
                </a:r>
                <a:r>
                  <a:rPr lang="en-US" sz="1200" dirty="0">
                    <a:latin typeface="Arial" panose="020B0604020202020204" pitchFamily="34" charset="0"/>
                    <a:cs typeface="Arial" panose="020B0604020202020204" pitchFamily="34" charset="0"/>
                  </a:rPr>
                  <a:t> </a:t>
                </a:r>
                <a:r>
                  <a:rPr lang="en-US" sz="1200" dirty="0" err="1">
                    <a:latin typeface="Arial" panose="020B0604020202020204" pitchFamily="34" charset="0"/>
                    <a:cs typeface="Arial" panose="020B0604020202020204" pitchFamily="34" charset="0"/>
                  </a:rPr>
                  <a:t>condición</a:t>
                </a:r>
                <a:r>
                  <a:rPr lang="en-US" sz="1200" dirty="0">
                    <a:latin typeface="Arial" panose="020B0604020202020204" pitchFamily="34" charset="0"/>
                    <a:cs typeface="Arial" panose="020B0604020202020204" pitchFamily="34" charset="0"/>
                  </a:rPr>
                  <a:t>.</a:t>
                </a: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a:p>
                <a:pPr algn="just"/>
                <a:endParaRPr lang="en-US" sz="1200" dirty="0">
                  <a:latin typeface="Arial" panose="020B0604020202020204" pitchFamily="34" charset="0"/>
                  <a:cs typeface="Arial" panose="020B0604020202020204" pitchFamily="34" charset="0"/>
                </a:endParaRPr>
              </a:p>
            </p:txBody>
          </p:sp>
        </mc:Choice>
        <mc:Fallback>
          <p:sp>
            <p:nvSpPr>
              <p:cNvPr id="2" name="CuadroTexto 1">
                <a:extLst>
                  <a:ext uri="{FF2B5EF4-FFF2-40B4-BE49-F238E27FC236}">
                    <a16:creationId xmlns:a16="http://schemas.microsoft.com/office/drawing/2014/main" id="{8D88CB07-C5F5-9BB7-9F41-E171F0F0E2B9}"/>
                  </a:ext>
                </a:extLst>
              </p:cNvPr>
              <p:cNvSpPr txBox="1">
                <a:spLocks noRot="1" noChangeAspect="1" noMove="1" noResize="1" noEditPoints="1" noAdjustHandles="1" noChangeArrowheads="1" noChangeShapeType="1" noTextEdit="1"/>
              </p:cNvSpPr>
              <p:nvPr/>
            </p:nvSpPr>
            <p:spPr>
              <a:xfrm>
                <a:off x="609442" y="4860334"/>
                <a:ext cx="11198541" cy="2123658"/>
              </a:xfrm>
              <a:prstGeom prst="rect">
                <a:avLst/>
              </a:prstGeom>
              <a:blipFill>
                <a:blip r:embed="rId4"/>
                <a:stretch>
                  <a:fillRect/>
                </a:stretch>
              </a:blipFill>
              <a:ln w="28575">
                <a:solidFill>
                  <a:srgbClr val="E0700D"/>
                </a:solidFill>
              </a:ln>
            </p:spPr>
            <p:txBody>
              <a:bodyPr/>
              <a:lstStyle/>
              <a:p>
                <a:r>
                  <a:rPr lang="es-ES">
                    <a:noFill/>
                  </a:rPr>
                  <a:t> </a:t>
                </a:r>
              </a:p>
            </p:txBody>
          </p:sp>
        </mc:Fallback>
      </mc:AlternateContent>
      <p:sp>
        <p:nvSpPr>
          <p:cNvPr id="4" name="Rectángulo 3">
            <a:extLst>
              <a:ext uri="{FF2B5EF4-FFF2-40B4-BE49-F238E27FC236}">
                <a16:creationId xmlns:a16="http://schemas.microsoft.com/office/drawing/2014/main" id="{B58B1BB0-E248-0BA3-D1B3-93649227103E}"/>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ángulo 4">
            <a:extLst>
              <a:ext uri="{FF2B5EF4-FFF2-40B4-BE49-F238E27FC236}">
                <a16:creationId xmlns:a16="http://schemas.microsoft.com/office/drawing/2014/main" id="{8E0E2533-B1CA-72C4-3859-1CBDD5887887}"/>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uadroTexto 5">
            <a:extLst>
              <a:ext uri="{FF2B5EF4-FFF2-40B4-BE49-F238E27FC236}">
                <a16:creationId xmlns:a16="http://schemas.microsoft.com/office/drawing/2014/main" id="{154B5534-E510-6404-1E30-B73FDF73AD42}"/>
              </a:ext>
            </a:extLst>
          </p:cNvPr>
          <p:cNvSpPr txBox="1"/>
          <p:nvPr/>
        </p:nvSpPr>
        <p:spPr>
          <a:xfrm>
            <a:off x="6331152" y="4342178"/>
            <a:ext cx="2269787" cy="369332"/>
          </a:xfrm>
          <a:prstGeom prst="rect">
            <a:avLst/>
          </a:prstGeom>
          <a:noFill/>
        </p:spPr>
        <p:txBody>
          <a:bodyPr wrap="square">
            <a:spAutoFit/>
          </a:bodyPr>
          <a:lstStyle/>
          <a:p>
            <a:r>
              <a:rPr lang="en-US"/>
              <a:t>slab = 150nm</a:t>
            </a:r>
            <a:endParaRPr lang="es-ES"/>
          </a:p>
        </p:txBody>
      </p:sp>
      <mc:AlternateContent xmlns:mc="http://schemas.openxmlformats.org/markup-compatibility/2006" xmlns:a14="http://schemas.microsoft.com/office/drawing/2010/main">
        <mc:Choice Requires="a14">
          <p:sp>
            <p:nvSpPr>
              <p:cNvPr id="9" name="CuadroTexto 8">
                <a:extLst>
                  <a:ext uri="{FF2B5EF4-FFF2-40B4-BE49-F238E27FC236}">
                    <a16:creationId xmlns:a16="http://schemas.microsoft.com/office/drawing/2014/main" id="{2BDFECD2-156D-6697-CFBF-8CD783F9B986}"/>
                  </a:ext>
                </a:extLst>
              </p:cNvPr>
              <p:cNvSpPr txBox="1"/>
              <p:nvPr/>
            </p:nvSpPr>
            <p:spPr>
              <a:xfrm>
                <a:off x="1079403" y="2709096"/>
                <a:ext cx="4546634" cy="923330"/>
              </a:xfrm>
              <a:prstGeom prst="rect">
                <a:avLst/>
              </a:prstGeom>
              <a:noFill/>
            </p:spPr>
            <p:txBody>
              <a:bodyPr wrap="square" rtlCol="0">
                <a:spAutoFit/>
              </a:bodyPr>
              <a:lstStyle/>
              <a:p>
                <a:pPr algn="ctr"/>
                <a:r>
                  <a:rPr lang="en-US" b="1"/>
                  <a:t>deep</a:t>
                </a:r>
                <a:r>
                  <a:rPr lang="en-US"/>
                  <a:t> waveguide</a:t>
                </a:r>
              </a:p>
              <a:p>
                <a:pPr algn="ctr"/>
                <a:endParaRPr lang="en-US"/>
              </a:p>
              <a:p>
                <a:pPr algn="ctr"/>
                <a:r>
                  <a:rPr lang="en-US"/>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a:t> vs width for TE and TM plot here</a:t>
                </a:r>
              </a:p>
            </p:txBody>
          </p:sp>
        </mc:Choice>
        <mc:Fallback xmlns="">
          <p:sp>
            <p:nvSpPr>
              <p:cNvPr id="9" name="CuadroTexto 8">
                <a:extLst>
                  <a:ext uri="{FF2B5EF4-FFF2-40B4-BE49-F238E27FC236}">
                    <a16:creationId xmlns:a16="http://schemas.microsoft.com/office/drawing/2014/main" id="{2BDFECD2-156D-6697-CFBF-8CD783F9B986}"/>
                  </a:ext>
                </a:extLst>
              </p:cNvPr>
              <p:cNvSpPr txBox="1">
                <a:spLocks noRot="1" noChangeAspect="1" noMove="1" noResize="1" noEditPoints="1" noAdjustHandles="1" noChangeArrowheads="1" noChangeShapeType="1" noTextEdit="1"/>
              </p:cNvSpPr>
              <p:nvPr/>
            </p:nvSpPr>
            <p:spPr>
              <a:xfrm>
                <a:off x="1079403" y="2709096"/>
                <a:ext cx="4546634" cy="923330"/>
              </a:xfrm>
              <a:prstGeom prst="rect">
                <a:avLst/>
              </a:prstGeom>
              <a:blipFill>
                <a:blip r:embed="rId5"/>
                <a:stretch>
                  <a:fillRect t="-3289" b="-92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3BFC64CA-DE35-A528-CF09-36A26DB3DEE4}"/>
                  </a:ext>
                </a:extLst>
              </p:cNvPr>
              <p:cNvSpPr txBox="1"/>
              <p:nvPr/>
            </p:nvSpPr>
            <p:spPr>
              <a:xfrm>
                <a:off x="6883366" y="2709096"/>
                <a:ext cx="4546634" cy="923330"/>
              </a:xfrm>
              <a:prstGeom prst="rect">
                <a:avLst/>
              </a:prstGeom>
              <a:noFill/>
            </p:spPr>
            <p:txBody>
              <a:bodyPr wrap="square" rtlCol="0">
                <a:spAutoFit/>
              </a:bodyPr>
              <a:lstStyle/>
              <a:p>
                <a:pPr algn="ctr"/>
                <a:r>
                  <a:rPr lang="en-US" b="1"/>
                  <a:t>shallow</a:t>
                </a:r>
                <a:r>
                  <a:rPr lang="en-US"/>
                  <a:t> waveguide</a:t>
                </a:r>
              </a:p>
              <a:p>
                <a:pPr algn="ctr"/>
                <a:endParaRPr lang="en-US"/>
              </a:p>
              <a:p>
                <a:pPr algn="ctr"/>
                <a:r>
                  <a:rPr lang="en-US"/>
                  <a:t>Paste </a:t>
                </a:r>
                <a14:m>
                  <m:oMath xmlns:m="http://schemas.openxmlformats.org/officeDocument/2006/math">
                    <m:sSub>
                      <m:sSubPr>
                        <m:ctrlPr>
                          <a:rPr lang="es-ES" sz="1800" b="0" i="1" smtClean="0">
                            <a:latin typeface="Cambria Math" panose="02040503050406030204" pitchFamily="18" charset="0"/>
                          </a:rPr>
                        </m:ctrlPr>
                      </m:sSubPr>
                      <m:e>
                        <m:r>
                          <a:rPr lang="es-ES" sz="1800" b="0" i="1" smtClean="0">
                            <a:latin typeface="Cambria Math" panose="02040503050406030204" pitchFamily="18" charset="0"/>
                          </a:rPr>
                          <m:t>𝐿</m:t>
                        </m:r>
                      </m:e>
                      <m:sub>
                        <m:r>
                          <a:rPr lang="es-ES" sz="1800" b="0" i="1" smtClean="0">
                            <a:latin typeface="Cambria Math" panose="02040503050406030204" pitchFamily="18" charset="0"/>
                          </a:rPr>
                          <m:t>𝜋</m:t>
                        </m:r>
                      </m:sub>
                    </m:sSub>
                  </m:oMath>
                </a14:m>
                <a:r>
                  <a:rPr lang="en-US"/>
                  <a:t> vs width for TE and TM plot here</a:t>
                </a:r>
              </a:p>
            </p:txBody>
          </p:sp>
        </mc:Choice>
        <mc:Fallback xmlns="">
          <p:sp>
            <p:nvSpPr>
              <p:cNvPr id="10" name="CuadroTexto 9">
                <a:extLst>
                  <a:ext uri="{FF2B5EF4-FFF2-40B4-BE49-F238E27FC236}">
                    <a16:creationId xmlns:a16="http://schemas.microsoft.com/office/drawing/2014/main" id="{3BFC64CA-DE35-A528-CF09-36A26DB3DEE4}"/>
                  </a:ext>
                </a:extLst>
              </p:cNvPr>
              <p:cNvSpPr txBox="1">
                <a:spLocks noRot="1" noChangeAspect="1" noMove="1" noResize="1" noEditPoints="1" noAdjustHandles="1" noChangeArrowheads="1" noChangeShapeType="1" noTextEdit="1"/>
              </p:cNvSpPr>
              <p:nvPr/>
            </p:nvSpPr>
            <p:spPr>
              <a:xfrm>
                <a:off x="6883366" y="2709096"/>
                <a:ext cx="4546634" cy="923330"/>
              </a:xfrm>
              <a:prstGeom prst="rect">
                <a:avLst/>
              </a:prstGeom>
              <a:blipFill>
                <a:blip r:embed="rId6"/>
                <a:stretch>
                  <a:fillRect t="-3289" b="-9211"/>
                </a:stretch>
              </a:blipFill>
            </p:spPr>
            <p:txBody>
              <a:bodyPr/>
              <a:lstStyle/>
              <a:p>
                <a:r>
                  <a:rPr lang="en-US">
                    <a:noFill/>
                  </a:rPr>
                  <a:t> </a:t>
                </a:r>
              </a:p>
            </p:txBody>
          </p:sp>
        </mc:Fallback>
      </mc:AlternateContent>
      <p:pic>
        <p:nvPicPr>
          <p:cNvPr id="8" name="Imagen 7">
            <a:extLst>
              <a:ext uri="{FF2B5EF4-FFF2-40B4-BE49-F238E27FC236}">
                <a16:creationId xmlns:a16="http://schemas.microsoft.com/office/drawing/2014/main" id="{80139258-3283-3C48-A78C-B66FCA8B0089}"/>
              </a:ext>
            </a:extLst>
          </p:cNvPr>
          <p:cNvPicPr>
            <a:picLocks noChangeAspect="1"/>
          </p:cNvPicPr>
          <p:nvPr/>
        </p:nvPicPr>
        <p:blipFill>
          <a:blip r:embed="rId7"/>
          <a:stretch>
            <a:fillRect/>
          </a:stretch>
        </p:blipFill>
        <p:spPr>
          <a:xfrm>
            <a:off x="1079403" y="1506583"/>
            <a:ext cx="4646183" cy="3142023"/>
          </a:xfrm>
          <a:prstGeom prst="rect">
            <a:avLst/>
          </a:prstGeom>
        </p:spPr>
      </p:pic>
      <p:pic>
        <p:nvPicPr>
          <p:cNvPr id="12" name="Imagen 11">
            <a:extLst>
              <a:ext uri="{FF2B5EF4-FFF2-40B4-BE49-F238E27FC236}">
                <a16:creationId xmlns:a16="http://schemas.microsoft.com/office/drawing/2014/main" id="{0A41C40E-B978-39D0-2514-C16778AF2DAF}"/>
              </a:ext>
            </a:extLst>
          </p:cNvPr>
          <p:cNvPicPr>
            <a:picLocks noChangeAspect="1"/>
          </p:cNvPicPr>
          <p:nvPr/>
        </p:nvPicPr>
        <p:blipFill>
          <a:blip r:embed="rId8"/>
          <a:stretch>
            <a:fillRect/>
          </a:stretch>
        </p:blipFill>
        <p:spPr>
          <a:xfrm>
            <a:off x="6393094" y="1506447"/>
            <a:ext cx="4776026" cy="3229831"/>
          </a:xfrm>
          <a:prstGeom prst="rect">
            <a:avLst/>
          </a:prstGeom>
        </p:spPr>
      </p:pic>
    </p:spTree>
    <p:extLst>
      <p:ext uri="{BB962C8B-B14F-4D97-AF65-F5344CB8AC3E}">
        <p14:creationId xmlns:p14="http://schemas.microsoft.com/office/powerpoint/2010/main" val="53593943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a:solidFill>
                  <a:srgbClr val="FFFFFF"/>
                </a:solidFill>
                <a:latin typeface="Lucida Sans"/>
                <a:cs typeface="Lucida Sans"/>
              </a:rPr>
              <a:t>Thank</a:t>
            </a:r>
            <a:r>
              <a:rPr sz="3200" b="1" spc="-55">
                <a:solidFill>
                  <a:srgbClr val="FFFFFF"/>
                </a:solidFill>
                <a:latin typeface="Lucida Sans"/>
                <a:cs typeface="Lucida Sans"/>
              </a:rPr>
              <a:t> </a:t>
            </a:r>
            <a:r>
              <a:rPr sz="3200" b="1">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20</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16</TotalTime>
  <Words>2388</Words>
  <Application>Microsoft Office PowerPoint</Application>
  <PresentationFormat>Panorámica</PresentationFormat>
  <Paragraphs>202</Paragraphs>
  <Slides>20</Slides>
  <Notes>14</Notes>
  <HiddenSlides>0</HiddenSlides>
  <MMClips>0</MMClips>
  <ScaleCrop>false</ScaleCrop>
  <HeadingPairs>
    <vt:vector size="6" baseType="variant">
      <vt:variant>
        <vt:lpstr>Fuentes usadas</vt:lpstr>
      </vt:variant>
      <vt:variant>
        <vt:i4>7</vt:i4>
      </vt:variant>
      <vt:variant>
        <vt:lpstr>Tema</vt:lpstr>
      </vt:variant>
      <vt:variant>
        <vt:i4>1</vt:i4>
      </vt:variant>
      <vt:variant>
        <vt:lpstr>Títulos de diapositiva</vt:lpstr>
      </vt:variant>
      <vt:variant>
        <vt:i4>20</vt:i4>
      </vt:variant>
    </vt:vector>
  </HeadingPairs>
  <TitlesOfParts>
    <vt:vector size="28" baseType="lpstr">
      <vt:lpstr>Aptos</vt:lpstr>
      <vt:lpstr>Arial</vt:lpstr>
      <vt:lpstr>Calibri</vt:lpstr>
      <vt:lpstr>Cambria Math</vt:lpstr>
      <vt:lpstr>Lucida Sans</vt:lpstr>
      <vt:lpstr>Times New Roman</vt:lpstr>
      <vt:lpstr>Wingdings</vt:lpstr>
      <vt:lpstr>Office Theme</vt:lpstr>
      <vt:lpstr>Presentación de PowerPoint</vt:lpstr>
      <vt:lpstr>Instructions General</vt:lpstr>
      <vt:lpstr>Presentación de PowerPoint</vt:lpstr>
      <vt:lpstr>Learning outcome #1 – Directional coupler cross-section in GDSFactory </vt:lpstr>
      <vt:lpstr>Modo 0 TE0</vt:lpstr>
      <vt:lpstr>Learning outcome #2 – Directional coupler length and coupling coefficient Wavelength 1.5 µm – width 1.2 µm – gap 0.6 µm – thickness 300 nm</vt:lpstr>
      <vt:lpstr>Learning outcome #3 – 2x2 Directional Coupler Wavelength 1.55 µm – Sweep gaps between 0.2 and 1.2 µm in steps of 0.2 µm</vt:lpstr>
      <vt:lpstr>Learning outcome #4 – Parallel uncoupled waveguides – TE0 mode Wavelength 1.55 µm, width 1.0 µm, gap to be found for uncoupled wvgs</vt:lpstr>
      <vt:lpstr>Presentación de PowerPoint</vt:lpstr>
      <vt:lpstr>Learning outcome #5 – Multimode Interference (MMI) Coupler cross-section</vt:lpstr>
      <vt:lpstr>Learning outcome #5 – Multimode Interference (MMI) Coupler cross-section</vt:lpstr>
      <vt:lpstr>Learning outcome #6 – 6.1 2x2 Multimode Interference Coupler  Wavelength 1.55 µm, wMMI = 6.6 µm</vt:lpstr>
      <vt:lpstr>Learning outcome #6.2 – 2x2 Multimode Interference Coupler - Optimization Wavelength 1.55 µm, wMMI = 6.6 µm</vt:lpstr>
      <vt:lpstr>Learning outcome #6.3 – 2x2 Multimode Interference Coupler – Optimization (II) Wavelength 1.55 µm, wMMI = 6.6 µm</vt:lpstr>
      <vt:lpstr>Learning outcome #7 – 1x4 Multimode Interference Coupler  Wavelength 1.55 µm, wMMI = ? µm</vt:lpstr>
      <vt:lpstr>Extra #1 – Directional coupler gap dependence Wavelength 1.55 µm, width 1.0 µm, gap 0.2-2.4 µm (step 0.2 µm) </vt:lpstr>
      <vt:lpstr>Extra #2 – Directional wavelength dependence Wavelengths from 1.5 to 1.7 µm, gap = 0.6 µm, width 1.0 µm  </vt:lpstr>
      <vt:lpstr>Extra #3 – MMI coupler wavelength dependence Wavelengths from 1.5 to 1.7 µm, wMMI = 6.6 µm</vt:lpstr>
      <vt:lpstr>Extra #4 – MMI coupler body width dependence Wavelength 1.55 µm, wMMI = 5-10 µm (steps 0.5 µm)</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Lorena Gimeno</cp:lastModifiedBy>
  <cp:revision>2</cp:revision>
  <dcterms:created xsi:type="dcterms:W3CDTF">2025-01-27T02:46:57Z</dcterms:created>
  <dcterms:modified xsi:type="dcterms:W3CDTF">2026-05-03T16:10:17Z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