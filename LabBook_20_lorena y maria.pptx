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2"/>
  </p:notesMasterIdLst>
  <p:handoutMasterIdLst>
    <p:handoutMasterId r:id="rId23"/>
  </p:handoutMasterIdLst>
  <p:sldIdLst>
    <p:sldId id="256" r:id="rId2"/>
    <p:sldId id="289" r:id="rId3"/>
    <p:sldId id="295" r:id="rId4"/>
    <p:sldId id="304" r:id="rId5"/>
    <p:sldId id="305" r:id="rId6"/>
    <p:sldId id="302" r:id="rId7"/>
    <p:sldId id="303" r:id="rId8"/>
    <p:sldId id="291" r:id="rId9"/>
    <p:sldId id="296" r:id="rId10"/>
    <p:sldId id="293" r:id="rId11"/>
    <p:sldId id="306" r:id="rId12"/>
    <p:sldId id="294" r:id="rId13"/>
    <p:sldId id="299" r:id="rId14"/>
    <p:sldId id="300" r:id="rId15"/>
    <p:sldId id="301" r:id="rId16"/>
    <p:sldId id="290" r:id="rId17"/>
    <p:sldId id="297" r:id="rId18"/>
    <p:sldId id="292" r:id="rId19"/>
    <p:sldId id="298" r:id="rId20"/>
    <p:sldId id="288" r:id="rId21"/>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9EB472-C8B9-4228-8ED2-9140412C4CE3}" v="11" dt="2026-05-03T16:09:34.07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rena Gimeno" userId="548ce772763c7a5c" providerId="LiveId" clId="{24A47F1E-ED8B-4BF7-8ED5-668CDAADF216}"/>
    <pc:docChg chg="custSel modSld">
      <pc:chgData name="Lorena Gimeno" userId="548ce772763c7a5c" providerId="LiveId" clId="{24A47F1E-ED8B-4BF7-8ED5-668CDAADF216}" dt="2026-05-03T16:57:12.293" v="65" actId="1076"/>
      <pc:docMkLst>
        <pc:docMk/>
      </pc:docMkLst>
      <pc:sldChg chg="modSp mod">
        <pc:chgData name="Lorena Gimeno" userId="548ce772763c7a5c" providerId="LiveId" clId="{24A47F1E-ED8B-4BF7-8ED5-668CDAADF216}" dt="2026-05-03T16:00:44.270" v="34" actId="1076"/>
        <pc:sldMkLst>
          <pc:docMk/>
          <pc:sldMk cId="179796361" sldId="290"/>
        </pc:sldMkLst>
        <pc:picChg chg="mod">
          <ac:chgData name="Lorena Gimeno" userId="548ce772763c7a5c" providerId="LiveId" clId="{24A47F1E-ED8B-4BF7-8ED5-668CDAADF216}" dt="2026-05-03T16:00:44.270" v="34" actId="1076"/>
          <ac:picMkLst>
            <pc:docMk/>
            <pc:sldMk cId="179796361" sldId="290"/>
            <ac:picMk id="14" creationId="{69CEB966-C816-3A2C-25E1-C6FA5FA3C60F}"/>
          </ac:picMkLst>
        </pc:picChg>
      </pc:sldChg>
      <pc:sldChg chg="modSp mod">
        <pc:chgData name="Lorena Gimeno" userId="548ce772763c7a5c" providerId="LiveId" clId="{24A47F1E-ED8B-4BF7-8ED5-668CDAADF216}" dt="2026-05-03T16:54:15.915" v="59" actId="1076"/>
        <pc:sldMkLst>
          <pc:docMk/>
          <pc:sldMk cId="3712356003" sldId="291"/>
        </pc:sldMkLst>
        <pc:picChg chg="mod">
          <ac:chgData name="Lorena Gimeno" userId="548ce772763c7a5c" providerId="LiveId" clId="{24A47F1E-ED8B-4BF7-8ED5-668CDAADF216}" dt="2026-05-03T16:54:15.915" v="59" actId="1076"/>
          <ac:picMkLst>
            <pc:docMk/>
            <pc:sldMk cId="3712356003" sldId="291"/>
            <ac:picMk id="11" creationId="{340B8339-E11C-F172-EDE9-3D6A82965260}"/>
          </ac:picMkLst>
        </pc:picChg>
      </pc:sldChg>
      <pc:sldChg chg="modSp mod">
        <pc:chgData name="Lorena Gimeno" userId="548ce772763c7a5c" providerId="LiveId" clId="{24A47F1E-ED8B-4BF7-8ED5-668CDAADF216}" dt="2026-05-03T16:54:42.216" v="64" actId="1036"/>
        <pc:sldMkLst>
          <pc:docMk/>
          <pc:sldMk cId="2815679427" sldId="294"/>
        </pc:sldMkLst>
        <pc:spChg chg="mod">
          <ac:chgData name="Lorena Gimeno" userId="548ce772763c7a5c" providerId="LiveId" clId="{24A47F1E-ED8B-4BF7-8ED5-668CDAADF216}" dt="2026-05-03T16:54:42.216" v="64" actId="1036"/>
          <ac:spMkLst>
            <pc:docMk/>
            <pc:sldMk cId="2815679427" sldId="294"/>
            <ac:spMk id="7" creationId="{98DE5FDA-4E91-E843-E84A-1467BFAA9986}"/>
          </ac:spMkLst>
        </pc:spChg>
        <pc:picChg chg="mod">
          <ac:chgData name="Lorena Gimeno" userId="548ce772763c7a5c" providerId="LiveId" clId="{24A47F1E-ED8B-4BF7-8ED5-668CDAADF216}" dt="2026-05-03T16:54:39.620" v="62" actId="1036"/>
          <ac:picMkLst>
            <pc:docMk/>
            <pc:sldMk cId="2815679427" sldId="294"/>
            <ac:picMk id="6" creationId="{72F1879C-8265-88BC-D2BF-2E353EDBFB08}"/>
          </ac:picMkLst>
        </pc:picChg>
      </pc:sldChg>
      <pc:sldChg chg="modSp">
        <pc:chgData name="Lorena Gimeno" userId="548ce772763c7a5c" providerId="LiveId" clId="{24A47F1E-ED8B-4BF7-8ED5-668CDAADF216}" dt="2026-05-03T15:58:57.450" v="31" actId="20577"/>
        <pc:sldMkLst>
          <pc:docMk/>
          <pc:sldMk cId="813558068" sldId="297"/>
        </pc:sldMkLst>
        <pc:spChg chg="mod">
          <ac:chgData name="Lorena Gimeno" userId="548ce772763c7a5c" providerId="LiveId" clId="{24A47F1E-ED8B-4BF7-8ED5-668CDAADF216}" dt="2026-05-03T15:58:57.450" v="31" actId="20577"/>
          <ac:spMkLst>
            <pc:docMk/>
            <pc:sldMk cId="813558068" sldId="297"/>
            <ac:spMk id="14" creationId="{A0C962F3-7DF4-66E7-60D0-370F60DC58D9}"/>
          </ac:spMkLst>
        </pc:spChg>
      </pc:sldChg>
      <pc:sldChg chg="modSp mod">
        <pc:chgData name="Lorena Gimeno" userId="548ce772763c7a5c" providerId="LiveId" clId="{24A47F1E-ED8B-4BF7-8ED5-668CDAADF216}" dt="2026-05-03T15:59:36.508" v="33" actId="14100"/>
        <pc:sldMkLst>
          <pc:docMk/>
          <pc:sldMk cId="535939439" sldId="298"/>
        </pc:sldMkLst>
        <pc:spChg chg="mod">
          <ac:chgData name="Lorena Gimeno" userId="548ce772763c7a5c" providerId="LiveId" clId="{24A47F1E-ED8B-4BF7-8ED5-668CDAADF216}" dt="2026-05-03T15:59:36.508" v="33" actId="14100"/>
          <ac:spMkLst>
            <pc:docMk/>
            <pc:sldMk cId="535939439" sldId="298"/>
            <ac:spMk id="2" creationId="{8D88CB07-C5F5-9BB7-9F41-E171F0F0E2B9}"/>
          </ac:spMkLst>
        </pc:spChg>
      </pc:sldChg>
      <pc:sldChg chg="delSp modSp mod">
        <pc:chgData name="Lorena Gimeno" userId="548ce772763c7a5c" providerId="LiveId" clId="{24A47F1E-ED8B-4BF7-8ED5-668CDAADF216}" dt="2026-05-03T16:54:47.281" v="65" actId="1076"/>
        <pc:sldMkLst>
          <pc:docMk/>
          <pc:sldMk cId="2685215753" sldId="299"/>
        </pc:sldMkLst>
        <pc:spChg chg="del mod">
          <ac:chgData name="Lorena Gimeno" userId="548ce772763c7a5c" providerId="LiveId" clId="{24A47F1E-ED8B-4BF7-8ED5-668CDAADF216}" dt="2026-05-03T15:56:55.045" v="14"/>
          <ac:spMkLst>
            <pc:docMk/>
            <pc:sldMk cId="2685215753" sldId="299"/>
            <ac:spMk id="8" creationId="{643565A9-7DB6-D6EE-152F-2852C8BA7986}"/>
          </ac:spMkLst>
        </pc:spChg>
        <pc:picChg chg="mod">
          <ac:chgData name="Lorena Gimeno" userId="548ce772763c7a5c" providerId="LiveId" clId="{24A47F1E-ED8B-4BF7-8ED5-668CDAADF216}" dt="2026-05-03T15:56:53.335" v="12" actId="1076"/>
          <ac:picMkLst>
            <pc:docMk/>
            <pc:sldMk cId="2685215753" sldId="299"/>
            <ac:picMk id="5" creationId="{78407938-D4E2-F455-87C0-0215A39884A8}"/>
          </ac:picMkLst>
        </pc:picChg>
        <pc:picChg chg="mod">
          <ac:chgData name="Lorena Gimeno" userId="548ce772763c7a5c" providerId="LiveId" clId="{24A47F1E-ED8B-4BF7-8ED5-668CDAADF216}" dt="2026-05-03T16:54:47.281" v="65" actId="1076"/>
          <ac:picMkLst>
            <pc:docMk/>
            <pc:sldMk cId="2685215753" sldId="299"/>
            <ac:picMk id="6" creationId="{9B67FB2E-6CD5-8AC1-7B41-4612868D190B}"/>
          </ac:picMkLst>
        </pc:picChg>
      </pc:sldChg>
      <pc:sldChg chg="delSp modSp mod">
        <pc:chgData name="Lorena Gimeno" userId="548ce772763c7a5c" providerId="LiveId" clId="{24A47F1E-ED8B-4BF7-8ED5-668CDAADF216}" dt="2026-05-03T16:10:15.234" v="51" actId="20577"/>
        <pc:sldMkLst>
          <pc:docMk/>
          <pc:sldMk cId="1023731220" sldId="300"/>
        </pc:sldMkLst>
        <pc:spChg chg="mod">
          <ac:chgData name="Lorena Gimeno" userId="548ce772763c7a5c" providerId="LiveId" clId="{24A47F1E-ED8B-4BF7-8ED5-668CDAADF216}" dt="2026-05-03T16:10:15.234" v="51" actId="20577"/>
          <ac:spMkLst>
            <pc:docMk/>
            <pc:sldMk cId="1023731220" sldId="300"/>
            <ac:spMk id="2" creationId="{EF5B7948-A25A-9043-7061-DD15A9023924}"/>
          </ac:spMkLst>
        </pc:spChg>
        <pc:spChg chg="del mod">
          <ac:chgData name="Lorena Gimeno" userId="548ce772763c7a5c" providerId="LiveId" clId="{24A47F1E-ED8B-4BF7-8ED5-668CDAADF216}" dt="2026-05-03T15:56:39.215" v="7"/>
          <ac:spMkLst>
            <pc:docMk/>
            <pc:sldMk cId="1023731220" sldId="300"/>
            <ac:spMk id="8" creationId="{B0CFB20A-64F3-A296-71E8-F4FA17D35314}"/>
          </ac:spMkLst>
        </pc:spChg>
        <pc:picChg chg="mod">
          <ac:chgData name="Lorena Gimeno" userId="548ce772763c7a5c" providerId="LiveId" clId="{24A47F1E-ED8B-4BF7-8ED5-668CDAADF216}" dt="2026-05-03T15:56:37.946" v="5" actId="1076"/>
          <ac:picMkLst>
            <pc:docMk/>
            <pc:sldMk cId="1023731220" sldId="300"/>
            <ac:picMk id="6" creationId="{A04C76FE-2A54-B0EF-68FC-B9B2823DACFE}"/>
          </ac:picMkLst>
        </pc:picChg>
        <pc:picChg chg="mod">
          <ac:chgData name="Lorena Gimeno" userId="548ce772763c7a5c" providerId="LiveId" clId="{24A47F1E-ED8B-4BF7-8ED5-668CDAADF216}" dt="2026-05-03T15:56:33.943" v="3" actId="1076"/>
          <ac:picMkLst>
            <pc:docMk/>
            <pc:sldMk cId="1023731220" sldId="300"/>
            <ac:picMk id="11" creationId="{6612CABF-1021-1FF4-C515-DD87F9C9C8FD}"/>
          </ac:picMkLst>
        </pc:picChg>
      </pc:sldChg>
      <pc:sldChg chg="delSp modSp mod">
        <pc:chgData name="Lorena Gimeno" userId="548ce772763c7a5c" providerId="LiveId" clId="{24A47F1E-ED8B-4BF7-8ED5-668CDAADF216}" dt="2026-05-03T15:57:16.588" v="22" actId="1076"/>
        <pc:sldMkLst>
          <pc:docMk/>
          <pc:sldMk cId="699864314" sldId="301"/>
        </pc:sldMkLst>
        <pc:spChg chg="del mod">
          <ac:chgData name="Lorena Gimeno" userId="548ce772763c7a5c" providerId="LiveId" clId="{24A47F1E-ED8B-4BF7-8ED5-668CDAADF216}" dt="2026-05-03T15:57:05.475" v="18" actId="478"/>
          <ac:spMkLst>
            <pc:docMk/>
            <pc:sldMk cId="699864314" sldId="301"/>
            <ac:spMk id="8" creationId="{C3506757-32B7-9151-DA89-AADDB7F7D093}"/>
          </ac:spMkLst>
        </pc:spChg>
        <pc:picChg chg="mod">
          <ac:chgData name="Lorena Gimeno" userId="548ce772763c7a5c" providerId="LiveId" clId="{24A47F1E-ED8B-4BF7-8ED5-668CDAADF216}" dt="2026-05-03T15:57:08.309" v="19" actId="1076"/>
          <ac:picMkLst>
            <pc:docMk/>
            <pc:sldMk cId="699864314" sldId="301"/>
            <ac:picMk id="5" creationId="{35A69CD1-54DE-8DD1-BB02-DC11E14EDAEF}"/>
          </ac:picMkLst>
        </pc:picChg>
        <pc:picChg chg="mod">
          <ac:chgData name="Lorena Gimeno" userId="548ce772763c7a5c" providerId="LiveId" clId="{24A47F1E-ED8B-4BF7-8ED5-668CDAADF216}" dt="2026-05-03T15:57:16.588" v="22" actId="1076"/>
          <ac:picMkLst>
            <pc:docMk/>
            <pc:sldMk cId="699864314" sldId="301"/>
            <ac:picMk id="9" creationId="{2E0D2D9C-20DC-D1CF-F6F9-0E9ECD81AE86}"/>
          </ac:picMkLst>
        </pc:picChg>
      </pc:sldChg>
      <pc:sldChg chg="modSp mod">
        <pc:chgData name="Lorena Gimeno" userId="548ce772763c7a5c" providerId="LiveId" clId="{24A47F1E-ED8B-4BF7-8ED5-668CDAADF216}" dt="2026-05-03T16:53:59.664" v="57" actId="1076"/>
        <pc:sldMkLst>
          <pc:docMk/>
          <pc:sldMk cId="1558326841" sldId="303"/>
        </pc:sldMkLst>
        <pc:picChg chg="mod">
          <ac:chgData name="Lorena Gimeno" userId="548ce772763c7a5c" providerId="LiveId" clId="{24A47F1E-ED8B-4BF7-8ED5-668CDAADF216}" dt="2026-05-03T16:53:54.856" v="56" actId="14100"/>
          <ac:picMkLst>
            <pc:docMk/>
            <pc:sldMk cId="1558326841" sldId="303"/>
            <ac:picMk id="20" creationId="{9817408F-E8F4-1712-4477-3F151C7DC6FC}"/>
          </ac:picMkLst>
        </pc:picChg>
        <pc:picChg chg="mod">
          <ac:chgData name="Lorena Gimeno" userId="548ce772763c7a5c" providerId="LiveId" clId="{24A47F1E-ED8B-4BF7-8ED5-668CDAADF216}" dt="2026-05-03T16:53:59.664" v="57" actId="1076"/>
          <ac:picMkLst>
            <pc:docMk/>
            <pc:sldMk cId="1558326841" sldId="303"/>
            <ac:picMk id="22" creationId="{3F8FC60F-4029-60D0-9E81-AAE90079CF0A}"/>
          </ac:picMkLst>
        </pc:picChg>
      </pc:sldChg>
      <pc:sldChg chg="modSp mod">
        <pc:chgData name="Lorena Gimeno" userId="548ce772763c7a5c" providerId="LiveId" clId="{24A47F1E-ED8B-4BF7-8ED5-668CDAADF216}" dt="2026-05-03T16:53:44.498" v="53" actId="1076"/>
        <pc:sldMkLst>
          <pc:docMk/>
          <pc:sldMk cId="4090700512" sldId="305"/>
        </pc:sldMkLst>
        <pc:picChg chg="mod">
          <ac:chgData name="Lorena Gimeno" userId="548ce772763c7a5c" providerId="LiveId" clId="{24A47F1E-ED8B-4BF7-8ED5-668CDAADF216}" dt="2026-05-03T16:53:44.498" v="53" actId="1076"/>
          <ac:picMkLst>
            <pc:docMk/>
            <pc:sldMk cId="4090700512" sldId="305"/>
            <ac:picMk id="17" creationId="{4E59F9E9-BF55-DBA3-3166-2FB337B2CE3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03/05/2026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03/05/2026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A2081-511C-00FE-0DEC-1E69317DF89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3654854-3400-0611-309B-7CD38B58707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47C8CFD-2D7B-6A2B-F466-7624ABA240A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5F8A917-7D23-7B3C-8F73-2489847AEE1D}"/>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0142749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3.sv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3.svg"/><Relationship Id="rId7"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70.png"/><Relationship Id="rId5" Type="http://schemas.openxmlformats.org/officeDocument/2006/relationships/image" Target="../media/image260.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00.png"/></Relationships>
</file>

<file path=ppt/slides/_rels/slide1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svg"/><Relationship Id="rId7"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3.svg"/><Relationship Id="rId7"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0.png"/><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3.svg"/><Relationship Id="rId7"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3.svg"/><Relationship Id="rId7" Type="http://schemas.openxmlformats.org/officeDocument/2006/relationships/image" Target="../media/image5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9.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3.svg"/><Relationship Id="rId7" Type="http://schemas.openxmlformats.org/officeDocument/2006/relationships/image" Target="../media/image5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30.png"/><Relationship Id="rId5" Type="http://schemas.openxmlformats.org/officeDocument/2006/relationships/image" Target="../media/image520.png"/><Relationship Id="rId4" Type="http://schemas.openxmlformats.org/officeDocument/2006/relationships/image" Target="../media/image58.png"/></Relationships>
</file>

<file path=ppt/slides/_rels/slide2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err="1">
                <a:latin typeface="Lucida Sans"/>
                <a:cs typeface="Lucida Sans"/>
              </a:rPr>
              <a:t>Lab</a:t>
            </a:r>
            <a:r>
              <a:rPr lang="es-ES" sz="3200" b="1">
                <a:latin typeface="Lucida Sans"/>
                <a:cs typeface="Lucida Sans"/>
              </a:rPr>
              <a:t> Book 2.0. </a:t>
            </a:r>
            <a:r>
              <a:rPr lang="es-ES" sz="3200" b="1" err="1">
                <a:latin typeface="Lucida Sans"/>
                <a:cs typeface="Lucida Sans"/>
              </a:rPr>
              <a:t>Couplers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err="1">
                <a:latin typeface="Arial"/>
                <a:cs typeface="Arial"/>
              </a:rPr>
              <a:t>Student</a:t>
            </a:r>
            <a:r>
              <a:rPr lang="es-ES" spc="165">
                <a:latin typeface="Arial"/>
                <a:cs typeface="Arial"/>
              </a:rPr>
              <a:t>: Lorena Gimeno </a:t>
            </a:r>
            <a:r>
              <a:rPr lang="es-ES" spc="165" err="1">
                <a:latin typeface="Arial"/>
                <a:cs typeface="Arial"/>
              </a:rPr>
              <a:t>Almiñana</a:t>
            </a:r>
            <a:r>
              <a:rPr lang="es-ES" spc="165">
                <a:latin typeface="Arial"/>
                <a:cs typeface="Arial"/>
              </a:rPr>
              <a:t> y María Montilla Martínez</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800100" lvl="1" indent="-342900" algn="just">
              <a:buFont typeface="Arial" panose="020B0604020202020204" pitchFamily="34" charset="0"/>
              <a:buChar char="•"/>
            </a:pPr>
            <a:r>
              <a:rPr lang="en-US" kern="0">
                <a:solidFill>
                  <a:sysClr val="windowText" lastClr="000000"/>
                </a:solidFill>
                <a:sym typeface="Wingdings" pitchFamily="2" charset="2"/>
              </a:rPr>
              <a:t>Terminal + ‘</a:t>
            </a:r>
            <a:r>
              <a:rPr lang="en-US" kern="0" err="1">
                <a:solidFill>
                  <a:sysClr val="windowText" lastClr="000000"/>
                </a:solidFill>
                <a:sym typeface="Wingdings" pitchFamily="2" charset="2"/>
              </a:rPr>
              <a:t>uv</a:t>
            </a:r>
            <a:r>
              <a:rPr lang="en-US" kern="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COUPLERS_Student.ipynb</a:t>
            </a:r>
            <a:r>
              <a:rPr lang="en-US" kern="0">
                <a:solidFill>
                  <a:sysClr val="windowText" lastClr="000000"/>
                </a:solidFill>
              </a:rPr>
              <a:t> </a:t>
            </a:r>
          </a:p>
          <a:p>
            <a:pPr algn="just"/>
            <a:endParaRPr lang="en-US" b="1" i="1"/>
          </a:p>
          <a:p>
            <a:pPr algn="just"/>
            <a:r>
              <a:rPr lang="en-US" b="1" i="1"/>
              <a:t>Cross-Sections </a:t>
            </a:r>
            <a:r>
              <a:rPr lang="en-US" i="1"/>
              <a:t>to be studied:</a:t>
            </a:r>
            <a:endParaRPr lang="en-US" b="1" i="1"/>
          </a:p>
          <a:p>
            <a:pPr algn="just"/>
            <a:endParaRPr lang="en-US" sz="2000" b="1" i="1"/>
          </a:p>
          <a:p>
            <a:pPr algn="just"/>
            <a:endParaRPr lang="en-US" sz="2000" kern="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lang="es-ES" sz="1600" b="1" spc="-10">
                <a:latin typeface="Calibri"/>
                <a:cs typeface="Calibri"/>
              </a:rPr>
              <a:t>MMI </a:t>
            </a:r>
            <a:r>
              <a:rPr lang="es-ES" sz="1600" b="1" spc="-10" err="1">
                <a:latin typeface="Calibri"/>
                <a:cs typeface="Calibri"/>
              </a:rPr>
              <a:t>Body</a:t>
            </a:r>
            <a:endParaRPr sz="160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a:t>Multimode Interference (MMI) </a:t>
            </a:r>
            <a:r>
              <a:rPr lang="en-US"/>
              <a:t>coupler</a:t>
            </a:r>
            <a:r>
              <a:rPr lang="en-US" b="1"/>
              <a:t> </a:t>
            </a:r>
            <a:endParaRPr lang="en-US"/>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a:t>Directional </a:t>
            </a:r>
            <a:r>
              <a:rPr lang="en-US"/>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a:latin typeface="Calibri"/>
                <a:cs typeface="Calibri"/>
              </a:rPr>
              <a:t>g</a:t>
            </a:r>
            <a:endParaRPr sz="1400">
              <a:latin typeface="Calibri"/>
              <a:cs typeface="Calibri"/>
            </a:endParaRPr>
          </a:p>
          <a:p>
            <a:pPr marR="5080" algn="ctr">
              <a:lnSpc>
                <a:spcPct val="100000"/>
              </a:lnSpc>
              <a:spcBef>
                <a:spcPts val="5"/>
              </a:spcBef>
            </a:pPr>
            <a:r>
              <a:rPr sz="1400" spc="-10">
                <a:latin typeface="Calibri"/>
                <a:cs typeface="Calibri"/>
              </a:rPr>
              <a:t>(</a:t>
            </a:r>
            <a:r>
              <a:rPr lang="es-ES" sz="1400" spc="-10">
                <a:latin typeface="Calibri"/>
                <a:cs typeface="Calibri"/>
              </a:rPr>
              <a:t>gap</a:t>
            </a:r>
            <a:r>
              <a:rPr sz="140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Directional coupler cross-section in </a:t>
            </a:r>
            <a:r>
              <a:rPr lang="en-US" sz="2500" err="1"/>
              <a:t>GDSFactory</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58505" y="949931"/>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implementation of DC cross-section</a:t>
                </a:r>
              </a:p>
              <a:p>
                <a:pPr marL="342900" indent="-342900" algn="just">
                  <a:buFont typeface="Arial" panose="020B0604020202020204" pitchFamily="34" charset="0"/>
                  <a:buChar char="•"/>
                </a:pPr>
                <a:r>
                  <a:rPr lang="en-US" sz="200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a:p>
              <a:p>
                <a:pPr marL="342900" indent="-342900" algn="just">
                  <a:buFont typeface="Arial" panose="020B0604020202020204" pitchFamily="34" charset="0"/>
                  <a:buChar char="•"/>
                </a:pPr>
                <a:r>
                  <a:rPr lang="en-US" sz="2000"/>
                  <a:t>Describe the outputs.</a:t>
                </a:r>
              </a:p>
              <a:p>
                <a:pPr marL="0" indent="0" algn="just">
                  <a:buNone/>
                </a:pPr>
                <a:r>
                  <a:rPr lang="en-US" sz="2000" b="1"/>
                  <a:t>ALL EXAMPLE #1: </a:t>
                </a:r>
                <a:r>
                  <a:rPr lang="en-US" sz="2000"/>
                  <a:t>waveguide width 1.2 µm, gap between waveguides 0.6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a:p>
              <a:p>
                <a:pPr algn="just"/>
                <a:endParaRPr lang="en-US" sz="2000" kern="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58505" y="949931"/>
                <a:ext cx="11048999" cy="4958137"/>
              </a:xfrm>
              <a:prstGeom prst="rect">
                <a:avLst/>
              </a:prstGeom>
              <a:blipFill>
                <a:blip r:embed="rId4"/>
                <a:stretch>
                  <a:fillRect l="-552" t="-738" r="-552"/>
                </a:stretch>
              </a:blipFill>
            </p:spPr>
            <p:txBody>
              <a:bodyPr/>
              <a:lstStyle/>
              <a:p>
                <a:r>
                  <a:rPr lang="en-U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Los indices </a:t>
            </a:r>
            <a:r>
              <a:rPr lang="en-US" sz="1200" err="1">
                <a:latin typeface="Arial" panose="020B0604020202020204" pitchFamily="34" charset="0"/>
                <a:cs typeface="Arial" panose="020B0604020202020204" pitchFamily="34" charset="0"/>
              </a:rPr>
              <a:t>efectivos</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cuatro </a:t>
            </a:r>
            <a:r>
              <a:rPr lang="en-US" sz="1200" err="1">
                <a:latin typeface="Arial" panose="020B0604020202020204" pitchFamily="34" charset="0"/>
                <a:cs typeface="Arial" panose="020B0604020202020204" pitchFamily="34" charset="0"/>
              </a:rPr>
              <a:t>primeros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modos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estan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todos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comprendidos</a:t>
            </a:r>
            <a:r>
              <a:rPr lang="en-US" sz="1200">
                <a:latin typeface="Arial" panose="020B0604020202020204" pitchFamily="34" charset="0"/>
                <a:cs typeface="Arial" panose="020B0604020202020204" pitchFamily="34" charset="0"/>
              </a:rPr>
              <a:t> entre 2 (</a:t>
            </a:r>
            <a:r>
              <a:rPr lang="en-US" sz="1200" err="1">
                <a:latin typeface="Arial" panose="020B0604020202020204" pitchFamily="34" charset="0"/>
                <a:cs typeface="Arial" panose="020B0604020202020204" pitchFamily="34" charset="0"/>
              </a:rPr>
              <a:t>indice</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refracción</a:t>
            </a:r>
            <a:r>
              <a:rPr lang="en-US" sz="1200">
                <a:latin typeface="Arial" panose="020B0604020202020204" pitchFamily="34" charset="0"/>
                <a:cs typeface="Arial" panose="020B0604020202020204" pitchFamily="34" charset="0"/>
              </a:rPr>
              <a:t> del core de </a:t>
            </a:r>
            <a:r>
              <a:rPr lang="en-US" sz="1200" err="1">
                <a:latin typeface="Arial" panose="020B0604020202020204" pitchFamily="34" charset="0"/>
                <a:cs typeface="Arial" panose="020B0604020202020204" pitchFamily="34" charset="0"/>
              </a:rPr>
              <a:t>SiN</a:t>
            </a:r>
            <a:r>
              <a:rPr lang="en-US" sz="1200">
                <a:latin typeface="Arial" panose="020B0604020202020204" pitchFamily="34" charset="0"/>
                <a:cs typeface="Arial" panose="020B0604020202020204" pitchFamily="34" charset="0"/>
              </a:rPr>
              <a:t>) y 1.45 (</a:t>
            </a:r>
            <a:r>
              <a:rPr lang="en-US" sz="1200" err="1">
                <a:latin typeface="Arial" panose="020B0604020202020204" pitchFamily="34" charset="0"/>
                <a:cs typeface="Arial" panose="020B0604020202020204" pitchFamily="34" charset="0"/>
              </a:rPr>
              <a:t>indice</a:t>
            </a:r>
            <a:r>
              <a:rPr lang="en-US" sz="1200">
                <a:latin typeface="Arial" panose="020B0604020202020204" pitchFamily="34" charset="0"/>
                <a:cs typeface="Arial" panose="020B0604020202020204" pitchFamily="34" charset="0"/>
              </a:rPr>
              <a:t> del cladding de SiO2) </a:t>
            </a:r>
            <a:r>
              <a:rPr lang="en-US" sz="1200" err="1">
                <a:latin typeface="Arial" panose="020B0604020202020204" pitchFamily="34" charset="0"/>
                <a:cs typeface="Arial" panose="020B0604020202020204" pitchFamily="34" charset="0"/>
              </a:rPr>
              <a:t>por</a:t>
            </a:r>
            <a:r>
              <a:rPr lang="en-US" sz="1200">
                <a:latin typeface="Arial" panose="020B0604020202020204" pitchFamily="34" charset="0"/>
                <a:cs typeface="Arial" panose="020B0604020202020204" pitchFamily="34" charset="0"/>
              </a:rPr>
              <a:t> tanto </a:t>
            </a:r>
            <a:r>
              <a:rPr lang="en-US" sz="1200" err="1">
                <a:latin typeface="Arial" panose="020B0604020202020204" pitchFamily="34" charset="0"/>
                <a:cs typeface="Arial" panose="020B0604020202020204" pitchFamily="34" charset="0"/>
              </a:rPr>
              <a:t>estos</a:t>
            </a:r>
            <a:r>
              <a:rPr lang="en-US" sz="1200">
                <a:latin typeface="Arial" panose="020B0604020202020204" pitchFamily="34" charset="0"/>
                <a:cs typeface="Arial" panose="020B0604020202020204" pitchFamily="34" charset="0"/>
              </a:rPr>
              <a:t> 4 </a:t>
            </a:r>
            <a:r>
              <a:rPr lang="en-US" sz="1200" err="1">
                <a:latin typeface="Arial" panose="020B0604020202020204" pitchFamily="34" charset="0"/>
                <a:cs typeface="Arial" panose="020B0604020202020204" pitchFamily="34" charset="0"/>
              </a:rPr>
              <a:t>modos</a:t>
            </a:r>
            <a:r>
              <a:rPr lang="en-US" sz="1200">
                <a:latin typeface="Arial" panose="020B0604020202020204" pitchFamily="34" charset="0"/>
                <a:cs typeface="Arial" panose="020B0604020202020204" pitchFamily="34" charset="0"/>
              </a:rPr>
              <a:t> se </a:t>
            </a:r>
            <a:r>
              <a:rPr lang="en-US" sz="1200" err="1">
                <a:latin typeface="Arial" panose="020B0604020202020204" pitchFamily="34" charset="0"/>
                <a:cs typeface="Arial" panose="020B0604020202020204" pitchFamily="34" charset="0"/>
              </a:rPr>
              <a:t>propagan</a:t>
            </a:r>
            <a:r>
              <a:rPr lang="en-US" sz="1200">
                <a:latin typeface="Arial" panose="020B0604020202020204" pitchFamily="34" charset="0"/>
                <a:cs typeface="Arial" panose="020B0604020202020204" pitchFamily="34" charset="0"/>
              </a:rPr>
              <a:t>. Se </a:t>
            </a:r>
            <a:r>
              <a:rPr lang="en-US" sz="1200" err="1">
                <a:latin typeface="Arial" panose="020B0604020202020204" pitchFamily="34" charset="0"/>
                <a:cs typeface="Arial" panose="020B0604020202020204" pitchFamily="34" charset="0"/>
              </a:rPr>
              <a:t>obtiene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la </a:t>
            </a:r>
            <a:r>
              <a:rPr lang="en-US" sz="1200" err="1">
                <a:latin typeface="Arial" panose="020B0604020202020204" pitchFamily="34" charset="0"/>
                <a:cs typeface="Arial" panose="020B0604020202020204" pitchFamily="34" charset="0"/>
              </a:rPr>
              <a:t>distancia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Lpi</a:t>
            </a:r>
            <a:r>
              <a:rPr lang="en-US" sz="1200">
                <a:latin typeface="Arial" panose="020B0604020202020204" pitchFamily="34" charset="0"/>
                <a:cs typeface="Arial" panose="020B0604020202020204" pitchFamily="34" charset="0"/>
              </a:rPr>
              <a:t> para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modos</a:t>
            </a:r>
            <a:r>
              <a:rPr lang="en-US" sz="1200">
                <a:latin typeface="Arial" panose="020B0604020202020204" pitchFamily="34" charset="0"/>
                <a:cs typeface="Arial" panose="020B0604020202020204" pitchFamily="34" charset="0"/>
              </a:rPr>
              <a:t> TE </a:t>
            </a:r>
            <a:r>
              <a:rPr lang="en-US" sz="1200" err="1">
                <a:latin typeface="Arial" panose="020B0604020202020204" pitchFamily="34" charset="0"/>
                <a:cs typeface="Arial" panose="020B0604020202020204" pitchFamily="34" charset="0"/>
              </a:rPr>
              <a:t>corresponde</a:t>
            </a:r>
            <a:r>
              <a:rPr lang="en-US" sz="1200">
                <a:latin typeface="Arial" panose="020B0604020202020204" pitchFamily="34" charset="0"/>
                <a:cs typeface="Arial" panose="020B0604020202020204" pitchFamily="34" charset="0"/>
              </a:rPr>
              <a:t> a 93.84 um y para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modos</a:t>
            </a:r>
            <a:r>
              <a:rPr lang="en-US" sz="1200">
                <a:latin typeface="Arial" panose="020B0604020202020204" pitchFamily="34" charset="0"/>
                <a:cs typeface="Arial" panose="020B0604020202020204" pitchFamily="34" charset="0"/>
              </a:rPr>
              <a:t> TM es 52.26 um. Esta es la </a:t>
            </a:r>
            <a:r>
              <a:rPr lang="en-US" sz="1200" err="1">
                <a:latin typeface="Arial" panose="020B0604020202020204" pitchFamily="34" charset="0"/>
                <a:cs typeface="Arial" panose="020B0604020202020204" pitchFamily="34" charset="0"/>
              </a:rPr>
              <a:t>longitud</a:t>
            </a:r>
            <a:r>
              <a:rPr lang="en-US" sz="1200">
                <a:latin typeface="Arial" panose="020B0604020202020204" pitchFamily="34" charset="0"/>
                <a:cs typeface="Arial" panose="020B0604020202020204" pitchFamily="34" charset="0"/>
              </a:rPr>
              <a:t> a la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total de la </a:t>
            </a:r>
            <a:r>
              <a:rPr lang="en-US" sz="1200" err="1">
                <a:latin typeface="Arial" panose="020B0604020202020204" pitchFamily="34" charset="0"/>
                <a:cs typeface="Arial" panose="020B0604020202020204" pitchFamily="34" charset="0"/>
              </a:rPr>
              <a:t>potencia</a:t>
            </a:r>
            <a:r>
              <a:rPr lang="en-US" sz="1200">
                <a:latin typeface="Arial" panose="020B0604020202020204" pitchFamily="34" charset="0"/>
                <a:cs typeface="Arial" panose="020B0604020202020204" pitchFamily="34" charset="0"/>
              </a:rPr>
              <a:t> se </a:t>
            </a:r>
            <a:r>
              <a:rPr lang="en-US" sz="1200" err="1">
                <a:latin typeface="Arial" panose="020B0604020202020204" pitchFamily="34" charset="0"/>
                <a:cs typeface="Arial" panose="020B0604020202020204" pitchFamily="34" charset="0"/>
              </a:rPr>
              <a:t>acopla</a:t>
            </a:r>
            <a:r>
              <a:rPr lang="en-US" sz="1200">
                <a:latin typeface="Arial" panose="020B0604020202020204" pitchFamily="34" charset="0"/>
                <a:cs typeface="Arial" panose="020B0604020202020204" pitchFamily="34" charset="0"/>
              </a:rPr>
              <a:t> a la </a:t>
            </a:r>
            <a:r>
              <a:rPr lang="en-US" sz="1200" err="1">
                <a:latin typeface="Arial" panose="020B0604020202020204" pitchFamily="34" charset="0"/>
                <a:cs typeface="Arial" panose="020B0604020202020204" pitchFamily="34" charset="0"/>
              </a:rPr>
              <a:t>otra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guía</a:t>
            </a:r>
            <a:r>
              <a:rPr lang="en-US" sz="1200">
                <a:latin typeface="Arial" panose="020B0604020202020204" pitchFamily="34" charset="0"/>
                <a:cs typeface="Arial" panose="020B0604020202020204" pitchFamily="34" charset="0"/>
              </a:rPr>
              <a:t> del </a:t>
            </a:r>
            <a:r>
              <a:rPr lang="en-US" sz="1200" err="1">
                <a:latin typeface="Arial" panose="020B0604020202020204" pitchFamily="34" charset="0"/>
                <a:cs typeface="Arial" panose="020B0604020202020204" pitchFamily="34" charset="0"/>
              </a:rPr>
              <a:t>acoplador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direccional</a:t>
            </a:r>
            <a:r>
              <a:rPr lang="en-US" sz="1200">
                <a:latin typeface="Arial" panose="020B0604020202020204" pitchFamily="34" charset="0"/>
                <a:cs typeface="Arial" panose="020B0604020202020204" pitchFamily="34" charset="0"/>
              </a:rPr>
              <a:t>.</a:t>
            </a:r>
          </a:p>
          <a:p>
            <a:pPr algn="just"/>
            <a:endParaRPr lang="en-US" sz="1200">
              <a:latin typeface="Arial" panose="020B0604020202020204" pitchFamily="34" charset="0"/>
              <a:cs typeface="Arial" panose="020B0604020202020204" pitchFamily="34" charset="0"/>
            </a:endParaRPr>
          </a:p>
        </p:txBody>
      </p:sp>
      <p:pic>
        <p:nvPicPr>
          <p:cNvPr id="8" name="Imagen 7">
            <a:extLst>
              <a:ext uri="{FF2B5EF4-FFF2-40B4-BE49-F238E27FC236}">
                <a16:creationId xmlns:a16="http://schemas.microsoft.com/office/drawing/2014/main" id="{80DC00BA-4121-F195-BC0A-72F4D8DE1AB8}"/>
              </a:ext>
            </a:extLst>
          </p:cNvPr>
          <p:cNvPicPr>
            <a:picLocks noChangeAspect="1"/>
          </p:cNvPicPr>
          <p:nvPr/>
        </p:nvPicPr>
        <p:blipFill>
          <a:blip r:embed="rId5"/>
          <a:stretch>
            <a:fillRect/>
          </a:stretch>
        </p:blipFill>
        <p:spPr>
          <a:xfrm>
            <a:off x="895352" y="3488224"/>
            <a:ext cx="3505556" cy="1140861"/>
          </a:xfrm>
          <a:prstGeom prst="rect">
            <a:avLst/>
          </a:prstGeom>
        </p:spPr>
      </p:pic>
      <p:pic>
        <p:nvPicPr>
          <p:cNvPr id="10" name="Imagen 9">
            <a:extLst>
              <a:ext uri="{FF2B5EF4-FFF2-40B4-BE49-F238E27FC236}">
                <a16:creationId xmlns:a16="http://schemas.microsoft.com/office/drawing/2014/main" id="{E47DF3D8-E626-3EEC-479F-BD711D58B381}"/>
              </a:ext>
            </a:extLst>
          </p:cNvPr>
          <p:cNvPicPr>
            <a:picLocks noChangeAspect="1"/>
          </p:cNvPicPr>
          <p:nvPr/>
        </p:nvPicPr>
        <p:blipFill>
          <a:blip r:embed="rId6"/>
          <a:stretch>
            <a:fillRect/>
          </a:stretch>
        </p:blipFill>
        <p:spPr>
          <a:xfrm>
            <a:off x="5215624" y="3488224"/>
            <a:ext cx="3147328" cy="1140861"/>
          </a:xfrm>
          <a:prstGeom prst="rect">
            <a:avLst/>
          </a:prstGeom>
        </p:spPr>
      </p:pic>
      <p:pic>
        <p:nvPicPr>
          <p:cNvPr id="12" name="Imagen 11">
            <a:extLst>
              <a:ext uri="{FF2B5EF4-FFF2-40B4-BE49-F238E27FC236}">
                <a16:creationId xmlns:a16="http://schemas.microsoft.com/office/drawing/2014/main" id="{ADDEC198-3447-B032-ED10-F775492FC7A8}"/>
              </a:ext>
            </a:extLst>
          </p:cNvPr>
          <p:cNvPicPr>
            <a:picLocks noChangeAspect="1"/>
          </p:cNvPicPr>
          <p:nvPr/>
        </p:nvPicPr>
        <p:blipFill>
          <a:blip r:embed="rId7"/>
          <a:stretch>
            <a:fillRect/>
          </a:stretch>
        </p:blipFill>
        <p:spPr>
          <a:xfrm>
            <a:off x="9177668" y="3154073"/>
            <a:ext cx="2392698" cy="1680071"/>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3F8FE3DD-5DEF-FF5A-965A-137787C5922A}"/>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AC052590-D03D-3799-6952-C7AE50781FDD}"/>
              </a:ext>
            </a:extLst>
          </p:cNvPr>
          <p:cNvSpPr>
            <a:spLocks noGrp="1"/>
          </p:cNvSpPr>
          <p:nvPr>
            <p:ph type="sldNum" sz="quarter" idx="7"/>
          </p:nvPr>
        </p:nvSpPr>
        <p:spPr/>
        <p:txBody>
          <a:bodyPr/>
          <a:lstStyle/>
          <a:p>
            <a:fld id="{B6F15528-21DE-4FAA-801E-634DDDAF4B2B}" type="slidenum">
              <a:rPr lang="es-ES" smtClean="0"/>
              <a:t>5</a:t>
            </a:fld>
            <a:endParaRPr lang="es-ES"/>
          </a:p>
        </p:txBody>
      </p:sp>
      <p:pic>
        <p:nvPicPr>
          <p:cNvPr id="9" name="Imagen 8">
            <a:extLst>
              <a:ext uri="{FF2B5EF4-FFF2-40B4-BE49-F238E27FC236}">
                <a16:creationId xmlns:a16="http://schemas.microsoft.com/office/drawing/2014/main" id="{8E9088B9-981E-364A-AAAC-F15EEC1F907A}"/>
              </a:ext>
            </a:extLst>
          </p:cNvPr>
          <p:cNvPicPr>
            <a:picLocks noChangeAspect="1"/>
          </p:cNvPicPr>
          <p:nvPr/>
        </p:nvPicPr>
        <p:blipFill>
          <a:blip r:embed="rId2"/>
          <a:stretch>
            <a:fillRect/>
          </a:stretch>
        </p:blipFill>
        <p:spPr>
          <a:xfrm>
            <a:off x="484774" y="1405867"/>
            <a:ext cx="3277909" cy="2240961"/>
          </a:xfrm>
          <a:prstGeom prst="rect">
            <a:avLst/>
          </a:prstGeom>
        </p:spPr>
      </p:pic>
      <p:pic>
        <p:nvPicPr>
          <p:cNvPr id="11" name="Imagen 10">
            <a:extLst>
              <a:ext uri="{FF2B5EF4-FFF2-40B4-BE49-F238E27FC236}">
                <a16:creationId xmlns:a16="http://schemas.microsoft.com/office/drawing/2014/main" id="{D66E60BB-2902-834D-4622-5DE76FBF8768}"/>
              </a:ext>
            </a:extLst>
          </p:cNvPr>
          <p:cNvPicPr>
            <a:picLocks noChangeAspect="1"/>
          </p:cNvPicPr>
          <p:nvPr/>
        </p:nvPicPr>
        <p:blipFill>
          <a:blip r:embed="rId3"/>
          <a:stretch>
            <a:fillRect/>
          </a:stretch>
        </p:blipFill>
        <p:spPr>
          <a:xfrm>
            <a:off x="4038600" y="1416028"/>
            <a:ext cx="3273117" cy="2191467"/>
          </a:xfrm>
          <a:prstGeom prst="rect">
            <a:avLst/>
          </a:prstGeom>
        </p:spPr>
      </p:pic>
      <p:pic>
        <p:nvPicPr>
          <p:cNvPr id="13" name="Imagen 12">
            <a:extLst>
              <a:ext uri="{FF2B5EF4-FFF2-40B4-BE49-F238E27FC236}">
                <a16:creationId xmlns:a16="http://schemas.microsoft.com/office/drawing/2014/main" id="{EDE0958D-6FE1-A051-AEC4-D61E952C953C}"/>
              </a:ext>
            </a:extLst>
          </p:cNvPr>
          <p:cNvPicPr>
            <a:picLocks noChangeAspect="1"/>
          </p:cNvPicPr>
          <p:nvPr/>
        </p:nvPicPr>
        <p:blipFill>
          <a:blip r:embed="rId4"/>
          <a:stretch>
            <a:fillRect/>
          </a:stretch>
        </p:blipFill>
        <p:spPr>
          <a:xfrm>
            <a:off x="482601" y="3687885"/>
            <a:ext cx="3352800" cy="2240961"/>
          </a:xfrm>
          <a:prstGeom prst="rect">
            <a:avLst/>
          </a:prstGeom>
        </p:spPr>
      </p:pic>
      <p:pic>
        <p:nvPicPr>
          <p:cNvPr id="15" name="Imagen 14">
            <a:extLst>
              <a:ext uri="{FF2B5EF4-FFF2-40B4-BE49-F238E27FC236}">
                <a16:creationId xmlns:a16="http://schemas.microsoft.com/office/drawing/2014/main" id="{BC655649-BFA8-5E5E-A2B3-03FFA9E7DF8B}"/>
              </a:ext>
            </a:extLst>
          </p:cNvPr>
          <p:cNvPicPr>
            <a:picLocks noChangeAspect="1"/>
          </p:cNvPicPr>
          <p:nvPr/>
        </p:nvPicPr>
        <p:blipFill>
          <a:blip r:embed="rId5"/>
          <a:stretch>
            <a:fillRect/>
          </a:stretch>
        </p:blipFill>
        <p:spPr>
          <a:xfrm>
            <a:off x="3860801" y="3636670"/>
            <a:ext cx="3505200" cy="2352888"/>
          </a:xfrm>
          <a:prstGeom prst="rect">
            <a:avLst/>
          </a:prstGeom>
        </p:spPr>
      </p:pic>
      <p:pic>
        <p:nvPicPr>
          <p:cNvPr id="17" name="Imagen 16">
            <a:extLst>
              <a:ext uri="{FF2B5EF4-FFF2-40B4-BE49-F238E27FC236}">
                <a16:creationId xmlns:a16="http://schemas.microsoft.com/office/drawing/2014/main" id="{4E59F9E9-BF55-DBA3-3166-2FB337B2CE36}"/>
              </a:ext>
            </a:extLst>
          </p:cNvPr>
          <p:cNvPicPr>
            <a:picLocks noChangeAspect="1"/>
          </p:cNvPicPr>
          <p:nvPr/>
        </p:nvPicPr>
        <p:blipFill>
          <a:blip r:embed="rId6"/>
          <a:stretch>
            <a:fillRect/>
          </a:stretch>
        </p:blipFill>
        <p:spPr>
          <a:xfrm>
            <a:off x="7747001" y="1653944"/>
            <a:ext cx="3741661" cy="999290"/>
          </a:xfrm>
          <a:prstGeom prst="rect">
            <a:avLst/>
          </a:prstGeom>
        </p:spPr>
      </p:pic>
      <p:sp>
        <p:nvSpPr>
          <p:cNvPr id="6" name="Título 1">
            <a:extLst>
              <a:ext uri="{FF2B5EF4-FFF2-40B4-BE49-F238E27FC236}">
                <a16:creationId xmlns:a16="http://schemas.microsoft.com/office/drawing/2014/main" id="{0AB128CD-468B-2717-66F2-421B0743F544}"/>
              </a:ext>
            </a:extLst>
          </p:cNvPr>
          <p:cNvSpPr>
            <a:spLocks noGrp="1"/>
          </p:cNvSpPr>
          <p:nvPr>
            <p:ph type="title"/>
          </p:nvPr>
        </p:nvSpPr>
        <p:spPr>
          <a:xfrm>
            <a:off x="1600200" y="3377520"/>
            <a:ext cx="914400" cy="615553"/>
          </a:xfrm>
        </p:spPr>
        <p:txBody>
          <a:bodyPr/>
          <a:lstStyle/>
          <a:p>
            <a:pPr algn="ctr"/>
            <a:r>
              <a:rPr lang="es-ES"/>
              <a:t>Modo 0</a:t>
            </a:r>
            <a:br>
              <a:rPr lang="es-ES"/>
            </a:br>
            <a:r>
              <a:rPr lang="es-ES"/>
              <a:t>TE0</a:t>
            </a:r>
          </a:p>
        </p:txBody>
      </p:sp>
      <p:sp>
        <p:nvSpPr>
          <p:cNvPr id="8" name="Título 1">
            <a:extLst>
              <a:ext uri="{FF2B5EF4-FFF2-40B4-BE49-F238E27FC236}">
                <a16:creationId xmlns:a16="http://schemas.microsoft.com/office/drawing/2014/main" id="{FA71AA13-B7DE-623C-BB76-4F16E5A4ABA6}"/>
              </a:ext>
            </a:extLst>
          </p:cNvPr>
          <p:cNvSpPr txBox="1">
            <a:spLocks/>
          </p:cNvSpPr>
          <p:nvPr/>
        </p:nvSpPr>
        <p:spPr>
          <a:xfrm>
            <a:off x="5156201" y="5545812"/>
            <a:ext cx="914400" cy="615553"/>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pPr algn="ctr"/>
            <a:r>
              <a:rPr lang="es-ES" kern="0"/>
              <a:t>Modo 3</a:t>
            </a:r>
          </a:p>
          <a:p>
            <a:pPr algn="ctr"/>
            <a:r>
              <a:rPr lang="es-ES" kern="0"/>
              <a:t>TM1</a:t>
            </a:r>
          </a:p>
        </p:txBody>
      </p:sp>
      <p:sp>
        <p:nvSpPr>
          <p:cNvPr id="10" name="Título 1">
            <a:extLst>
              <a:ext uri="{FF2B5EF4-FFF2-40B4-BE49-F238E27FC236}">
                <a16:creationId xmlns:a16="http://schemas.microsoft.com/office/drawing/2014/main" id="{EE38AD3A-AA71-738F-497B-A7F7486F7F01}"/>
              </a:ext>
            </a:extLst>
          </p:cNvPr>
          <p:cNvSpPr txBox="1">
            <a:spLocks/>
          </p:cNvSpPr>
          <p:nvPr/>
        </p:nvSpPr>
        <p:spPr>
          <a:xfrm>
            <a:off x="1625600" y="5551558"/>
            <a:ext cx="914400" cy="615553"/>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pPr algn="ctr"/>
            <a:r>
              <a:rPr lang="es-ES" kern="0"/>
              <a:t>Modo 2</a:t>
            </a:r>
          </a:p>
          <a:p>
            <a:pPr algn="ctr"/>
            <a:r>
              <a:rPr lang="es-ES" kern="0"/>
              <a:t>TM0</a:t>
            </a:r>
          </a:p>
        </p:txBody>
      </p:sp>
      <p:sp>
        <p:nvSpPr>
          <p:cNvPr id="12" name="Título 1">
            <a:extLst>
              <a:ext uri="{FF2B5EF4-FFF2-40B4-BE49-F238E27FC236}">
                <a16:creationId xmlns:a16="http://schemas.microsoft.com/office/drawing/2014/main" id="{B69DE4CE-0FB6-DD46-E8B9-DD36C70103F0}"/>
              </a:ext>
            </a:extLst>
          </p:cNvPr>
          <p:cNvSpPr txBox="1">
            <a:spLocks/>
          </p:cNvSpPr>
          <p:nvPr/>
        </p:nvSpPr>
        <p:spPr>
          <a:xfrm>
            <a:off x="5146041" y="3299718"/>
            <a:ext cx="914400" cy="615553"/>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pPr algn="ctr"/>
            <a:r>
              <a:rPr lang="es-ES" kern="0"/>
              <a:t>Modo 1</a:t>
            </a:r>
          </a:p>
          <a:p>
            <a:pPr algn="ctr"/>
            <a:r>
              <a:rPr lang="es-ES" kern="0"/>
              <a:t>TE1</a:t>
            </a:r>
          </a:p>
        </p:txBody>
      </p:sp>
      <p:sp>
        <p:nvSpPr>
          <p:cNvPr id="14" name="CuadroTexto 13">
            <a:extLst>
              <a:ext uri="{FF2B5EF4-FFF2-40B4-BE49-F238E27FC236}">
                <a16:creationId xmlns:a16="http://schemas.microsoft.com/office/drawing/2014/main" id="{D1402AF3-3DF0-41A7-7B2A-AB8C4DC61C36}"/>
              </a:ext>
            </a:extLst>
          </p:cNvPr>
          <p:cNvSpPr txBox="1"/>
          <p:nvPr/>
        </p:nvSpPr>
        <p:spPr>
          <a:xfrm>
            <a:off x="7747001" y="3237488"/>
            <a:ext cx="4013197" cy="2677656"/>
          </a:xfrm>
          <a:prstGeom prst="rect">
            <a:avLst/>
          </a:prstGeom>
          <a:solidFill>
            <a:schemeClr val="bg1">
              <a:lumMod val="95000"/>
            </a:schemeClr>
          </a:solidFill>
          <a:ln w="28575">
            <a:solidFill>
              <a:srgbClr val="E0700D"/>
            </a:solidFill>
          </a:ln>
        </p:spPr>
        <p:txBody>
          <a:bodyPr wrap="square" rtlCol="0">
            <a:spAutoFit/>
          </a:bodyPr>
          <a:lstStyle/>
          <a:p>
            <a:pPr algn="just"/>
            <a:r>
              <a:rPr lang="en-US" sz="1200" err="1">
                <a:latin typeface="Arial" panose="020B0604020202020204" pitchFamily="34" charset="0"/>
                <a:cs typeface="Arial" panose="020B0604020202020204" pitchFamily="34" charset="0"/>
              </a:rPr>
              <a:t>Hemos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obtenido</a:t>
            </a:r>
            <a:r>
              <a:rPr lang="en-US" sz="1200">
                <a:latin typeface="Arial" panose="020B0604020202020204" pitchFamily="34" charset="0"/>
                <a:cs typeface="Arial" panose="020B0604020202020204" pitchFamily="34" charset="0"/>
              </a:rPr>
              <a:t> las </a:t>
            </a:r>
            <a:r>
              <a:rPr lang="en-US" sz="1200" err="1">
                <a:latin typeface="Arial" panose="020B0604020202020204" pitchFamily="34" charset="0"/>
                <a:cs typeface="Arial" panose="020B0604020202020204" pitchFamily="34" charset="0"/>
              </a:rPr>
              <a:t>fracciones</a:t>
            </a:r>
            <a:r>
              <a:rPr lang="en-US" sz="1200">
                <a:latin typeface="Arial" panose="020B0604020202020204" pitchFamily="34" charset="0"/>
                <a:cs typeface="Arial" panose="020B0604020202020204" pitchFamily="34" charset="0"/>
              </a:rPr>
              <a:t> TE de </a:t>
            </a:r>
            <a:r>
              <a:rPr lang="en-US" sz="1200" err="1">
                <a:latin typeface="Arial" panose="020B0604020202020204" pitchFamily="34" charset="0"/>
                <a:cs typeface="Arial" panose="020B0604020202020204" pitchFamily="34" charset="0"/>
              </a:rPr>
              <a:t>cada</a:t>
            </a:r>
            <a:r>
              <a:rPr lang="en-US" sz="1200">
                <a:latin typeface="Arial" panose="020B0604020202020204" pitchFamily="34" charset="0"/>
                <a:cs typeface="Arial" panose="020B0604020202020204" pitchFamily="34" charset="0"/>
              </a:rPr>
              <a:t> uno de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modos</a:t>
            </a:r>
            <a:r>
              <a:rPr lang="en-US" sz="1200">
                <a:latin typeface="Arial" panose="020B0604020202020204" pitchFamily="34" charset="0"/>
                <a:cs typeface="Arial" panose="020B0604020202020204" pitchFamily="34" charset="0"/>
              </a:rPr>
              <a:t>. Los </a:t>
            </a:r>
            <a:r>
              <a:rPr lang="en-US" sz="1200" err="1">
                <a:latin typeface="Arial" panose="020B0604020202020204" pitchFamily="34" charset="0"/>
                <a:cs typeface="Arial" panose="020B0604020202020204" pitchFamily="34" charset="0"/>
              </a:rPr>
              <a:t>modos</a:t>
            </a:r>
            <a:r>
              <a:rPr lang="en-US" sz="1200">
                <a:latin typeface="Arial" panose="020B0604020202020204" pitchFamily="34" charset="0"/>
                <a:cs typeface="Arial" panose="020B0604020202020204" pitchFamily="34" charset="0"/>
              </a:rPr>
              <a:t> con </a:t>
            </a:r>
            <a:r>
              <a:rPr lang="en-US" sz="1200" err="1">
                <a:latin typeface="Arial" panose="020B0604020202020204" pitchFamily="34" charset="0"/>
                <a:cs typeface="Arial" panose="020B0604020202020204" pitchFamily="34" charset="0"/>
              </a:rPr>
              <a:t>índice</a:t>
            </a:r>
            <a:r>
              <a:rPr lang="en-US" sz="1200">
                <a:latin typeface="Arial" panose="020B0604020202020204" pitchFamily="34" charset="0"/>
                <a:cs typeface="Arial" panose="020B0604020202020204" pitchFamily="34" charset="0"/>
              </a:rPr>
              <a:t> 0 y 1 </a:t>
            </a:r>
            <a:r>
              <a:rPr lang="en-US" sz="1200" err="1">
                <a:latin typeface="Arial" panose="020B0604020202020204" pitchFamily="34" charset="0"/>
                <a:cs typeface="Arial" panose="020B0604020202020204" pitchFamily="34" charset="0"/>
              </a:rPr>
              <a:t>corresponden</a:t>
            </a:r>
            <a:r>
              <a:rPr lang="en-US" sz="1200">
                <a:latin typeface="Arial" panose="020B0604020202020204" pitchFamily="34" charset="0"/>
                <a:cs typeface="Arial" panose="020B0604020202020204" pitchFamily="34" charset="0"/>
              </a:rPr>
              <a:t> a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modos</a:t>
            </a:r>
            <a:r>
              <a:rPr lang="en-US" sz="1200">
                <a:latin typeface="Arial" panose="020B0604020202020204" pitchFamily="34" charset="0"/>
                <a:cs typeface="Arial" panose="020B0604020202020204" pitchFamily="34" charset="0"/>
              </a:rPr>
              <a:t> TE0 y TE1 </a:t>
            </a:r>
            <a:r>
              <a:rPr lang="en-US" sz="1200" err="1">
                <a:latin typeface="Arial" panose="020B0604020202020204" pitchFamily="34" charset="0"/>
                <a:cs typeface="Arial" panose="020B0604020202020204" pitchFamily="34" charset="0"/>
              </a:rPr>
              <a:t>ya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su</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fracción</a:t>
            </a:r>
            <a:r>
              <a:rPr lang="en-US" sz="1200">
                <a:latin typeface="Arial" panose="020B0604020202020204" pitchFamily="34" charset="0"/>
                <a:cs typeface="Arial" panose="020B0604020202020204" pitchFamily="34" charset="0"/>
              </a:rPr>
              <a:t> TE </a:t>
            </a:r>
            <a:r>
              <a:rPr lang="en-US" sz="1200" err="1">
                <a:latin typeface="Arial" panose="020B0604020202020204" pitchFamily="34" charset="0"/>
                <a:cs typeface="Arial" panose="020B0604020202020204" pitchFamily="34" charset="0"/>
              </a:rPr>
              <a:t>obtenida</a:t>
            </a:r>
            <a:r>
              <a:rPr lang="en-US" sz="1200">
                <a:latin typeface="Arial" panose="020B0604020202020204" pitchFamily="34" charset="0"/>
                <a:cs typeface="Arial" panose="020B0604020202020204" pitchFamily="34" charset="0"/>
              </a:rPr>
              <a:t> es </a:t>
            </a:r>
            <a:r>
              <a:rPr lang="en-US" sz="1200" err="1">
                <a:latin typeface="Arial" panose="020B0604020202020204" pitchFamily="34" charset="0"/>
                <a:cs typeface="Arial" panose="020B0604020202020204" pitchFamily="34" charset="0"/>
              </a:rPr>
              <a:t>muy</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cercana</a:t>
            </a:r>
            <a:r>
              <a:rPr lang="en-US" sz="1200">
                <a:latin typeface="Arial" panose="020B0604020202020204" pitchFamily="34" charset="0"/>
                <a:cs typeface="Arial" panose="020B0604020202020204" pitchFamily="34" charset="0"/>
              </a:rPr>
              <a:t> a 1. En la </a:t>
            </a:r>
            <a:r>
              <a:rPr lang="en-US" sz="1200" err="1">
                <a:latin typeface="Arial" panose="020B0604020202020204" pitchFamily="34" charset="0"/>
                <a:cs typeface="Arial" panose="020B0604020202020204" pitchFamily="34" charset="0"/>
              </a:rPr>
              <a:t>representación</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estos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modos</a:t>
            </a:r>
            <a:r>
              <a:rPr lang="en-US" sz="1200">
                <a:latin typeface="Arial" panose="020B0604020202020204" pitchFamily="34" charset="0"/>
                <a:cs typeface="Arial" panose="020B0604020202020204" pitchFamily="34" charset="0"/>
              </a:rPr>
              <a:t> se ha </a:t>
            </a:r>
            <a:r>
              <a:rPr lang="en-US" sz="1200" err="1">
                <a:latin typeface="Arial" panose="020B0604020202020204" pitchFamily="34" charset="0"/>
                <a:cs typeface="Arial" panose="020B0604020202020204" pitchFamily="34" charset="0"/>
              </a:rPr>
              <a:t>representado</a:t>
            </a:r>
            <a:r>
              <a:rPr lang="en-US" sz="1200">
                <a:latin typeface="Arial" panose="020B0604020202020204" pitchFamily="34" charset="0"/>
                <a:cs typeface="Arial" panose="020B0604020202020204" pitchFamily="34" charset="0"/>
              </a:rPr>
              <a:t> la magnitude Ex.</a:t>
            </a: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Los </a:t>
            </a:r>
            <a:r>
              <a:rPr lang="en-US" sz="1200" err="1">
                <a:latin typeface="Arial" panose="020B0604020202020204" pitchFamily="34" charset="0"/>
                <a:cs typeface="Arial" panose="020B0604020202020204" pitchFamily="34" charset="0"/>
              </a:rPr>
              <a:t>modos</a:t>
            </a:r>
            <a:r>
              <a:rPr lang="en-US" sz="1200">
                <a:latin typeface="Arial" panose="020B0604020202020204" pitchFamily="34" charset="0"/>
                <a:cs typeface="Arial" panose="020B0604020202020204" pitchFamily="34" charset="0"/>
              </a:rPr>
              <a:t> 2 y 3 </a:t>
            </a:r>
            <a:r>
              <a:rPr lang="en-US" sz="1200" err="1">
                <a:latin typeface="Arial" panose="020B0604020202020204" pitchFamily="34" charset="0"/>
                <a:cs typeface="Arial" panose="020B0604020202020204" pitchFamily="34" charset="0"/>
              </a:rPr>
              <a:t>corresponden</a:t>
            </a:r>
            <a:r>
              <a:rPr lang="en-US" sz="1200">
                <a:latin typeface="Arial" panose="020B0604020202020204" pitchFamily="34" charset="0"/>
                <a:cs typeface="Arial" panose="020B0604020202020204" pitchFamily="34" charset="0"/>
              </a:rPr>
              <a:t> al TM0 y TM1 </a:t>
            </a:r>
            <a:r>
              <a:rPr lang="en-US" sz="1200" err="1">
                <a:latin typeface="Arial" panose="020B0604020202020204" pitchFamily="34" charset="0"/>
                <a:cs typeface="Arial" panose="020B0604020202020204" pitchFamily="34" charset="0"/>
              </a:rPr>
              <a:t>ya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tienen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una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fracción</a:t>
            </a:r>
            <a:r>
              <a:rPr lang="en-US" sz="1200">
                <a:latin typeface="Arial" panose="020B0604020202020204" pitchFamily="34" charset="0"/>
                <a:cs typeface="Arial" panose="020B0604020202020204" pitchFamily="34" charset="0"/>
              </a:rPr>
              <a:t> TE </a:t>
            </a:r>
            <a:r>
              <a:rPr lang="en-US" sz="1200" err="1">
                <a:latin typeface="Arial" panose="020B0604020202020204" pitchFamily="34" charset="0"/>
                <a:cs typeface="Arial" panose="020B0604020202020204" pitchFamily="34" charset="0"/>
              </a:rPr>
              <a:t>cercana</a:t>
            </a:r>
            <a:r>
              <a:rPr lang="en-US" sz="1200">
                <a:latin typeface="Arial" panose="020B0604020202020204" pitchFamily="34" charset="0"/>
                <a:cs typeface="Arial" panose="020B0604020202020204" pitchFamily="34" charset="0"/>
              </a:rPr>
              <a:t> a 0 y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su</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representación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podemos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observar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Ey.</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CFD6AE78-580F-5EDA-7892-5E6F639F903B}"/>
              </a:ext>
            </a:extLst>
          </p:cNvPr>
          <p:cNvSpPr txBox="1">
            <a:spLocks/>
          </p:cNvSpPr>
          <p:nvPr/>
        </p:nvSpPr>
        <p:spPr>
          <a:xfrm>
            <a:off x="685800" y="408883"/>
            <a:ext cx="10994410" cy="78226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#1 – Directional coupler cross-section in GDSFactory</a:t>
            </a:r>
            <a:br>
              <a:rPr lang="en-US" sz="2500" kern="0" spc="-5">
                <a:latin typeface="+mj-lt"/>
                <a:cs typeface="Lucida Sans"/>
              </a:rPr>
            </a:br>
            <a:endParaRPr lang="en-US" sz="2500" b="0" kern="0">
              <a:latin typeface="+mj-lt"/>
              <a:cs typeface="Lucida Sans"/>
            </a:endParaRPr>
          </a:p>
        </p:txBody>
      </p:sp>
    </p:spTree>
    <p:extLst>
      <p:ext uri="{BB962C8B-B14F-4D97-AF65-F5344CB8AC3E}">
        <p14:creationId xmlns:p14="http://schemas.microsoft.com/office/powerpoint/2010/main" val="4090700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Directional coupler length and coupling coefficient</a:t>
            </a:r>
            <a:br>
              <a:rPr lang="en-US" sz="2500" spc="-5">
                <a:latin typeface="+mj-lt"/>
                <a:cs typeface="Lucida Sans"/>
              </a:rPr>
            </a:br>
            <a:r>
              <a:rPr lang="en-US" b="0"/>
              <a:t>Wavelength 1.5 µm – width 1.2 µm – gap 0.6 µm – thickness 300 nm</a:t>
            </a:r>
            <a:endParaRPr lang="en-US"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pPr algn="just"/>
                <a:r>
                  <a:rPr lang="en-US" sz="1200" dirty="0">
                    <a:latin typeface="Arial" panose="020B0604020202020204" pitchFamily="34" charset="0"/>
                    <a:cs typeface="Arial" panose="020B0604020202020204" pitchFamily="34" charset="0"/>
                  </a:rPr>
                  <a:t>Cuando L = L</a:t>
                </a:r>
                <a14:m>
                  <m:oMath xmlns:m="http://schemas.openxmlformats.org/officeDocument/2006/math">
                    <m:r>
                      <a:rPr lang="en-US" sz="1200" i="1">
                        <a:latin typeface="Cambria Math" panose="02040503050406030204" pitchFamily="18" charset="0"/>
                        <a:ea typeface="Cambria Math" panose="02040503050406030204" pitchFamily="18" charset="0"/>
                        <a:cs typeface="Arial" panose="020B0604020202020204" pitchFamily="34" charset="0"/>
                      </a:rPr>
                      <m:t>𝜋</m:t>
                    </m:r>
                  </m:oMath>
                </a14:m>
                <a:r>
                  <a:rPr lang="en-US" sz="1200" dirty="0">
                    <a:latin typeface="Arial" panose="020B0604020202020204" pitchFamily="34" charset="0"/>
                    <a:cs typeface="Arial" panose="020B0604020202020204" pitchFamily="34" charset="0"/>
                  </a:rPr>
                  <a:t>, K = 1,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cuando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todo</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otra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TE es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 = </a:t>
                </a:r>
                <a:r>
                  <a:rPr lang="es-ES" sz="1200" dirty="0">
                    <a:latin typeface="Arial" panose="020B0604020202020204" pitchFamily="34" charset="0"/>
                    <a:cs typeface="Arial" panose="020B0604020202020204" pitchFamily="34" charset="0"/>
                  </a:rPr>
                  <a:t>93.83767536700753. Para el caso TM: 52.26022367744142</a:t>
                </a:r>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Cuando L = 2*L</a:t>
                </a:r>
                <a14:m>
                  <m:oMath xmlns:m="http://schemas.openxmlformats.org/officeDocument/2006/math">
                    <m:r>
                      <a:rPr lang="en-US" sz="1200" i="1">
                        <a:latin typeface="Cambria Math" panose="02040503050406030204" pitchFamily="18" charset="0"/>
                        <a:ea typeface="Cambria Math" panose="02040503050406030204" pitchFamily="18" charset="0"/>
                        <a:cs typeface="Arial" panose="020B0604020202020204" pitchFamily="34" charset="0"/>
                      </a:rPr>
                      <m:t>𝜋</m:t>
                    </m:r>
                  </m:oMath>
                </a14:m>
                <a:r>
                  <a:rPr lang="en-US" sz="1200" dirty="0">
                    <a:latin typeface="Arial" panose="020B0604020202020204" pitchFamily="34" charset="0"/>
                    <a:cs typeface="Arial" panose="020B0604020202020204" pitchFamily="34" charset="0"/>
                  </a:rPr>
                  <a:t>, K = 0,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 luz ha </a:t>
                </a:r>
                <a:r>
                  <a:rPr lang="en-US" sz="1200" dirty="0" err="1">
                    <a:latin typeface="Arial" panose="020B0604020202020204" pitchFamily="34" charset="0"/>
                    <a:cs typeface="Arial" panose="020B0604020202020204" pitchFamily="34" charset="0"/>
                  </a:rPr>
                  <a:t>ido</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otra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y ha </a:t>
                </a:r>
                <a:r>
                  <a:rPr lang="en-US" sz="1200" dirty="0" err="1">
                    <a:latin typeface="Arial" panose="020B0604020202020204" pitchFamily="34" charset="0"/>
                    <a:cs typeface="Arial" panose="020B0604020202020204" pitchFamily="34" charset="0"/>
                  </a:rPr>
                  <a:t>vuelto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toda</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entraba</a:t>
                </a:r>
                <a:r>
                  <a:rPr lang="en-US" sz="1200" dirty="0">
                    <a:latin typeface="Arial" panose="020B0604020202020204" pitchFamily="34" charset="0"/>
                    <a:cs typeface="Arial" panose="020B0604020202020204" pitchFamily="34" charset="0"/>
                  </a:rPr>
                  <a:t> la luz. Para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divida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la luz de </a:t>
                </a:r>
                <a:r>
                  <a:rPr lang="en-US" sz="1200" dirty="0" err="1">
                    <a:latin typeface="Arial" panose="020B0604020202020204" pitchFamily="34" charset="0"/>
                    <a:cs typeface="Arial" panose="020B0604020202020204" pitchFamily="34" charset="0"/>
                  </a:rPr>
                  <a:t>igual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manera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salida</a:t>
                </a:r>
                <a:r>
                  <a:rPr lang="en-US" sz="1200" dirty="0">
                    <a:latin typeface="Arial" panose="020B0604020202020204" pitchFamily="34" charset="0"/>
                    <a:cs typeface="Arial" panose="020B0604020202020204" pitchFamily="34" charset="0"/>
                  </a:rPr>
                  <a:t> (K = 0.5) </a:t>
                </a:r>
                <a:r>
                  <a:rPr lang="en-US" sz="1200" dirty="0" err="1">
                    <a:latin typeface="Arial" panose="020B0604020202020204" pitchFamily="34" charset="0"/>
                    <a:cs typeface="Arial" panose="020B0604020202020204" pitchFamily="34" charset="0"/>
                  </a:rPr>
                  <a:t>necesitaremos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 L sea n* L</a:t>
                </a:r>
                <a14:m>
                  <m:oMath xmlns:m="http://schemas.openxmlformats.org/officeDocument/2006/math">
                    <m:r>
                      <a:rPr lang="en-US" sz="1200" i="1">
                        <a:latin typeface="Cambria Math" panose="02040503050406030204" pitchFamily="18" charset="0"/>
                        <a:ea typeface="Cambria Math" panose="02040503050406030204" pitchFamily="18" charset="0"/>
                        <a:cs typeface="Arial" panose="020B0604020202020204" pitchFamily="34" charset="0"/>
                      </a:rPr>
                      <m:t>𝜋</m:t>
                    </m:r>
                    <m:r>
                      <a:rPr lang="en-US" sz="1200" i="1">
                        <a:latin typeface="Cambria Math" panose="02040503050406030204" pitchFamily="18" charset="0"/>
                        <a:ea typeface="Cambria Math" panose="02040503050406030204" pitchFamily="18" charset="0"/>
                        <a:cs typeface="Arial" panose="020B0604020202020204" pitchFamily="34" charset="0"/>
                      </a:rPr>
                      <m:t> </m:t>
                    </m:r>
                  </m:oMath>
                </a14:m>
                <a:r>
                  <a:rPr lang="en-US" sz="1200" dirty="0">
                    <a:latin typeface="Arial" panose="020B0604020202020204" pitchFamily="34" charset="0"/>
                    <a:cs typeface="Arial" panose="020B0604020202020204" pitchFamily="34" charset="0"/>
                  </a:rPr>
                  <a:t>/2 </a:t>
                </a: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CA5F0FDF-2A95-453B-4ECA-AEB637FF2694}"/>
                  </a:ext>
                </a:extLst>
              </p:cNvPr>
              <p:cNvSpPr txBox="1">
                <a:spLocks noRot="1" noChangeAspect="1" noMove="1" noResize="1" noEditPoints="1" noAdjustHandles="1" noChangeArrowheads="1" noChangeShapeType="1" noTextEdit="1"/>
              </p:cNvSpPr>
              <p:nvPr/>
            </p:nvSpPr>
            <p:spPr>
              <a:xfrm>
                <a:off x="609441" y="4860334"/>
                <a:ext cx="11199971" cy="1015663"/>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199073" y="3071387"/>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L/</a:t>
            </a:r>
            <a:r>
              <a:rPr lang="en-US" err="1"/>
              <a:t>Lpi</a:t>
            </a:r>
            <a:r>
              <a:rPr lang="en-US"/>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2588" y="1636431"/>
            <a:ext cx="3383313" cy="983682"/>
          </a:xfrm>
          <a:prstGeom prst="rect">
            <a:avLst/>
          </a:prstGeom>
        </p:spPr>
      </p:pic>
      <p:pic>
        <p:nvPicPr>
          <p:cNvPr id="10" name="Imagen 9">
            <a:extLst>
              <a:ext uri="{FF2B5EF4-FFF2-40B4-BE49-F238E27FC236}">
                <a16:creationId xmlns:a16="http://schemas.microsoft.com/office/drawing/2014/main" id="{D4A4E31D-7F0A-976F-ADDB-A4A62F434443}"/>
              </a:ext>
            </a:extLst>
          </p:cNvPr>
          <p:cNvPicPr>
            <a:picLocks noChangeAspect="1"/>
          </p:cNvPicPr>
          <p:nvPr/>
        </p:nvPicPr>
        <p:blipFill>
          <a:blip r:embed="rId6"/>
          <a:stretch>
            <a:fillRect/>
          </a:stretch>
        </p:blipFill>
        <p:spPr>
          <a:xfrm>
            <a:off x="3429000" y="1567580"/>
            <a:ext cx="3747950" cy="3007614"/>
          </a:xfrm>
          <a:prstGeom prst="rect">
            <a:avLst/>
          </a:prstGeom>
        </p:spPr>
      </p:pic>
      <p:pic>
        <p:nvPicPr>
          <p:cNvPr id="12" name="Imagen 11">
            <a:extLst>
              <a:ext uri="{FF2B5EF4-FFF2-40B4-BE49-F238E27FC236}">
                <a16:creationId xmlns:a16="http://schemas.microsoft.com/office/drawing/2014/main" id="{D179B2B9-FD15-53CB-159F-D3826985150E}"/>
              </a:ext>
            </a:extLst>
          </p:cNvPr>
          <p:cNvPicPr>
            <a:picLocks noChangeAspect="1"/>
          </p:cNvPicPr>
          <p:nvPr/>
        </p:nvPicPr>
        <p:blipFill>
          <a:blip r:embed="rId7"/>
          <a:stretch>
            <a:fillRect/>
          </a:stretch>
        </p:blipFill>
        <p:spPr>
          <a:xfrm>
            <a:off x="7392301" y="1450086"/>
            <a:ext cx="3885299" cy="3117833"/>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2x2 Directional Coupler</a:t>
            </a:r>
            <a:br>
              <a:rPr lang="en-US" sz="2500" spc="-5">
                <a:latin typeface="+mj-lt"/>
                <a:cs typeface="Lucida Sans"/>
              </a:rPr>
            </a:br>
            <a:r>
              <a:rPr lang="en-US" b="0"/>
              <a:t>Wavelength 1.55 µm – Sweep gaps between 0.2 and 1.2 µm in steps of 0.2 µm</a:t>
            </a:r>
            <a:endParaRPr lang="en-US"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L</a:t>
                </a:r>
                <a14:m>
                  <m:oMath xmlns:m="http://schemas.openxmlformats.org/officeDocument/2006/math">
                    <m:r>
                      <a:rPr lang="en-US" sz="1200" i="1">
                        <a:latin typeface="Cambria Math" panose="02040503050406030204" pitchFamily="18" charset="0"/>
                        <a:ea typeface="Cambria Math" panose="02040503050406030204" pitchFamily="18" charset="0"/>
                        <a:cs typeface="Arial" panose="020B0604020202020204" pitchFamily="34" charset="0"/>
                      </a:rPr>
                      <m:t>𝜋</m:t>
                    </m:r>
                  </m:oMath>
                </a14:m>
                <a:r>
                  <a:rPr lang="es-ES" sz="1200" dirty="0">
                    <a:latin typeface="Arial" panose="020B0604020202020204" pitchFamily="34" charset="0"/>
                    <a:cs typeface="Arial" panose="020B0604020202020204" pitchFamily="34" charset="0"/>
                  </a:rPr>
                  <a:t> aumenta al aumentar el gap. Esto se debe a que cuando las guías están más separadas, el acoplamiento entre los campos es mas débil. Como consecuencia, se necesita una longitud mayor para transferir completamente la potencia de una guía a la otra.</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82A62DD6-5488-72A1-9926-0CAEE59089A9}"/>
                  </a:ext>
                </a:extLst>
              </p:cNvPr>
              <p:cNvSpPr txBox="1">
                <a:spLocks noRot="1" noChangeAspect="1" noMove="1" noResize="1" noEditPoints="1" noAdjustHandles="1" noChangeArrowheads="1" noChangeShapeType="1" noTextEdit="1"/>
              </p:cNvSpPr>
              <p:nvPr/>
            </p:nvSpPr>
            <p:spPr>
              <a:xfrm>
                <a:off x="609441" y="4860334"/>
                <a:ext cx="11199971" cy="1200329"/>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1102B3F6-AC6A-87F6-F56C-076C90F250BA}"/>
              </a:ext>
            </a:extLst>
          </p:cNvPr>
          <p:cNvPicPr>
            <a:picLocks noChangeAspect="1"/>
          </p:cNvPicPr>
          <p:nvPr/>
        </p:nvPicPr>
        <p:blipFill>
          <a:blip r:embed="rId5"/>
          <a:stretch>
            <a:fillRect/>
          </a:stretch>
        </p:blipFill>
        <p:spPr>
          <a:xfrm>
            <a:off x="872300" y="1541485"/>
            <a:ext cx="3095872" cy="1265746"/>
          </a:xfrm>
          <a:prstGeom prst="rect">
            <a:avLst/>
          </a:prstGeom>
        </p:spPr>
      </p:pic>
      <p:pic>
        <p:nvPicPr>
          <p:cNvPr id="9" name="Imagen 8">
            <a:extLst>
              <a:ext uri="{FF2B5EF4-FFF2-40B4-BE49-F238E27FC236}">
                <a16:creationId xmlns:a16="http://schemas.microsoft.com/office/drawing/2014/main" id="{500209F5-D4DB-8548-9F69-EE6A78002FB0}"/>
              </a:ext>
            </a:extLst>
          </p:cNvPr>
          <p:cNvPicPr>
            <a:picLocks noChangeAspect="1"/>
          </p:cNvPicPr>
          <p:nvPr/>
        </p:nvPicPr>
        <p:blipFill>
          <a:blip r:embed="rId6"/>
          <a:stretch>
            <a:fillRect/>
          </a:stretch>
        </p:blipFill>
        <p:spPr>
          <a:xfrm>
            <a:off x="685800" y="2579698"/>
            <a:ext cx="3358731" cy="1063404"/>
          </a:xfrm>
          <a:prstGeom prst="rect">
            <a:avLst/>
          </a:prstGeom>
        </p:spPr>
      </p:pic>
      <p:pic>
        <p:nvPicPr>
          <p:cNvPr id="11" name="Imagen 10">
            <a:extLst>
              <a:ext uri="{FF2B5EF4-FFF2-40B4-BE49-F238E27FC236}">
                <a16:creationId xmlns:a16="http://schemas.microsoft.com/office/drawing/2014/main" id="{37B98634-0A5C-B1C6-3EF1-F5DF0487BD86}"/>
              </a:ext>
            </a:extLst>
          </p:cNvPr>
          <p:cNvPicPr>
            <a:picLocks noChangeAspect="1"/>
          </p:cNvPicPr>
          <p:nvPr/>
        </p:nvPicPr>
        <p:blipFill>
          <a:blip r:embed="rId7"/>
          <a:stretch>
            <a:fillRect/>
          </a:stretch>
        </p:blipFill>
        <p:spPr>
          <a:xfrm>
            <a:off x="657567" y="3594608"/>
            <a:ext cx="3898773" cy="991556"/>
          </a:xfrm>
          <a:prstGeom prst="rect">
            <a:avLst/>
          </a:prstGeom>
        </p:spPr>
      </p:pic>
      <p:pic>
        <p:nvPicPr>
          <p:cNvPr id="13" name="Imagen 12">
            <a:extLst>
              <a:ext uri="{FF2B5EF4-FFF2-40B4-BE49-F238E27FC236}">
                <a16:creationId xmlns:a16="http://schemas.microsoft.com/office/drawing/2014/main" id="{12BB6A12-E328-BF89-1DC9-53008FA9D2CC}"/>
              </a:ext>
            </a:extLst>
          </p:cNvPr>
          <p:cNvPicPr>
            <a:picLocks noChangeAspect="1"/>
          </p:cNvPicPr>
          <p:nvPr/>
        </p:nvPicPr>
        <p:blipFill>
          <a:blip r:embed="rId8"/>
          <a:stretch>
            <a:fillRect/>
          </a:stretch>
        </p:blipFill>
        <p:spPr>
          <a:xfrm>
            <a:off x="4231031" y="1683567"/>
            <a:ext cx="3898773" cy="822924"/>
          </a:xfrm>
          <a:prstGeom prst="rect">
            <a:avLst/>
          </a:prstGeom>
        </p:spPr>
      </p:pic>
      <p:pic>
        <p:nvPicPr>
          <p:cNvPr id="15" name="Imagen 14">
            <a:extLst>
              <a:ext uri="{FF2B5EF4-FFF2-40B4-BE49-F238E27FC236}">
                <a16:creationId xmlns:a16="http://schemas.microsoft.com/office/drawing/2014/main" id="{37F46EFE-AA52-FFE0-A646-3B9A947CB89D}"/>
              </a:ext>
            </a:extLst>
          </p:cNvPr>
          <p:cNvPicPr>
            <a:picLocks noChangeAspect="1"/>
          </p:cNvPicPr>
          <p:nvPr/>
        </p:nvPicPr>
        <p:blipFill>
          <a:blip r:embed="rId9"/>
          <a:stretch>
            <a:fillRect/>
          </a:stretch>
        </p:blipFill>
        <p:spPr>
          <a:xfrm>
            <a:off x="4460782" y="2579507"/>
            <a:ext cx="3742950" cy="692899"/>
          </a:xfrm>
          <a:prstGeom prst="rect">
            <a:avLst/>
          </a:prstGeom>
        </p:spPr>
      </p:pic>
      <p:pic>
        <p:nvPicPr>
          <p:cNvPr id="18" name="Imagen 17">
            <a:extLst>
              <a:ext uri="{FF2B5EF4-FFF2-40B4-BE49-F238E27FC236}">
                <a16:creationId xmlns:a16="http://schemas.microsoft.com/office/drawing/2014/main" id="{1ABB4861-B0E4-7832-C6A3-BB93CBC48E53}"/>
              </a:ext>
            </a:extLst>
          </p:cNvPr>
          <p:cNvPicPr>
            <a:picLocks noChangeAspect="1"/>
          </p:cNvPicPr>
          <p:nvPr/>
        </p:nvPicPr>
        <p:blipFill>
          <a:blip r:embed="rId10"/>
          <a:stretch>
            <a:fillRect/>
          </a:stretch>
        </p:blipFill>
        <p:spPr>
          <a:xfrm>
            <a:off x="4797959" y="3643102"/>
            <a:ext cx="3331845" cy="564915"/>
          </a:xfrm>
          <a:prstGeom prst="rect">
            <a:avLst/>
          </a:prstGeom>
        </p:spPr>
      </p:pic>
      <p:pic>
        <p:nvPicPr>
          <p:cNvPr id="20" name="Imagen 19">
            <a:extLst>
              <a:ext uri="{FF2B5EF4-FFF2-40B4-BE49-F238E27FC236}">
                <a16:creationId xmlns:a16="http://schemas.microsoft.com/office/drawing/2014/main" id="{9817408F-E8F4-1712-4477-3F151C7DC6FC}"/>
              </a:ext>
            </a:extLst>
          </p:cNvPr>
          <p:cNvPicPr>
            <a:picLocks noChangeAspect="1"/>
          </p:cNvPicPr>
          <p:nvPr/>
        </p:nvPicPr>
        <p:blipFill>
          <a:blip r:embed="rId11"/>
          <a:stretch>
            <a:fillRect/>
          </a:stretch>
        </p:blipFill>
        <p:spPr>
          <a:xfrm>
            <a:off x="8287333" y="2551378"/>
            <a:ext cx="3392877" cy="1917713"/>
          </a:xfrm>
          <a:prstGeom prst="rect">
            <a:avLst/>
          </a:prstGeom>
        </p:spPr>
      </p:pic>
      <p:pic>
        <p:nvPicPr>
          <p:cNvPr id="22" name="Imagen 21">
            <a:extLst>
              <a:ext uri="{FF2B5EF4-FFF2-40B4-BE49-F238E27FC236}">
                <a16:creationId xmlns:a16="http://schemas.microsoft.com/office/drawing/2014/main" id="{3F8FC60F-4029-60D0-9E81-AAE90079CF0A}"/>
              </a:ext>
            </a:extLst>
          </p:cNvPr>
          <p:cNvPicPr>
            <a:picLocks noChangeAspect="1"/>
          </p:cNvPicPr>
          <p:nvPr/>
        </p:nvPicPr>
        <p:blipFill>
          <a:blip r:embed="rId12"/>
          <a:stretch>
            <a:fillRect/>
          </a:stretch>
        </p:blipFill>
        <p:spPr>
          <a:xfrm>
            <a:off x="9343423" y="537156"/>
            <a:ext cx="1976277" cy="1696945"/>
          </a:xfrm>
          <a:prstGeom prst="rect">
            <a:avLst/>
          </a:prstGeom>
        </p:spPr>
      </p:pic>
    </p:spTree>
    <p:extLst>
      <p:ext uri="{BB962C8B-B14F-4D97-AF65-F5344CB8AC3E}">
        <p14:creationId xmlns:p14="http://schemas.microsoft.com/office/powerpoint/2010/main" val="1558326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#4 – Parallel uncoupled waveguides – TE0 mode</a:t>
            </a:r>
            <a:br>
              <a:rPr lang="en-US" sz="2500" spc="-5">
                <a:latin typeface="+mj-lt"/>
                <a:cs typeface="Lucida Sans"/>
              </a:rPr>
            </a:br>
            <a:r>
              <a:rPr lang="en-US" b="0"/>
              <a:t>Wavelength 1.55 µm, width 1.0 µm, gap to be found for uncoupled </a:t>
            </a:r>
            <a:r>
              <a:rPr lang="en-US" b="0" err="1"/>
              <a:t>wvgs</a:t>
            </a:r>
            <a:endParaRPr lang="en-US"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CA5F0FDF-2A95-453B-4ECA-AEB637FF2694}"/>
                  </a:ext>
                </a:extLst>
              </p:cNvPr>
              <p:cNvSpPr txBox="1"/>
              <p:nvPr/>
            </p:nvSpPr>
            <p:spPr>
              <a:xfrm>
                <a:off x="609441" y="4455746"/>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Hints:</a:t>
                </a:r>
              </a:p>
              <a:p>
                <a:pPr algn="just"/>
                <a:r>
                  <a:rPr lang="en-US" sz="1200"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1.55 µm.</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El acoplamiento K disminuye al aumentar el gap, ya que se reduce el solapamiento entre los campos de ambas guías. Siguiendo el criterio de que cuando K&lt;0.01 las guías pueden considerarse desacopladas: en el caso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esto ocurre aproximadamente para gap≥3.15 </a:t>
                </a:r>
                <a:r>
                  <a:rPr lang="es-ES" sz="1200" dirty="0" err="1">
                    <a:latin typeface="Arial" panose="020B0604020202020204" pitchFamily="34" charset="0"/>
                    <a:cs typeface="Arial" panose="020B0604020202020204" pitchFamily="34" charset="0"/>
                  </a:rPr>
                  <a:t>μm</a:t>
                </a:r>
                <a:r>
                  <a:rPr lang="es-ES" sz="1200" dirty="0">
                    <a:latin typeface="Arial" panose="020B0604020202020204" pitchFamily="34" charset="0"/>
                    <a:cs typeface="Arial" panose="020B0604020202020204" pitchFamily="34" charset="0"/>
                  </a:rPr>
                  <a:t>, mientras que en el caso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se necesitan gaps mayores, alrededor de gap≥4.35μm. Esto se debe a que en la guía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el modo está menos confinado y se extiende más hacia el </a:t>
                </a:r>
                <a:r>
                  <a:rPr lang="es-ES" sz="1200" dirty="0" err="1">
                    <a:latin typeface="Arial" panose="020B0604020202020204" pitchFamily="34" charset="0"/>
                    <a:cs typeface="Arial" panose="020B0604020202020204" pitchFamily="34" charset="0"/>
                  </a:rPr>
                  <a:t>cladding</a:t>
                </a:r>
                <a:r>
                  <a:rPr lang="es-ES" sz="1200" dirty="0">
                    <a:latin typeface="Arial" panose="020B0604020202020204" pitchFamily="34" charset="0"/>
                    <a:cs typeface="Arial" panose="020B0604020202020204" pitchFamily="34" charset="0"/>
                  </a:rPr>
                  <a:t>. Los picos que aparecen para valores bajos de K o L</a:t>
                </a:r>
                <a14:m>
                  <m:oMath xmlns:m="http://schemas.openxmlformats.org/officeDocument/2006/math">
                    <m:r>
                      <a:rPr lang="en-US" sz="1200" i="1">
                        <a:latin typeface="Cambria Math" panose="02040503050406030204" pitchFamily="18" charset="0"/>
                        <a:ea typeface="Cambria Math" panose="02040503050406030204" pitchFamily="18" charset="0"/>
                        <a:cs typeface="Arial" panose="020B0604020202020204" pitchFamily="34" charset="0"/>
                      </a:rPr>
                      <m:t>𝜋</m:t>
                    </m:r>
                  </m:oMath>
                </a14:m>
                <a:r>
                  <a:rPr lang="es-ES" sz="1200" dirty="0">
                    <a:latin typeface="Arial" panose="020B0604020202020204" pitchFamily="34" charset="0"/>
                    <a:cs typeface="Arial" panose="020B0604020202020204" pitchFamily="34" charset="0"/>
                  </a:rPr>
                  <a:t> ​se deben a inestabilidades numéricas del </a:t>
                </a:r>
                <a:r>
                  <a:rPr lang="es-ES" sz="1200" dirty="0" err="1">
                    <a:latin typeface="Arial" panose="020B0604020202020204" pitchFamily="34" charset="0"/>
                    <a:cs typeface="Arial" panose="020B0604020202020204" pitchFamily="34" charset="0"/>
                  </a:rPr>
                  <a:t>solver</a:t>
                </a:r>
                <a:r>
                  <a:rPr lang="es-ES"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CA5F0FDF-2A95-453B-4ECA-AEB637FF2694}"/>
                  </a:ext>
                </a:extLst>
              </p:cNvPr>
              <p:cNvSpPr txBox="1">
                <a:spLocks noRot="1" noChangeAspect="1" noMove="1" noResize="1" noEditPoints="1" noAdjustHandles="1" noChangeArrowheads="1" noChangeShapeType="1" noTextEdit="1"/>
              </p:cNvSpPr>
              <p:nvPr/>
            </p:nvSpPr>
            <p:spPr>
              <a:xfrm>
                <a:off x="609441" y="4455746"/>
                <a:ext cx="11199971" cy="1754326"/>
              </a:xfrm>
              <a:prstGeom prst="rect">
                <a:avLst/>
              </a:prstGeom>
              <a:blipFill>
                <a:blip r:embed="rId4"/>
                <a:stretch>
                  <a:fillRect b="-341"/>
                </a:stretch>
              </a:blipFill>
              <a:ln w="28575">
                <a:solidFill>
                  <a:srgbClr val="E0700D"/>
                </a:solidFill>
              </a:ln>
            </p:spPr>
            <p:txBody>
              <a:bodyPr/>
              <a:lstStyle/>
              <a:p>
                <a:r>
                  <a:rPr lang="es-ES">
                    <a:noFill/>
                  </a:rPr>
                  <a:t> </a:t>
                </a:r>
              </a:p>
            </p:txBody>
          </p:sp>
        </mc:Fallback>
      </mc:AlternateContent>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06867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06867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r>
                      <a:rPr lang="es-ES" b="0" i="1" smtClean="0">
                        <a:latin typeface="Cambria Math" panose="02040503050406030204" pitchFamily="18" charset="0"/>
                      </a:rPr>
                      <m:t>𝐾</m:t>
                    </m:r>
                  </m:oMath>
                </a14:m>
                <a:r>
                  <a:rPr lang="en-US"/>
                  <a:t> vs gap for 10 mm </a:t>
                </a:r>
                <a:r>
                  <a:rPr lang="en-US" err="1"/>
                  <a:t>wvgs</a:t>
                </a:r>
                <a:r>
                  <a:rPr lang="en-US"/>
                  <a:t> to be uncoupled</a:t>
                </a:r>
              </a:p>
              <a:p>
                <a:pPr algn="ctr"/>
                <a:endParaRPr lang="en-US"/>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477328"/>
              </a:xfrm>
              <a:prstGeom prst="rect">
                <a:avLst/>
              </a:prstGeom>
              <a:noFill/>
            </p:spPr>
            <p:txBody>
              <a:bodyPr wrap="square" rtlCol="0">
                <a:spAutoFit/>
              </a:bodyPr>
              <a:lstStyle/>
              <a:p>
                <a:pPr algn="ctr"/>
                <a:r>
                  <a:rPr lang="en-US" b="1"/>
                  <a:t>shallow</a:t>
                </a:r>
                <a:r>
                  <a:rPr lang="en-US"/>
                  <a:t> waveguide</a:t>
                </a:r>
              </a:p>
              <a:p>
                <a:pPr algn="ctr"/>
                <a:r>
                  <a:rPr lang="en-US" err="1"/>
                  <a:t>slab_thickness</a:t>
                </a:r>
                <a:r>
                  <a:rPr lang="en-US"/>
                  <a:t> = 150 nm</a:t>
                </a:r>
              </a:p>
              <a:p>
                <a:pPr algn="ctr"/>
                <a:endParaRPr lang="en-US"/>
              </a:p>
              <a:p>
                <a:pPr algn="ctr"/>
                <a:r>
                  <a:rPr lang="en-US"/>
                  <a:t>Paste </a:t>
                </a:r>
                <a14:m>
                  <m:oMath xmlns:m="http://schemas.openxmlformats.org/officeDocument/2006/math">
                    <m:r>
                      <a:rPr lang="es-ES" i="1">
                        <a:latin typeface="Cambria Math" panose="02040503050406030204" pitchFamily="18" charset="0"/>
                      </a:rPr>
                      <m:t>𝐾</m:t>
                    </m:r>
                  </m:oMath>
                </a14:m>
                <a:r>
                  <a:rPr lang="en-US"/>
                  <a:t> vs gap for 10 mm </a:t>
                </a:r>
                <a:r>
                  <a:rPr lang="en-US" err="1"/>
                  <a:t>wvgs</a:t>
                </a:r>
                <a:r>
                  <a:rPr lang="en-US"/>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477328"/>
              </a:xfrm>
              <a:prstGeom prst="rect">
                <a:avLst/>
              </a:prstGeom>
              <a:blipFill>
                <a:blip r:embed="rId6"/>
                <a:stretch>
                  <a:fillRect t="-2479" b="-5785"/>
                </a:stretch>
              </a:blipFill>
            </p:spPr>
            <p:txBody>
              <a:bodyPr/>
              <a:lstStyle/>
              <a:p>
                <a:r>
                  <a:rPr lang="en-US">
                    <a:noFill/>
                  </a:rPr>
                  <a:t> </a:t>
                </a:r>
              </a:p>
            </p:txBody>
          </p:sp>
        </mc:Fallback>
      </mc:AlternateContent>
      <p:pic>
        <p:nvPicPr>
          <p:cNvPr id="7" name="Imagen 6">
            <a:extLst>
              <a:ext uri="{FF2B5EF4-FFF2-40B4-BE49-F238E27FC236}">
                <a16:creationId xmlns:a16="http://schemas.microsoft.com/office/drawing/2014/main" id="{92BCB643-9E59-E3C4-A62F-AF7DA2D9682D}"/>
              </a:ext>
            </a:extLst>
          </p:cNvPr>
          <p:cNvPicPr>
            <a:picLocks noChangeAspect="1"/>
          </p:cNvPicPr>
          <p:nvPr/>
        </p:nvPicPr>
        <p:blipFill>
          <a:blip r:embed="rId7"/>
          <a:stretch>
            <a:fillRect/>
          </a:stretch>
        </p:blipFill>
        <p:spPr>
          <a:xfrm>
            <a:off x="957072" y="1472813"/>
            <a:ext cx="4510829" cy="2795774"/>
          </a:xfrm>
          <a:prstGeom prst="rect">
            <a:avLst/>
          </a:prstGeom>
        </p:spPr>
      </p:pic>
      <p:pic>
        <p:nvPicPr>
          <p:cNvPr id="11" name="Imagen 10">
            <a:extLst>
              <a:ext uri="{FF2B5EF4-FFF2-40B4-BE49-F238E27FC236}">
                <a16:creationId xmlns:a16="http://schemas.microsoft.com/office/drawing/2014/main" id="{340B8339-E11C-F172-EDE9-3D6A82965260}"/>
              </a:ext>
            </a:extLst>
          </p:cNvPr>
          <p:cNvPicPr>
            <a:picLocks noChangeAspect="1"/>
          </p:cNvPicPr>
          <p:nvPr/>
        </p:nvPicPr>
        <p:blipFill>
          <a:blip r:embed="rId8"/>
          <a:stretch>
            <a:fillRect/>
          </a:stretch>
        </p:blipFill>
        <p:spPr>
          <a:xfrm>
            <a:off x="6883366" y="1472813"/>
            <a:ext cx="4396922" cy="2725176"/>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#5 – Multimode Interference (MMI) Coupler cross-section</a:t>
            </a:r>
            <a:endParaRPr lang="en-US" sz="2500" b="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implementation of DC cross-section</a:t>
                </a:r>
              </a:p>
              <a:p>
                <a:pPr marL="342900" indent="-342900" algn="just">
                  <a:buFont typeface="Arial" panose="020B0604020202020204" pitchFamily="34" charset="0"/>
                  <a:buChar char="•"/>
                </a:pPr>
                <a:r>
                  <a:rPr lang="en-US" sz="2000"/>
                  <a:t>Describe how to obtain the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a:p>
              <a:p>
                <a:pPr marL="342900" indent="-342900" algn="just">
                  <a:buFont typeface="Arial" panose="020B0604020202020204" pitchFamily="34" charset="0"/>
                  <a:buChar char="•"/>
                </a:pPr>
                <a:r>
                  <a:rPr lang="en-US" sz="2000"/>
                  <a:t>Describe the outputs.</a:t>
                </a:r>
              </a:p>
              <a:p>
                <a:pPr marL="0" indent="0" algn="just">
                  <a:buNone/>
                </a:pPr>
                <a:r>
                  <a:rPr lang="en-US" sz="2000" b="1"/>
                  <a:t>ALL EXAMPLE #2: </a:t>
                </a:r>
                <a:r>
                  <a:rPr lang="en-US" sz="2000"/>
                  <a:t>waveguide width 12 µm, gap between waveguides 0.6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u="sng"/>
              </a:p>
              <a:p>
                <a:pPr algn="just"/>
                <a:endParaRPr lang="en-US" sz="2000" kern="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4"/>
                <a:stretch>
                  <a:fillRect l="-607" t="-738" r="-552"/>
                </a:stretch>
              </a:blipFill>
            </p:spPr>
            <p:txBody>
              <a:bodyPr/>
              <a:lstStyle/>
              <a:p>
                <a:r>
                  <a:rPr lang="en-U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F4811-3191-3415-1DD1-C5D7890D943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B238DA9-CEDB-14EE-031C-255CC964FE7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#5 – Multimode Interference (MMI) Coupler cross-section</a:t>
            </a:r>
            <a:endParaRPr lang="en-US" sz="2500" b="0">
              <a:latin typeface="+mj-lt"/>
              <a:cs typeface="Lucida Sans"/>
            </a:endParaRPr>
          </a:p>
        </p:txBody>
      </p:sp>
      <p:pic>
        <p:nvPicPr>
          <p:cNvPr id="83" name="Gráfico 82">
            <a:extLst>
              <a:ext uri="{FF2B5EF4-FFF2-40B4-BE49-F238E27FC236}">
                <a16:creationId xmlns:a16="http://schemas.microsoft.com/office/drawing/2014/main" id="{DDBB4AE5-9AC5-C15F-E554-E33CB9AB3C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65822F9-AA75-E7B6-C9A1-910943D2A6F7}"/>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93BDB7C6-6809-5B90-CE08-3F6A25C60918}"/>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9ED3DA15-BEB2-D659-6EBC-5683CEA0D07C}"/>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a:latin typeface="Arial" panose="020B0604020202020204" pitchFamily="34" charset="0"/>
                <a:cs typeface="Arial" panose="020B0604020202020204" pitchFamily="34" charset="0"/>
              </a:rPr>
              <a:t>Se obtienen los valores de los índices efectivos de los 20 primeros modos del cuerpo MMI. Todos ellos son mayores que el índice del </a:t>
            </a:r>
            <a:r>
              <a:rPr lang="es-ES" sz="1200" err="1">
                <a:latin typeface="Arial" panose="020B0604020202020204" pitchFamily="34" charset="0"/>
                <a:cs typeface="Arial" panose="020B0604020202020204" pitchFamily="34" charset="0"/>
              </a:rPr>
              <a:t>cladding</a:t>
            </a:r>
            <a:r>
              <a:rPr lang="es-ES" sz="1200">
                <a:latin typeface="Arial" panose="020B0604020202020204" pitchFamily="34" charset="0"/>
                <a:cs typeface="Arial" panose="020B0604020202020204" pitchFamily="34" charset="0"/>
              </a:rPr>
              <a:t> (n=1.45), por lo que todos los modos calculados se propagan. A partir de la fracción TE se identifican 12 modos TE y 8 modos TM. En las distribuciones de campo se representan los modos TE0, TE1 y TE7. Se observa que, al aumentar el orden del modo, aparecen más lóbulos y cambios de signo a lo largo de la anchura del MMI.</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A035C233-A864-3C0E-D46F-6851C0AEEA7A}"/>
              </a:ext>
            </a:extLst>
          </p:cNvPr>
          <p:cNvPicPr>
            <a:picLocks noChangeAspect="1"/>
          </p:cNvPicPr>
          <p:nvPr/>
        </p:nvPicPr>
        <p:blipFill>
          <a:blip r:embed="rId4"/>
          <a:stretch>
            <a:fillRect/>
          </a:stretch>
        </p:blipFill>
        <p:spPr>
          <a:xfrm>
            <a:off x="800671" y="1213215"/>
            <a:ext cx="5104257" cy="1568902"/>
          </a:xfrm>
          <a:prstGeom prst="rect">
            <a:avLst/>
          </a:prstGeom>
        </p:spPr>
      </p:pic>
      <p:pic>
        <p:nvPicPr>
          <p:cNvPr id="8" name="Imagen 7">
            <a:extLst>
              <a:ext uri="{FF2B5EF4-FFF2-40B4-BE49-F238E27FC236}">
                <a16:creationId xmlns:a16="http://schemas.microsoft.com/office/drawing/2014/main" id="{375C36BB-59D3-9C5F-789D-EFF038A8B885}"/>
              </a:ext>
            </a:extLst>
          </p:cNvPr>
          <p:cNvPicPr>
            <a:picLocks noChangeAspect="1"/>
          </p:cNvPicPr>
          <p:nvPr/>
        </p:nvPicPr>
        <p:blipFill>
          <a:blip r:embed="rId5"/>
          <a:stretch>
            <a:fillRect/>
          </a:stretch>
        </p:blipFill>
        <p:spPr>
          <a:xfrm>
            <a:off x="6414318" y="1210697"/>
            <a:ext cx="4891857" cy="1568768"/>
          </a:xfrm>
          <a:prstGeom prst="rect">
            <a:avLst/>
          </a:prstGeom>
        </p:spPr>
      </p:pic>
      <p:pic>
        <p:nvPicPr>
          <p:cNvPr id="10" name="Imagen 9">
            <a:extLst>
              <a:ext uri="{FF2B5EF4-FFF2-40B4-BE49-F238E27FC236}">
                <a16:creationId xmlns:a16="http://schemas.microsoft.com/office/drawing/2014/main" id="{9A525E03-CE04-570B-7216-3C9D731ADE25}"/>
              </a:ext>
            </a:extLst>
          </p:cNvPr>
          <p:cNvPicPr>
            <a:picLocks noChangeAspect="1"/>
          </p:cNvPicPr>
          <p:nvPr/>
        </p:nvPicPr>
        <p:blipFill>
          <a:blip r:embed="rId6"/>
          <a:stretch>
            <a:fillRect/>
          </a:stretch>
        </p:blipFill>
        <p:spPr>
          <a:xfrm>
            <a:off x="1313714" y="2898962"/>
            <a:ext cx="2612058" cy="1864387"/>
          </a:xfrm>
          <a:prstGeom prst="rect">
            <a:avLst/>
          </a:prstGeom>
        </p:spPr>
      </p:pic>
      <p:pic>
        <p:nvPicPr>
          <p:cNvPr id="12" name="Imagen 11">
            <a:extLst>
              <a:ext uri="{FF2B5EF4-FFF2-40B4-BE49-F238E27FC236}">
                <a16:creationId xmlns:a16="http://schemas.microsoft.com/office/drawing/2014/main" id="{0BD2C318-1771-BAA6-89E6-646EE53ACF14}"/>
              </a:ext>
            </a:extLst>
          </p:cNvPr>
          <p:cNvPicPr>
            <a:picLocks noChangeAspect="1"/>
          </p:cNvPicPr>
          <p:nvPr/>
        </p:nvPicPr>
        <p:blipFill>
          <a:blip r:embed="rId7"/>
          <a:stretch>
            <a:fillRect/>
          </a:stretch>
        </p:blipFill>
        <p:spPr>
          <a:xfrm>
            <a:off x="4725806" y="2898962"/>
            <a:ext cx="2740388" cy="1917286"/>
          </a:xfrm>
          <a:prstGeom prst="rect">
            <a:avLst/>
          </a:prstGeom>
        </p:spPr>
      </p:pic>
      <p:pic>
        <p:nvPicPr>
          <p:cNvPr id="14" name="Imagen 13">
            <a:extLst>
              <a:ext uri="{FF2B5EF4-FFF2-40B4-BE49-F238E27FC236}">
                <a16:creationId xmlns:a16="http://schemas.microsoft.com/office/drawing/2014/main" id="{5A10B351-4FAD-016C-ADA3-04AF2AC90C8D}"/>
              </a:ext>
            </a:extLst>
          </p:cNvPr>
          <p:cNvPicPr>
            <a:picLocks noChangeAspect="1"/>
          </p:cNvPicPr>
          <p:nvPr/>
        </p:nvPicPr>
        <p:blipFill>
          <a:blip r:embed="rId8"/>
          <a:stretch>
            <a:fillRect/>
          </a:stretch>
        </p:blipFill>
        <p:spPr>
          <a:xfrm>
            <a:off x="8193712" y="2898962"/>
            <a:ext cx="2740388" cy="1917286"/>
          </a:xfrm>
          <a:prstGeom prst="rect">
            <a:avLst/>
          </a:prstGeom>
        </p:spPr>
      </p:pic>
    </p:spTree>
    <p:extLst>
      <p:ext uri="{BB962C8B-B14F-4D97-AF65-F5344CB8AC3E}">
        <p14:creationId xmlns:p14="http://schemas.microsoft.com/office/powerpoint/2010/main" val="2272665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 – 6.1 2x2 Multimode Interference Coupler </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Comment results (Coupling relationship, </a:t>
            </a:r>
            <a:r>
              <a:rPr lang="en-US" sz="1200" err="1">
                <a:latin typeface="Arial" panose="020B0604020202020204" pitchFamily="34" charset="0"/>
                <a:cs typeface="Arial" panose="020B0604020202020204" pitchFamily="34" charset="0"/>
              </a:rPr>
              <a:t>Lpi</a:t>
            </a:r>
            <a:r>
              <a:rPr lang="en-US" sz="1200">
                <a:latin typeface="Arial" panose="020B0604020202020204" pitchFamily="34" charset="0"/>
                <a:cs typeface="Arial" panose="020B0604020202020204" pitchFamily="34" charset="0"/>
              </a:rPr>
              <a:t>,  losses, comparison with Directional Coupler… )</a:t>
            </a:r>
          </a:p>
          <a:p>
            <a:pPr algn="just"/>
            <a:r>
              <a:rPr lang="es-ES" sz="1200">
                <a:latin typeface="Arial" panose="020B0604020202020204" pitchFamily="34" charset="0"/>
                <a:cs typeface="Arial" panose="020B0604020202020204" pitchFamily="34" charset="0"/>
              </a:rPr>
              <a:t>En la simulación EME se observa la interferencia multimodo dentro del cuerpo MMI. La potencia de entrada acoplada es 0.9604 y la potencia total de salida es 0.9075, con unas pérdidas de exceso de 0.4217 dB. La potencia se reparte entre las dos salidas con valores de 0.4675 y 0.4399, lo que corresponde a un reparto aproximado de 51.52 % y 48.48 %. Por tanto, el dispositivo funciona como un acoplador MMI 2x2 prácticamente 50/50.</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95798"/>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74BE849E-4450-A900-67F6-7114167503EC}"/>
              </a:ext>
            </a:extLst>
          </p:cNvPr>
          <p:cNvPicPr>
            <a:picLocks noChangeAspect="1"/>
          </p:cNvPicPr>
          <p:nvPr/>
        </p:nvPicPr>
        <p:blipFill>
          <a:blip r:embed="rId4"/>
          <a:stretch>
            <a:fillRect/>
          </a:stretch>
        </p:blipFill>
        <p:spPr>
          <a:xfrm>
            <a:off x="5332095" y="2162889"/>
            <a:ext cx="5381625" cy="2219325"/>
          </a:xfrm>
          <a:prstGeom prst="rect">
            <a:avLst/>
          </a:prstGeom>
        </p:spPr>
      </p:pic>
      <p:pic>
        <p:nvPicPr>
          <p:cNvPr id="6" name="Imagen 5">
            <a:extLst>
              <a:ext uri="{FF2B5EF4-FFF2-40B4-BE49-F238E27FC236}">
                <a16:creationId xmlns:a16="http://schemas.microsoft.com/office/drawing/2014/main" id="{72F1879C-8265-88BC-D2BF-2E353EDBFB08}"/>
              </a:ext>
            </a:extLst>
          </p:cNvPr>
          <p:cNvPicPr>
            <a:picLocks noChangeAspect="1"/>
          </p:cNvPicPr>
          <p:nvPr/>
        </p:nvPicPr>
        <p:blipFill>
          <a:blip r:embed="rId5"/>
          <a:stretch>
            <a:fillRect/>
          </a:stretch>
        </p:blipFill>
        <p:spPr>
          <a:xfrm>
            <a:off x="1288020" y="1820948"/>
            <a:ext cx="3384564" cy="2437443"/>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#6.2 – 2x2 Multimode Interference Coupler - Optimization</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Comment results</a:t>
            </a:r>
          </a:p>
          <a:p>
            <a:pPr algn="just"/>
            <a:r>
              <a:rPr lang="es-ES" sz="1200">
                <a:latin typeface="Arial" panose="020B0604020202020204" pitchFamily="34" charset="0"/>
                <a:cs typeface="Arial" panose="020B0604020202020204" pitchFamily="34" charset="0"/>
              </a:rPr>
              <a:t>Tras ajustar manualmente la longitud del MMI (</a:t>
            </a:r>
            <a:r>
              <a:rPr lang="es-ES" sz="1200" err="1">
                <a:latin typeface="Arial" panose="020B0604020202020204" pitchFamily="34" charset="0"/>
                <a:cs typeface="Arial" panose="020B0604020202020204" pitchFamily="34" charset="0"/>
              </a:rPr>
              <a:t>dy</a:t>
            </a:r>
            <a:r>
              <a:rPr lang="es-ES" sz="1200">
                <a:latin typeface="Arial" panose="020B0604020202020204" pitchFamily="34" charset="0"/>
                <a:cs typeface="Arial" panose="020B0604020202020204" pitchFamily="34" charset="0"/>
              </a:rPr>
              <a:t> = 0.5 </a:t>
            </a:r>
            <a:r>
              <a:rPr lang="es-ES" sz="1200" err="1">
                <a:latin typeface="Arial" panose="020B0604020202020204" pitchFamily="34" charset="0"/>
                <a:cs typeface="Arial" panose="020B0604020202020204" pitchFamily="34" charset="0"/>
              </a:rPr>
              <a:t>μm</a:t>
            </a:r>
            <a:r>
              <a:rPr lang="es-ES" sz="1200">
                <a:latin typeface="Arial" panose="020B0604020202020204" pitchFamily="34" charset="0"/>
                <a:cs typeface="Arial" panose="020B0604020202020204" pitchFamily="34" charset="0"/>
              </a:rPr>
              <a:t>), se obtiene un reparto de potencia más equilibrado entre las dos salidas, con una relación 50.62%/49.38%, más cercana al caso ideal. Además, las pérdidas de exceso disminuyen hasta 0.3861 dB, por lo que la optimización mejora ligeramente el funcionamiento del dispositivo. Esta mejora se debe a que la nueva longitud ajusta mejor la condición de autoimagen dentro del MMI, haciendo que los máximos de intensidad al final de la región multimodo coincidan mejor con las guías de salida.</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78407938-D4E2-F455-87C0-0215A39884A8}"/>
              </a:ext>
            </a:extLst>
          </p:cNvPr>
          <p:cNvPicPr>
            <a:picLocks noChangeAspect="1"/>
          </p:cNvPicPr>
          <p:nvPr/>
        </p:nvPicPr>
        <p:blipFill>
          <a:blip r:embed="rId4"/>
          <a:stretch>
            <a:fillRect/>
          </a:stretch>
        </p:blipFill>
        <p:spPr>
          <a:xfrm>
            <a:off x="5788914" y="2056298"/>
            <a:ext cx="5381625" cy="2238375"/>
          </a:xfrm>
          <a:prstGeom prst="rect">
            <a:avLst/>
          </a:prstGeom>
        </p:spPr>
      </p:pic>
      <p:pic>
        <p:nvPicPr>
          <p:cNvPr id="6" name="Imagen 5">
            <a:extLst>
              <a:ext uri="{FF2B5EF4-FFF2-40B4-BE49-F238E27FC236}">
                <a16:creationId xmlns:a16="http://schemas.microsoft.com/office/drawing/2014/main" id="{9B67FB2E-6CD5-8AC1-7B41-4612868D190B}"/>
              </a:ext>
            </a:extLst>
          </p:cNvPr>
          <p:cNvPicPr>
            <a:picLocks noChangeAspect="1"/>
          </p:cNvPicPr>
          <p:nvPr/>
        </p:nvPicPr>
        <p:blipFill>
          <a:blip r:embed="rId5"/>
          <a:stretch>
            <a:fillRect/>
          </a:stretch>
        </p:blipFill>
        <p:spPr>
          <a:xfrm>
            <a:off x="1307432" y="1938191"/>
            <a:ext cx="3267775" cy="2444023"/>
          </a:xfrm>
          <a:prstGeom prst="rect">
            <a:avLst/>
          </a:prstGeom>
        </p:spPr>
      </p:pic>
    </p:spTree>
    <p:extLst>
      <p:ext uri="{BB962C8B-B14F-4D97-AF65-F5344CB8AC3E}">
        <p14:creationId xmlns:p14="http://schemas.microsoft.com/office/powerpoint/2010/main" val="2685215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#6.3 – 2x2 Multimode Interference Coupler – Optimization (II)</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r>
              <a:rPr lang="es-ES" sz="1200" dirty="0">
                <a:latin typeface="Arial" panose="020B0604020202020204" pitchFamily="34" charset="0"/>
                <a:cs typeface="Arial" panose="020B0604020202020204" pitchFamily="34" charset="0"/>
              </a:rPr>
              <a:t>Al ajustar la longitud y aumentar la anchura de las guías de entrada/salida (incremento de 0.8 </a:t>
            </a:r>
            <a:r>
              <a:rPr lang="es-ES" sz="1200" dirty="0" err="1">
                <a:latin typeface="Arial" panose="020B0604020202020204" pitchFamily="34" charset="0"/>
                <a:cs typeface="Arial" panose="020B0604020202020204" pitchFamily="34" charset="0"/>
              </a:rPr>
              <a:t>μm</a:t>
            </a:r>
            <a:r>
              <a:rPr lang="es-ES" sz="1200" dirty="0">
                <a:latin typeface="Arial" panose="020B0604020202020204" pitchFamily="34" charset="0"/>
                <a:cs typeface="Arial" panose="020B0604020202020204" pitchFamily="34" charset="0"/>
              </a:rPr>
              <a:t>), se logra optimizar el dispositivo para un reparto de potencia casi ideal de 50.60% / 49.40%.</a:t>
            </a:r>
          </a:p>
          <a:p>
            <a:r>
              <a:rPr lang="es-ES" sz="1200" dirty="0">
                <a:latin typeface="Arial" panose="020B0604020202020204" pitchFamily="34" charset="0"/>
                <a:cs typeface="Arial" panose="020B0604020202020204" pitchFamily="34" charset="0"/>
              </a:rPr>
              <a:t>Gracias a esta mejora en la adaptación modal, las pérdidas por exceso bajan hasta los 0.0923 dB, mejorando drásticamente la eficiencia general. Este resultado se debe a que la condición de autoimagen se cumple con mayor precisión al final del cuerpo del MMI, permitiendo que las guías de salida capturen los máximos de intensidad de luz de forma más efectiva, como se observa en la propagación EME.</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A04C76FE-2A54-B0EF-68FC-B9B2823DACFE}"/>
              </a:ext>
            </a:extLst>
          </p:cNvPr>
          <p:cNvPicPr>
            <a:picLocks noChangeAspect="1"/>
          </p:cNvPicPr>
          <p:nvPr/>
        </p:nvPicPr>
        <p:blipFill>
          <a:blip r:embed="rId4"/>
          <a:stretch>
            <a:fillRect/>
          </a:stretch>
        </p:blipFill>
        <p:spPr>
          <a:xfrm>
            <a:off x="5847039" y="2098019"/>
            <a:ext cx="5381625" cy="2209800"/>
          </a:xfrm>
          <a:prstGeom prst="rect">
            <a:avLst/>
          </a:prstGeom>
        </p:spPr>
      </p:pic>
      <p:pic>
        <p:nvPicPr>
          <p:cNvPr id="11" name="Imagen 10">
            <a:extLst>
              <a:ext uri="{FF2B5EF4-FFF2-40B4-BE49-F238E27FC236}">
                <a16:creationId xmlns:a16="http://schemas.microsoft.com/office/drawing/2014/main" id="{6612CABF-1021-1FF4-C515-DD87F9C9C8FD}"/>
              </a:ext>
            </a:extLst>
          </p:cNvPr>
          <p:cNvPicPr>
            <a:picLocks noChangeAspect="1"/>
          </p:cNvPicPr>
          <p:nvPr/>
        </p:nvPicPr>
        <p:blipFill>
          <a:blip r:embed="rId5"/>
          <a:stretch>
            <a:fillRect/>
          </a:stretch>
        </p:blipFill>
        <p:spPr>
          <a:xfrm>
            <a:off x="846144" y="1529422"/>
            <a:ext cx="4124842" cy="3002204"/>
          </a:xfrm>
          <a:prstGeom prst="rect">
            <a:avLst/>
          </a:prstGeom>
        </p:spPr>
      </p:pic>
    </p:spTree>
    <p:extLst>
      <p:ext uri="{BB962C8B-B14F-4D97-AF65-F5344CB8AC3E}">
        <p14:creationId xmlns:p14="http://schemas.microsoft.com/office/powerpoint/2010/main" val="1023731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#7 – 1x4 Multimode Interference Coupler </a:t>
            </a:r>
            <a:br>
              <a:rPr lang="en-US" sz="2500"/>
            </a:br>
            <a:r>
              <a:rPr lang="en-US" b="0"/>
              <a:t>Wavelength 1.55 µm, </a:t>
            </a:r>
            <a:r>
              <a:rPr lang="en-US" b="0" err="1"/>
              <a:t>wMMI</a:t>
            </a:r>
            <a:r>
              <a:rPr lang="en-US" b="0"/>
              <a:t> = ? µm</a:t>
            </a:r>
            <a:endParaRPr lang="en-US" sz="2500" b="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Repeat all the design process for a 1x4 MMI Coupler.  </a:t>
            </a:r>
          </a:p>
          <a:p>
            <a:pPr algn="just"/>
            <a:r>
              <a:rPr lang="es-ES" sz="1200">
                <a:latin typeface="Arial" panose="020B0604020202020204" pitchFamily="34" charset="0"/>
                <a:cs typeface="Arial" panose="020B0604020202020204" pitchFamily="34" charset="0"/>
              </a:rPr>
              <a:t>Al optimizar el MMI de 4 salidas se obtiene un reparto de potencia muy equilibrado entre los cuatro puertos, con ratios de 24.41%, 25.60%, 25.60% y 24.40%, muy próximos al valor ideal del 25%. Además, las pérdidas de exceso son muy bajas (0.0526dB), por debajo del objetivo de 0.1dB. Esto indica que la longitud del MMI y la anchura de las guías I/O permiten una buena formación de las autoimágenes y una transferencia eficiente hacia las cuatro salidas.</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5A69CD1-54DE-8DD1-BB02-DC11E14EDAEF}"/>
              </a:ext>
            </a:extLst>
          </p:cNvPr>
          <p:cNvPicPr>
            <a:picLocks noChangeAspect="1"/>
          </p:cNvPicPr>
          <p:nvPr/>
        </p:nvPicPr>
        <p:blipFill>
          <a:blip r:embed="rId4"/>
          <a:stretch>
            <a:fillRect/>
          </a:stretch>
        </p:blipFill>
        <p:spPr>
          <a:xfrm>
            <a:off x="875253" y="1750360"/>
            <a:ext cx="5429535" cy="2710971"/>
          </a:xfrm>
          <a:prstGeom prst="rect">
            <a:avLst/>
          </a:prstGeom>
        </p:spPr>
      </p:pic>
      <p:pic>
        <p:nvPicPr>
          <p:cNvPr id="9" name="Imagen 8">
            <a:extLst>
              <a:ext uri="{FF2B5EF4-FFF2-40B4-BE49-F238E27FC236}">
                <a16:creationId xmlns:a16="http://schemas.microsoft.com/office/drawing/2014/main" id="{2E0D2D9C-20DC-D1CF-F6F9-0E9ECD81AE86}"/>
              </a:ext>
            </a:extLst>
          </p:cNvPr>
          <p:cNvPicPr>
            <a:picLocks noChangeAspect="1"/>
          </p:cNvPicPr>
          <p:nvPr/>
        </p:nvPicPr>
        <p:blipFill>
          <a:blip r:embed="rId5"/>
          <a:stretch>
            <a:fillRect/>
          </a:stretch>
        </p:blipFill>
        <p:spPr>
          <a:xfrm>
            <a:off x="6877850" y="2237225"/>
            <a:ext cx="4438897" cy="2026117"/>
          </a:xfrm>
          <a:prstGeom prst="rect">
            <a:avLst/>
          </a:prstGeom>
        </p:spPr>
      </p:pic>
    </p:spTree>
    <p:extLst>
      <p:ext uri="{BB962C8B-B14F-4D97-AF65-F5344CB8AC3E}">
        <p14:creationId xmlns:p14="http://schemas.microsoft.com/office/powerpoint/2010/main" val="699864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a:t>Extra #1 – Directional coupler gap dependence</a:t>
            </a:r>
            <a:br>
              <a:rPr lang="en-US" sz="2500"/>
            </a:br>
            <a:r>
              <a:rPr lang="en-US" b="0"/>
              <a:t>Wavelength 1.55 µm, width 1.0 µm, </a:t>
            </a:r>
            <a:r>
              <a:rPr lang="en-US"/>
              <a:t>gap 0.2-2.4 µm </a:t>
            </a:r>
            <a:r>
              <a:rPr lang="en-US" b="0"/>
              <a:t>(step 0.2 µm)</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Make conclusions and observations from your results</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Al aumentar el gap, la longitud de acoplo L</a:t>
                </a:r>
                <a14:m>
                  <m:oMath xmlns:m="http://schemas.openxmlformats.org/officeDocument/2006/math">
                    <m:r>
                      <a:rPr lang="en-US" sz="1200" i="1">
                        <a:latin typeface="Cambria Math" panose="02040503050406030204" pitchFamily="18" charset="0"/>
                        <a:ea typeface="Cambria Math" panose="02040503050406030204" pitchFamily="18" charset="0"/>
                        <a:cs typeface="Arial" panose="020B0604020202020204" pitchFamily="34" charset="0"/>
                      </a:rPr>
                      <m:t>𝜋</m:t>
                    </m:r>
                  </m:oMath>
                </a14:m>
                <a:r>
                  <a:rPr lang="es-ES" sz="1200" dirty="0">
                    <a:latin typeface="Arial" panose="020B0604020202020204" pitchFamily="34" charset="0"/>
                    <a:cs typeface="Arial" panose="020B0604020202020204" pitchFamily="34" charset="0"/>
                  </a:rPr>
                  <a:t> aumenta en todos los casos, ya que el solapamiento entre los campos de ambas guías disminuye y el acoplamiento se hace más débil. En la guía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este aumento es mucho más brusco, especialmente para gaps grandes, porque el campo está más confinado y, al separar las guías, el acoplamiento cae rápidamente. En la guía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el crecimiento de L</a:t>
                </a:r>
                <a14:m>
                  <m:oMath xmlns:m="http://schemas.openxmlformats.org/officeDocument/2006/math">
                    <m:r>
                      <a:rPr lang="es-ES" sz="1200" i="1" smtClean="0">
                        <a:latin typeface="Cambria Math" panose="02040503050406030204" pitchFamily="18" charset="0"/>
                        <a:ea typeface="Cambria Math" panose="02040503050406030204" pitchFamily="18" charset="0"/>
                        <a:cs typeface="Arial" panose="020B0604020202020204" pitchFamily="34" charset="0"/>
                      </a:rPr>
                      <m:t>𝜋</m:t>
                    </m:r>
                    <m:r>
                      <a:rPr lang="es-ES" sz="1200" b="0" i="1" smtClean="0">
                        <a:latin typeface="Cambria Math" panose="02040503050406030204" pitchFamily="18" charset="0"/>
                        <a:ea typeface="Cambria Math" panose="02040503050406030204" pitchFamily="18" charset="0"/>
                        <a:cs typeface="Arial" panose="020B0604020202020204" pitchFamily="34" charset="0"/>
                      </a:rPr>
                      <m:t> </m:t>
                    </m:r>
                  </m:oMath>
                </a14:m>
                <a:r>
                  <a:rPr lang="es-ES" sz="1200" dirty="0">
                    <a:latin typeface="Arial" panose="020B0604020202020204" pitchFamily="34" charset="0"/>
                    <a:cs typeface="Arial" panose="020B0604020202020204" pitchFamily="34" charset="0"/>
                  </a:rPr>
                  <a:t>es más progresivo, ya que el modo se extiende más por el </a:t>
                </a:r>
                <a:r>
                  <a:rPr lang="es-ES" sz="1200" dirty="0" err="1">
                    <a:latin typeface="Arial" panose="020B0604020202020204" pitchFamily="34" charset="0"/>
                    <a:cs typeface="Arial" panose="020B0604020202020204" pitchFamily="34" charset="0"/>
                  </a:rPr>
                  <a:t>cladding</a:t>
                </a:r>
                <a:r>
                  <a:rPr lang="es-ES" sz="1200" dirty="0">
                    <a:latin typeface="Arial" panose="020B0604020202020204" pitchFamily="34" charset="0"/>
                    <a:cs typeface="Arial" panose="020B0604020202020204" pitchFamily="34" charset="0"/>
                  </a:rPr>
                  <a:t> y mantiene cierto acoplamiento a mayores distancias. También se observan diferencias entre las polarizaciones TE y TM, debido a que sus distribuciones de campo y su confinamiento no son iguales.</a:t>
                </a:r>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D0F8CF3B-B920-DBFC-F825-0C87B51EADA7}"/>
                  </a:ext>
                </a:extLst>
              </p:cNvPr>
              <p:cNvSpPr txBox="1">
                <a:spLocks noRot="1" noChangeAspect="1" noMove="1" noResize="1" noEditPoints="1" noAdjustHandles="1" noChangeArrowheads="1" noChangeShapeType="1" noTextEdit="1"/>
              </p:cNvSpPr>
              <p:nvPr/>
            </p:nvSpPr>
            <p:spPr>
              <a:xfrm>
                <a:off x="609441" y="4860334"/>
                <a:ext cx="11199971" cy="1384995"/>
              </a:xfrm>
              <a:prstGeom prst="rect">
                <a:avLst/>
              </a:prstGeom>
              <a:blipFill>
                <a:blip r:embed="rId4"/>
                <a:stretch>
                  <a:fillRect b="-862"/>
                </a:stretch>
              </a:blipFill>
              <a:ln w="28575">
                <a:solidFill>
                  <a:srgbClr val="E0700D"/>
                </a:solidFill>
              </a:ln>
            </p:spPr>
            <p:txBody>
              <a:bodyPr/>
              <a:lstStyle/>
              <a:p>
                <a:r>
                  <a:rPr lang="es-ES">
                    <a:noFill/>
                  </a:rPr>
                  <a:t> </a:t>
                </a:r>
              </a:p>
            </p:txBody>
          </p:sp>
        </mc:Fallback>
      </mc:AlternateContent>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n-US">
                    <a:noFill/>
                  </a:rPr>
                  <a:t> </a:t>
                </a:r>
              </a:p>
            </p:txBody>
          </p:sp>
        </mc:Fallback>
      </mc:AlternateContent>
      <p:pic>
        <p:nvPicPr>
          <p:cNvPr id="10" name="Imagen 9">
            <a:extLst>
              <a:ext uri="{FF2B5EF4-FFF2-40B4-BE49-F238E27FC236}">
                <a16:creationId xmlns:a16="http://schemas.microsoft.com/office/drawing/2014/main" id="{9703C1BB-7FE0-20E4-A2ED-2DF53C9D51A8}"/>
              </a:ext>
            </a:extLst>
          </p:cNvPr>
          <p:cNvPicPr>
            <a:picLocks noChangeAspect="1"/>
          </p:cNvPicPr>
          <p:nvPr/>
        </p:nvPicPr>
        <p:blipFill>
          <a:blip r:embed="rId7"/>
          <a:stretch>
            <a:fillRect/>
          </a:stretch>
        </p:blipFill>
        <p:spPr>
          <a:xfrm>
            <a:off x="1216866" y="1647091"/>
            <a:ext cx="4271708" cy="2819807"/>
          </a:xfrm>
          <a:prstGeom prst="rect">
            <a:avLst/>
          </a:prstGeom>
        </p:spPr>
      </p:pic>
      <p:pic>
        <p:nvPicPr>
          <p:cNvPr id="14" name="Imagen 13">
            <a:extLst>
              <a:ext uri="{FF2B5EF4-FFF2-40B4-BE49-F238E27FC236}">
                <a16:creationId xmlns:a16="http://schemas.microsoft.com/office/drawing/2014/main" id="{69CEB966-C816-3A2C-25E1-C6FA5FA3C60F}"/>
              </a:ext>
            </a:extLst>
          </p:cNvPr>
          <p:cNvPicPr>
            <a:picLocks noChangeAspect="1"/>
          </p:cNvPicPr>
          <p:nvPr/>
        </p:nvPicPr>
        <p:blipFill>
          <a:blip r:embed="rId8"/>
          <a:stretch>
            <a:fillRect/>
          </a:stretch>
        </p:blipFill>
        <p:spPr>
          <a:xfrm>
            <a:off x="6755593" y="1498925"/>
            <a:ext cx="4405314" cy="2936876"/>
          </a:xfrm>
          <a:prstGeom prst="rect">
            <a:avLst/>
          </a:prstGeom>
        </p:spPr>
      </p:pic>
    </p:spTree>
    <p:extLst>
      <p:ext uri="{BB962C8B-B14F-4D97-AF65-F5344CB8AC3E}">
        <p14:creationId xmlns:p14="http://schemas.microsoft.com/office/powerpoint/2010/main" val="179796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a:t>Extra #2 – Directional wavelength dependence</a:t>
            </a:r>
            <a:br>
              <a:rPr lang="en-US" sz="2500"/>
            </a:br>
            <a:r>
              <a:rPr lang="en-US" b="0"/>
              <a:t>Wavelengths </a:t>
            </a:r>
            <a:r>
              <a:rPr lang="en-US"/>
              <a:t>from 1.5 to 1.7 µm</a:t>
            </a:r>
            <a:r>
              <a:rPr lang="en-US" b="0"/>
              <a:t>, gap = 0.6 µm, width 1.0 µm</a:t>
            </a:r>
            <a:br>
              <a:rPr lang="en-US" b="0"/>
            </a:b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n-US">
                    <a:noFill/>
                  </a:rPr>
                  <a:t> </a:t>
                </a:r>
              </a:p>
            </p:txBody>
          </p:sp>
        </mc:Fallback>
      </mc:AlternateContent>
      <p:pic>
        <p:nvPicPr>
          <p:cNvPr id="10" name="Imagen 9">
            <a:extLst>
              <a:ext uri="{FF2B5EF4-FFF2-40B4-BE49-F238E27FC236}">
                <a16:creationId xmlns:a16="http://schemas.microsoft.com/office/drawing/2014/main" id="{9A010499-E5CC-7FF9-DA1C-7D8D6DC74DD1}"/>
              </a:ext>
            </a:extLst>
          </p:cNvPr>
          <p:cNvPicPr>
            <a:picLocks noChangeAspect="1"/>
          </p:cNvPicPr>
          <p:nvPr/>
        </p:nvPicPr>
        <p:blipFill>
          <a:blip r:embed="rId6"/>
          <a:stretch>
            <a:fillRect/>
          </a:stretch>
        </p:blipFill>
        <p:spPr>
          <a:xfrm>
            <a:off x="1045304" y="1778553"/>
            <a:ext cx="4528068" cy="2644521"/>
          </a:xfrm>
          <a:prstGeom prst="rect">
            <a:avLst/>
          </a:prstGeom>
        </p:spPr>
      </p:pic>
      <p:pic>
        <p:nvPicPr>
          <p:cNvPr id="12" name="Imagen 11">
            <a:extLst>
              <a:ext uri="{FF2B5EF4-FFF2-40B4-BE49-F238E27FC236}">
                <a16:creationId xmlns:a16="http://schemas.microsoft.com/office/drawing/2014/main" id="{F4424A26-1EF0-C593-3E94-A1C14B758664}"/>
              </a:ext>
            </a:extLst>
          </p:cNvPr>
          <p:cNvPicPr>
            <a:picLocks noChangeAspect="1"/>
          </p:cNvPicPr>
          <p:nvPr/>
        </p:nvPicPr>
        <p:blipFill>
          <a:blip r:embed="rId7"/>
          <a:stretch>
            <a:fillRect/>
          </a:stretch>
        </p:blipFill>
        <p:spPr>
          <a:xfrm>
            <a:off x="6390323" y="1541200"/>
            <a:ext cx="5316219" cy="3101128"/>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A0C962F3-7DF4-66E7-60D0-370F60DC58D9}"/>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r>
                  <a:rPr lang="en-US" sz="1200" dirty="0">
                    <a:latin typeface="Arial" panose="020B0604020202020204" pitchFamily="34" charset="0"/>
                    <a:cs typeface="Arial" panose="020B0604020202020204" pitchFamily="34" charset="0"/>
                  </a:rPr>
                  <a:t>Al </a:t>
                </a:r>
                <a:r>
                  <a:rPr lang="en-US" sz="1200" dirty="0" err="1">
                    <a:latin typeface="Arial" panose="020B0604020202020204" pitchFamily="34" charset="0"/>
                    <a:cs typeface="Arial" panose="020B0604020202020204" pitchFamily="34" charset="0"/>
                  </a:rPr>
                  <a:t>aumentar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confinados</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campo se </a:t>
                </a:r>
                <a:r>
                  <a:rPr lang="en-US" sz="1200" dirty="0" err="1">
                    <a:latin typeface="Arial" panose="020B0604020202020204" pitchFamily="34" charset="0"/>
                    <a:cs typeface="Arial" panose="020B0604020202020204" pitchFamily="34" charset="0"/>
                  </a:rPr>
                  <a:t>expande</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solapamiento</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y reduce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acoplamiento</a:t>
                </a:r>
                <a:r>
                  <a:rPr lang="en-US" sz="1200" dirty="0">
                    <a:latin typeface="Arial" panose="020B0604020202020204" pitchFamily="34" charset="0"/>
                    <a:cs typeface="Arial" panose="020B0604020202020204" pitchFamily="34" charset="0"/>
                  </a:rPr>
                  <a:t> L</a:t>
                </a:r>
                <a14:m>
                  <m:oMath xmlns:m="http://schemas.openxmlformats.org/officeDocument/2006/math">
                    <m:r>
                      <a:rPr lang="en-US" sz="1200" i="1" smtClean="0">
                        <a:latin typeface="Cambria Math" panose="02040503050406030204" pitchFamily="18" charset="0"/>
                        <a:ea typeface="Cambria Math" panose="02040503050406030204" pitchFamily="18" charset="0"/>
                        <a:cs typeface="Arial" panose="020B0604020202020204" pitchFamily="34" charset="0"/>
                      </a:rPr>
                      <m:t>𝜋</m:t>
                    </m:r>
                  </m:oMath>
                </a14:m>
                <a:r>
                  <a:rPr lang="en-US" sz="1200" dirty="0">
                    <a:latin typeface="Arial" panose="020B0604020202020204" pitchFamily="34" charset="0"/>
                    <a:cs typeface="Arial" panose="020B0604020202020204" pitchFamily="34" charset="0"/>
                  </a:rPr>
                  <a:t>. En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deep,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TE require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mayor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acoplamiento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TM, </a:t>
                </a:r>
                <a:r>
                  <a:rPr lang="en-US" sz="1200" dirty="0" err="1">
                    <a:latin typeface="Arial" panose="020B0604020202020204" pitchFamily="34" charset="0"/>
                    <a:cs typeface="Arial" panose="020B0604020202020204" pitchFamily="34" charset="0"/>
                  </a:rPr>
                  <a:t>aunque</a:t>
                </a:r>
                <a:r>
                  <a:rPr lang="en-US" sz="1200" dirty="0">
                    <a:latin typeface="Arial" panose="020B0604020202020204" pitchFamily="34" charset="0"/>
                    <a:cs typeface="Arial" panose="020B0604020202020204" pitchFamily="34" charset="0"/>
                  </a:rPr>
                  <a:t> ambos </a:t>
                </a:r>
                <a:r>
                  <a:rPr lang="en-US" sz="1200" dirty="0" err="1">
                    <a:latin typeface="Arial" panose="020B0604020202020204" pitchFamily="34" charset="0"/>
                    <a:cs typeface="Arial" panose="020B0604020202020204" pitchFamily="34" charset="0"/>
                  </a:rPr>
                  <a:t>decrecen</a:t>
                </a:r>
                <a:r>
                  <a:rPr lang="en-US" sz="1200" dirty="0">
                    <a:latin typeface="Arial" panose="020B0604020202020204" pitchFamily="34" charset="0"/>
                    <a:cs typeface="Arial" panose="020B0604020202020204" pitchFamily="34" charset="0"/>
                  </a:rPr>
                  <a:t> de forma </a:t>
                </a:r>
                <a:r>
                  <a:rPr lang="en-US" sz="1200" dirty="0" err="1">
                    <a:latin typeface="Arial" panose="020B0604020202020204" pitchFamily="34" charset="0"/>
                    <a:cs typeface="Arial" panose="020B0604020202020204" pitchFamily="34" charset="0"/>
                  </a:rPr>
                  <a:t>predecible</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subir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Por contra,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shallow,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TM </a:t>
                </a:r>
                <a:r>
                  <a:rPr lang="en-US" sz="1200" dirty="0" err="1">
                    <a:latin typeface="Arial" panose="020B0604020202020204" pitchFamily="34" charset="0"/>
                    <a:cs typeface="Arial" panose="020B0604020202020204" pitchFamily="34" charset="0"/>
                  </a:rPr>
                  <a:t>muestra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dependencia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mucho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crítica</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valores</a:t>
                </a:r>
                <a:r>
                  <a:rPr lang="en-US" sz="1200" dirty="0">
                    <a:latin typeface="Arial" panose="020B0604020202020204" pitchFamily="34" charset="0"/>
                    <a:cs typeface="Arial" panose="020B0604020202020204" pitchFamily="34" charset="0"/>
                  </a:rPr>
                  <a:t> de L</a:t>
                </a:r>
                <a14:m>
                  <m:oMath xmlns:m="http://schemas.openxmlformats.org/officeDocument/2006/math">
                    <m:r>
                      <a:rPr lang="en-US" sz="1200" i="1">
                        <a:latin typeface="Cambria Math" panose="02040503050406030204" pitchFamily="18" charset="0"/>
                        <a:ea typeface="Cambria Math" panose="02040503050406030204" pitchFamily="18" charset="0"/>
                        <a:cs typeface="Arial" panose="020B0604020202020204" pitchFamily="34" charset="0"/>
                      </a:rPr>
                      <m:t>𝜋</m:t>
                    </m:r>
                  </m:oMath>
                </a14:m>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superiores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TE </a:t>
                </a:r>
                <a:r>
                  <a:rPr lang="en-US" sz="1200" dirty="0" err="1">
                    <a:latin typeface="Arial" panose="020B0604020202020204" pitchFamily="34" charset="0"/>
                    <a:cs typeface="Arial" panose="020B0604020202020204" pitchFamily="34" charset="0"/>
                  </a:rPr>
                  <a:t>casi</a:t>
                </a:r>
                <a:r>
                  <a:rPr lang="en-US" sz="1200" dirty="0">
                    <a:latin typeface="Arial" panose="020B0604020202020204" pitchFamily="34" charset="0"/>
                    <a:cs typeface="Arial" panose="020B0604020202020204" pitchFamily="34" charset="0"/>
                  </a:rPr>
                  <a:t> no varia, </a:t>
                </a:r>
                <a:r>
                  <a:rPr lang="en-US" sz="1200" dirty="0" err="1">
                    <a:latin typeface="Arial" panose="020B0604020202020204" pitchFamily="34" charset="0"/>
                    <a:cs typeface="Arial" panose="020B0604020202020204" pitchFamily="34" charset="0"/>
                  </a:rPr>
                  <a:t>demostrando</a:t>
                </a:r>
                <a:r>
                  <a:rPr lang="en-US" sz="1200" dirty="0">
                    <a:latin typeface="Arial" panose="020B0604020202020204" pitchFamily="34" charset="0"/>
                    <a:cs typeface="Arial" panose="020B0604020202020204" pitchFamily="34" charset="0"/>
                  </a:rPr>
                  <a:t> ser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robusto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frente</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cambios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espectrales</a:t>
                </a:r>
                <a:r>
                  <a:rPr lang="en-US" sz="1200" dirty="0">
                    <a:latin typeface="Arial" panose="020B0604020202020204" pitchFamily="34" charset="0"/>
                    <a:cs typeface="Arial" panose="020B0604020202020204" pitchFamily="34" charset="0"/>
                  </a:rPr>
                  <a:t>.</a:t>
                </a:r>
              </a:p>
            </p:txBody>
          </p:sp>
        </mc:Choice>
        <mc:Fallback xmlns="">
          <p:sp>
            <p:nvSpPr>
              <p:cNvPr id="14" name="CuadroTexto 13">
                <a:extLst>
                  <a:ext uri="{FF2B5EF4-FFF2-40B4-BE49-F238E27FC236}">
                    <a16:creationId xmlns:a16="http://schemas.microsoft.com/office/drawing/2014/main" id="{A0C962F3-7DF4-66E7-60D0-370F60DC58D9}"/>
                  </a:ext>
                </a:extLst>
              </p:cNvPr>
              <p:cNvSpPr txBox="1">
                <a:spLocks noRot="1" noChangeAspect="1" noMove="1" noResize="1" noEditPoints="1" noAdjustHandles="1" noChangeArrowheads="1" noChangeShapeType="1" noTextEdit="1"/>
              </p:cNvSpPr>
              <p:nvPr/>
            </p:nvSpPr>
            <p:spPr>
              <a:xfrm>
                <a:off x="609441" y="4860334"/>
                <a:ext cx="11199971" cy="1015663"/>
              </a:xfrm>
              <a:prstGeom prst="rect">
                <a:avLst/>
              </a:prstGeom>
              <a:blipFill>
                <a:blip r:embed="rId8"/>
                <a:stretch>
                  <a:fillRect b="-1163"/>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813558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Extra #3 – MMI coupler wavelength dependence</a:t>
            </a:r>
            <a:br>
              <a:rPr lang="en-US" sz="2500" spc="-5">
                <a:latin typeface="+mj-lt"/>
                <a:cs typeface="Lucida Sans"/>
              </a:rPr>
            </a:br>
            <a:r>
              <a:rPr lang="en-US" b="0"/>
              <a:t>Wavelengths from 1.5 to 1.7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(Important. Compare with Directional Coupler)</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el acoplador MMI, L</a:t>
                </a:r>
                <a14:m>
                  <m:oMath xmlns:m="http://schemas.openxmlformats.org/officeDocument/2006/math">
                    <m:r>
                      <a:rPr lang="en-US" sz="1200" i="1">
                        <a:latin typeface="Cambria Math" panose="02040503050406030204" pitchFamily="18" charset="0"/>
                        <a:ea typeface="Cambria Math" panose="02040503050406030204" pitchFamily="18" charset="0"/>
                        <a:cs typeface="Arial" panose="020B0604020202020204" pitchFamily="34" charset="0"/>
                      </a:rPr>
                      <m:t>𝜋</m:t>
                    </m:r>
                  </m:oMath>
                </a14:m>
                <a:r>
                  <a:rPr lang="es-ES" sz="1200" dirty="0">
                    <a:latin typeface="Arial" panose="020B0604020202020204" pitchFamily="34" charset="0"/>
                    <a:cs typeface="Arial" panose="020B0604020202020204" pitchFamily="34" charset="0"/>
                  </a:rPr>
                  <a:t> también disminuye al aumentar la longitud de onda, pero lo hace de forma suave y prácticamente lineal para ambas guías. A diferencia del acoplador direccional, no aparecen variaciones bruscas ni una dependencia tan crítica con la polarización. Esto se debe a que el funcionamiento del MMI se basa en la interferencia multimodo y en la formación de autoimágenes dentro de la región ancha, por lo que resulta más estable frente a cambios espectrales. En general, el MMI presenta una respuesta más robusta que la del acoplador direccional.</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82A62DD6-5488-72A1-9926-0CAEE59089A9}"/>
                  </a:ext>
                </a:extLst>
              </p:cNvPr>
              <p:cNvSpPr txBox="1">
                <a:spLocks noRot="1" noChangeAspect="1" noMove="1" noResize="1" noEditPoints="1" noAdjustHandles="1" noChangeArrowheads="1" noChangeShapeType="1" noTextEdit="1"/>
              </p:cNvSpPr>
              <p:nvPr/>
            </p:nvSpPr>
            <p:spPr>
              <a:xfrm>
                <a:off x="609441" y="4860334"/>
                <a:ext cx="11199971" cy="1384995"/>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8" name="Imagen 7">
            <a:extLst>
              <a:ext uri="{FF2B5EF4-FFF2-40B4-BE49-F238E27FC236}">
                <a16:creationId xmlns:a16="http://schemas.microsoft.com/office/drawing/2014/main" id="{287AF794-19AC-1134-B41E-520B3CA3DCF6}"/>
              </a:ext>
            </a:extLst>
          </p:cNvPr>
          <p:cNvPicPr>
            <a:picLocks noChangeAspect="1"/>
          </p:cNvPicPr>
          <p:nvPr/>
        </p:nvPicPr>
        <p:blipFill>
          <a:blip r:embed="rId7"/>
          <a:stretch>
            <a:fillRect/>
          </a:stretch>
        </p:blipFill>
        <p:spPr>
          <a:xfrm>
            <a:off x="734347" y="1594470"/>
            <a:ext cx="5209094" cy="3042260"/>
          </a:xfrm>
          <a:prstGeom prst="rect">
            <a:avLst/>
          </a:prstGeom>
        </p:spPr>
      </p:pic>
      <p:pic>
        <p:nvPicPr>
          <p:cNvPr id="12" name="Imagen 11">
            <a:extLst>
              <a:ext uri="{FF2B5EF4-FFF2-40B4-BE49-F238E27FC236}">
                <a16:creationId xmlns:a16="http://schemas.microsoft.com/office/drawing/2014/main" id="{4420355F-A0C8-7E7B-81CE-5AFAF2D66064}"/>
              </a:ext>
            </a:extLst>
          </p:cNvPr>
          <p:cNvPicPr>
            <a:picLocks noChangeAspect="1"/>
          </p:cNvPicPr>
          <p:nvPr/>
        </p:nvPicPr>
        <p:blipFill>
          <a:blip r:embed="rId8"/>
          <a:stretch>
            <a:fillRect/>
          </a:stretch>
        </p:blipFill>
        <p:spPr>
          <a:xfrm>
            <a:off x="6377047" y="1544204"/>
            <a:ext cx="5330595" cy="3113220"/>
          </a:xfrm>
          <a:prstGeom prst="rect">
            <a:avLst/>
          </a:prstGeom>
        </p:spPr>
      </p:pic>
    </p:spTree>
    <p:extLst>
      <p:ext uri="{BB962C8B-B14F-4D97-AF65-F5344CB8AC3E}">
        <p14:creationId xmlns:p14="http://schemas.microsoft.com/office/powerpoint/2010/main" val="955145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Extra #4 – MMI coupler body width dependence</a:t>
            </a:r>
            <a:br>
              <a:rPr lang="en-US" sz="2500" spc="-5">
                <a:latin typeface="+mj-lt"/>
                <a:cs typeface="Lucida Sans"/>
              </a:rPr>
            </a:br>
            <a:r>
              <a:rPr lang="en-US" b="0"/>
              <a:t>Wavelength 1.55 µm, </a:t>
            </a:r>
            <a:r>
              <a:rPr lang="en-US" b="0" err="1"/>
              <a:t>wMMI</a:t>
            </a:r>
            <a:r>
              <a:rPr lang="en-US" b="0"/>
              <a:t> = 5-10 µm (steps 0.5 µm)</a:t>
            </a:r>
            <a:endParaRPr lang="en-US" sz="2500" b="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8D88CB07-C5F5-9BB7-9F41-E171F0F0E2B9}"/>
                  </a:ext>
                </a:extLst>
              </p:cNvPr>
              <p:cNvSpPr txBox="1"/>
              <p:nvPr/>
            </p:nvSpPr>
            <p:spPr>
              <a:xfrm>
                <a:off x="609442" y="4860334"/>
                <a:ext cx="11198541"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No, no </a:t>
                </a:r>
                <a:r>
                  <a:rPr lang="en-US" sz="1200" dirty="0" err="1">
                    <a:latin typeface="Arial" panose="020B0604020202020204" pitchFamily="34" charset="0"/>
                    <a:cs typeface="Arial" panose="020B0604020202020204" pitchFamily="34" charset="0"/>
                  </a:rPr>
                  <a:t>existe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ningún</a:t>
                </a:r>
                <a:r>
                  <a:rPr lang="en-US" sz="1200" dirty="0">
                    <a:latin typeface="Arial" panose="020B0604020202020204" pitchFamily="34" charset="0"/>
                    <a:cs typeface="Arial" panose="020B0604020202020204" pitchFamily="34" charset="0"/>
                  </a:rPr>
                  <a:t> punto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rango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estudiado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anchuras</a:t>
                </a:r>
                <a:r>
                  <a:rPr lang="en-US" sz="1200" dirty="0">
                    <a:latin typeface="Arial" panose="020B0604020202020204" pitchFamily="34" charset="0"/>
                    <a:cs typeface="Arial" panose="020B0604020202020204" pitchFamily="34" charset="0"/>
                  </a:rPr>
                  <a:t> de 5 a 10 um) </a:t>
                </a:r>
                <a:r>
                  <a:rPr lang="en-US" sz="1200" dirty="0" err="1">
                    <a:latin typeface="Arial" panose="020B0604020202020204" pitchFamily="34" charset="0"/>
                    <a:cs typeface="Arial" panose="020B0604020202020204" pitchFamily="34" charset="0"/>
                  </a:rPr>
                  <a:t>donde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acoplador</a:t>
                </a:r>
                <a:r>
                  <a:rPr lang="en-US" sz="1200" dirty="0">
                    <a:latin typeface="Arial" panose="020B0604020202020204" pitchFamily="34" charset="0"/>
                    <a:cs typeface="Arial" panose="020B0604020202020204" pitchFamily="34" charset="0"/>
                  </a:rPr>
                  <a:t> MMI </a:t>
                </a:r>
                <a:r>
                  <a:rPr lang="en-US" sz="1200" dirty="0" err="1">
                    <a:latin typeface="Arial" panose="020B0604020202020204" pitchFamily="34" charset="0"/>
                    <a:cs typeface="Arial" panose="020B0604020202020204" pitchFamily="34" charset="0"/>
                  </a:rPr>
                  <a:t>funcione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idénticamente</a:t>
                </a:r>
                <a:r>
                  <a:rPr lang="en-US" sz="1200" dirty="0">
                    <a:latin typeface="Arial" panose="020B0604020202020204" pitchFamily="34" charset="0"/>
                    <a:cs typeface="Arial" panose="020B0604020202020204" pitchFamily="34" charset="0"/>
                  </a:rPr>
                  <a:t> para TE y TM. Esto se </a:t>
                </a:r>
                <a:r>
                  <a:rPr lang="en-US" sz="1200" dirty="0" err="1">
                    <a:latin typeface="Arial" panose="020B0604020202020204" pitchFamily="34" charset="0"/>
                    <a:cs typeface="Arial" panose="020B0604020202020204" pitchFamily="34" charset="0"/>
                  </a:rPr>
                  <a:t>debe</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las curvas de L</a:t>
                </a:r>
                <a14:m>
                  <m:oMath xmlns:m="http://schemas.openxmlformats.org/officeDocument/2006/math">
                    <m:r>
                      <a:rPr lang="en-US" sz="1200" i="1">
                        <a:latin typeface="Cambria Math" panose="02040503050406030204" pitchFamily="18" charset="0"/>
                        <a:ea typeface="Cambria Math" panose="02040503050406030204" pitchFamily="18" charset="0"/>
                        <a:cs typeface="Arial" panose="020B0604020202020204" pitchFamily="34" charset="0"/>
                      </a:rPr>
                      <m:t>𝜋</m:t>
                    </m:r>
                  </m:oMath>
                </a14:m>
                <a:r>
                  <a:rPr lang="en-US" sz="1200" dirty="0">
                    <a:latin typeface="Arial" panose="020B0604020202020204" pitchFamily="34" charset="0"/>
                    <a:cs typeface="Arial" panose="020B0604020202020204" pitchFamily="34" charset="0"/>
                  </a:rPr>
                  <a:t> para ambas </a:t>
                </a:r>
                <a:r>
                  <a:rPr lang="en-US" sz="1200" dirty="0" err="1">
                    <a:latin typeface="Arial" panose="020B0604020202020204" pitchFamily="34" charset="0"/>
                    <a:cs typeface="Arial" panose="020B0604020202020204" pitchFamily="34" charset="0"/>
                  </a:rPr>
                  <a:t>polarizaciones</a:t>
                </a:r>
                <a:r>
                  <a:rPr lang="en-US" sz="1200" dirty="0">
                    <a:latin typeface="Arial" panose="020B0604020202020204" pitchFamily="34" charset="0"/>
                    <a:cs typeface="Arial" panose="020B0604020202020204" pitchFamily="34" charset="0"/>
                  </a:rPr>
                  <a:t> son </a:t>
                </a:r>
                <a:r>
                  <a:rPr lang="en-US" sz="1200" dirty="0" err="1">
                    <a:latin typeface="Arial" panose="020B0604020202020204" pitchFamily="34" charset="0"/>
                    <a:cs typeface="Arial" panose="020B0604020202020204" pitchFamily="34" charset="0"/>
                  </a:rPr>
                  <a:t>divergentes</a:t>
                </a:r>
                <a:r>
                  <a:rPr lang="en-US" sz="1200" dirty="0">
                    <a:latin typeface="Arial" panose="020B0604020202020204" pitchFamily="34" charset="0"/>
                    <a:cs typeface="Arial" panose="020B0604020202020204" pitchFamily="34" charset="0"/>
                  </a:rPr>
                  <a:t>. Cuando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anchura</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cuerpo</a:t>
                </a:r>
                <a:r>
                  <a:rPr lang="en-US" sz="1200" dirty="0">
                    <a:latin typeface="Arial" panose="020B0604020202020204" pitchFamily="34" charset="0"/>
                    <a:cs typeface="Arial" panose="020B0604020202020204" pitchFamily="34" charset="0"/>
                  </a:rPr>
                  <a:t> del MMI la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entre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batido de TE y TM se </a:t>
                </a:r>
                <a:r>
                  <a:rPr lang="en-US" sz="1200" dirty="0" err="1">
                    <a:latin typeface="Arial" panose="020B0604020202020204" pitchFamily="34" charset="0"/>
                    <a:cs typeface="Arial" panose="020B0604020202020204" pitchFamily="34" charset="0"/>
                  </a:rPr>
                  <a:t>hace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vez</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grande tanto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deep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shallow. Para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dispositivo</a:t>
                </a:r>
                <a:r>
                  <a:rPr lang="en-US" sz="1200" dirty="0">
                    <a:latin typeface="Arial" panose="020B0604020202020204" pitchFamily="34" charset="0"/>
                    <a:cs typeface="Arial" panose="020B0604020202020204" pitchFamily="34" charset="0"/>
                  </a:rPr>
                  <a:t> fuera </a:t>
                </a:r>
                <a:r>
                  <a:rPr lang="en-US" sz="1200" dirty="0" err="1">
                    <a:latin typeface="Arial" panose="020B0604020202020204" pitchFamily="34" charset="0"/>
                    <a:cs typeface="Arial" panose="020B0604020202020204" pitchFamily="34" charset="0"/>
                  </a:rPr>
                  <a:t>independiente</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polarización</a:t>
                </a:r>
                <a:r>
                  <a:rPr lang="en-US" sz="1200" dirty="0">
                    <a:latin typeface="Arial" panose="020B0604020202020204" pitchFamily="34" charset="0"/>
                    <a:cs typeface="Arial" panose="020B0604020202020204" pitchFamily="34" charset="0"/>
                  </a:rPr>
                  <a:t>, ambas curvas </a:t>
                </a:r>
                <a:r>
                  <a:rPr lang="en-US" sz="1200" dirty="0" err="1">
                    <a:latin typeface="Arial" panose="020B0604020202020204" pitchFamily="34" charset="0"/>
                    <a:cs typeface="Arial" panose="020B0604020202020204" pitchFamily="34" charset="0"/>
                  </a:rPr>
                  <a:t>deberían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cruzarse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algún</a:t>
                </a:r>
                <a:r>
                  <a:rPr lang="en-US" sz="1200" dirty="0">
                    <a:latin typeface="Arial" panose="020B0604020202020204" pitchFamily="34" charset="0"/>
                    <a:cs typeface="Arial" panose="020B0604020202020204" pitchFamily="34" charset="0"/>
                  </a:rPr>
                  <a:t> valor,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permitiría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misma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física</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dispositivo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satisfaga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condición</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8D88CB07-C5F5-9BB7-9F41-E171F0F0E2B9}"/>
                  </a:ext>
                </a:extLst>
              </p:cNvPr>
              <p:cNvSpPr txBox="1">
                <a:spLocks noRot="1" noChangeAspect="1" noMove="1" noResize="1" noEditPoints="1" noAdjustHandles="1" noChangeArrowheads="1" noChangeShapeType="1" noTextEdit="1"/>
              </p:cNvSpPr>
              <p:nvPr/>
            </p:nvSpPr>
            <p:spPr>
              <a:xfrm>
                <a:off x="609442" y="4860334"/>
                <a:ext cx="11198541" cy="2123658"/>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n-US">
                    <a:noFill/>
                  </a:rPr>
                  <a:t> </a:t>
                </a:r>
              </a:p>
            </p:txBody>
          </p:sp>
        </mc:Fallback>
      </mc:AlternateContent>
      <p:pic>
        <p:nvPicPr>
          <p:cNvPr id="8" name="Imagen 7">
            <a:extLst>
              <a:ext uri="{FF2B5EF4-FFF2-40B4-BE49-F238E27FC236}">
                <a16:creationId xmlns:a16="http://schemas.microsoft.com/office/drawing/2014/main" id="{80139258-3283-3C48-A78C-B66FCA8B0089}"/>
              </a:ext>
            </a:extLst>
          </p:cNvPr>
          <p:cNvPicPr>
            <a:picLocks noChangeAspect="1"/>
          </p:cNvPicPr>
          <p:nvPr/>
        </p:nvPicPr>
        <p:blipFill>
          <a:blip r:embed="rId7"/>
          <a:stretch>
            <a:fillRect/>
          </a:stretch>
        </p:blipFill>
        <p:spPr>
          <a:xfrm>
            <a:off x="1079403" y="1506583"/>
            <a:ext cx="4646183" cy="3142023"/>
          </a:xfrm>
          <a:prstGeom prst="rect">
            <a:avLst/>
          </a:prstGeom>
        </p:spPr>
      </p:pic>
      <p:pic>
        <p:nvPicPr>
          <p:cNvPr id="12" name="Imagen 11">
            <a:extLst>
              <a:ext uri="{FF2B5EF4-FFF2-40B4-BE49-F238E27FC236}">
                <a16:creationId xmlns:a16="http://schemas.microsoft.com/office/drawing/2014/main" id="{0A41C40E-B978-39D0-2514-C16778AF2DAF}"/>
              </a:ext>
            </a:extLst>
          </p:cNvPr>
          <p:cNvPicPr>
            <a:picLocks noChangeAspect="1"/>
          </p:cNvPicPr>
          <p:nvPr/>
        </p:nvPicPr>
        <p:blipFill>
          <a:blip r:embed="rId8"/>
          <a:stretch>
            <a:fillRect/>
          </a:stretch>
        </p:blipFill>
        <p:spPr>
          <a:xfrm>
            <a:off x="6393094" y="1506447"/>
            <a:ext cx="4776026" cy="3229831"/>
          </a:xfrm>
          <a:prstGeom prst="rect">
            <a:avLst/>
          </a:prstGeom>
        </p:spPr>
      </p:pic>
    </p:spTree>
    <p:extLst>
      <p:ext uri="{BB962C8B-B14F-4D97-AF65-F5344CB8AC3E}">
        <p14:creationId xmlns:p14="http://schemas.microsoft.com/office/powerpoint/2010/main" val="535939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20</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60</TotalTime>
  <Words>2388</Words>
  <Application>Microsoft Office PowerPoint</Application>
  <PresentationFormat>Panorámica</PresentationFormat>
  <Paragraphs>202</Paragraphs>
  <Slides>20</Slides>
  <Notes>14</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20</vt:i4>
      </vt:variant>
    </vt:vector>
  </HeadingPairs>
  <TitlesOfParts>
    <vt:vector size="28"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cross-section in GDSFactory </vt:lpstr>
      <vt:lpstr>Modo 0 TE0</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#4 – Parallel uncoupled waveguides – TE0 mode Wavelength 1.55 µm, width 1.0 µm, gap to be found for uncoupled wvgs</vt:lpstr>
      <vt:lpstr>Presentación de PowerPoint</vt:lpstr>
      <vt:lpstr>Learning outcome #5 – Multimode Interference (MMI) Coupler cross-section</vt:lpstr>
      <vt:lpstr>Learning outcome #5 – Multimode Interference (MMI) Coupler cross-section</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 ? µm</vt:lpstr>
      <vt:lpstr>Extra #1 – Directional coupler gap dependence Wavelength 1.55 µm, width 1.0 µm, gap 0.2-2.4 µm (step 0.2 µm) </vt:lpstr>
      <vt:lpstr>Extra #2 – Directional wavelength dependence Wavelengths from 1.5 to 1.7 µm, gap = 0.6 µm, width 1.0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Lorena Gimeno</cp:lastModifiedBy>
  <cp:revision>2</cp:revision>
  <dcterms:created xsi:type="dcterms:W3CDTF">2025-01-27T02:46:57Z</dcterms:created>
  <dcterms:modified xsi:type="dcterms:W3CDTF">2026-05-03T16:57:21Z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